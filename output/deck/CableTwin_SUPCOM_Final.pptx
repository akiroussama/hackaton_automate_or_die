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10:00, one production line stops. The schedule that looked correct one minute ago is now impossible. The production manager must decide which orders to move, delay or protect before every consequence is visible. CableTwin is the Waze of the cable factory: it shows what the disruption changes, compares feasible recovery routes and leaves the final decision to the manager. What you will see is a working offline prototype on a fully synthetic Tunisian cable factory.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process is incident-driven rescheduling. Once Line 2 is unavailable, two orders overlap the stop and one downstream order is exposed. Orders compete for the remaining eligible capacity. A valid answer must respect product-to-line compatibility, line-specific duration, downtime, non-overlap and the planning horizon. If every order stays on its original line, only seven of ten finish on time and cumulative delay reaches 620 minutes. The decision owner is the production manager; the process exists because the active schedule has become infeasible, while its local frequency and cost remain pilot questions.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CableTwin is a lightweight incident-time digital twin. It keeps the minimum calculable state needed for this decision: lines, orders, calendars, compatibilities and the current schedule. When a route closes, it measures the impact and generates three alternatives. Service protects priority-weighted delivery, Cost minimizes the illustrative comparison cost, and Stability avoids line changes. The value is not a 3D factory. It is the ability to test a production decision safely before changing the real workshop.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complete journey in the working build. We start from ten orders on time, trigger the four-hour stop, reveal the consequence, compare three plans, preview a revised Gantt and require the manager to approve. The final event records the choice at 10:07. Reset returns to the exact nominal state. These are post-freeze browser captures, not design mock-ups.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live journey. The nominal schedule starts at ten of ten. I trigger the stop on Line 2. Without adaptation, three orders are exposed, delay reaches 620 minutes, overtime reaches 180 minutes and only 188 kilometres finish by 18:00. CableTwin calculates three routes from the same incident. Service reduces delay to 140 minutes and overtime to 30, while output reaches 216 kilometres. It accepts three line moves to protect priority-weighted delivery. Cost uses two moves and reaches 170 minutes of delay. Stability makes no move and keeps the full 620 minutes. I preview Service, inspect the revised Gantt and approve. The audit event appears; no order is sent to a machine. [Phase 3: run the live 90-second journey here; if the environment fails, narrate these frozen captures.]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intelligence is symbolic planning under constraints. For seven orders not complete at incident time, the engine chooses eligible lines, sequences and times. A route is rejected if it breaks compatibility, duration, downtime, non-overlap or the horizon. Service, Cost and Stability then express explicit lexicographic objectives. The browser uses a fast deterministic constructive planner. Separately, an exhaustive oracle enumerates 17,856 assignment and sequence candidates, finds 10,440 feasible schedules and confirms that all three displayed plans are the unique optima of their declared policies in this bounded scenario. That separation gives us both a usable product and an honest certificate.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do not convert synthetic results into a factory ROI. Phase 2 proves that the workflow calculates meaningful, reproducible trade-offs. A real proof starts with five to ten past stoppages. We freeze the information available at the decision time, keep the actual decision as baseline, validate the rules with the planner and compare identical KPI definitions. Proposed gates are 30 percent faster assessment, 20 percent less delay, zero hard-constraint violations, at least 70 percent planner usability and complete traceability. The sponsor decides go, revise or stop.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primary user is the production manager; the likely sponsor is the plant or operations director. The first engagement is deliberately small: one workshop, four to six weeks, read-only exports and five to ten historical incidents. It requires no sensors, GPU, cloud migration or machine access. CableTwin complements the systems already present. A spreadsheet remains flexible, an ERP or MES remains the system of record, an APS may already solve broad planning, and a high-fidelity twin models much more. CableTwin earns its place only where incident response is still manual, difficult to compare or weakly traced. If constraints, data or KPI value fail the gate, the pilot stops.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CableTwin is one coherent proof across the official grid. The process is a specific line-stoppage rescheduling decision. Impact is calculated with explicit definitions. The core AI builds constrained alternatives and is independently verified. The prototype runs end to end, offline, with nine automated checks. The business path begins with a read-only pilot and stops if evidence is not there. And the story remains simple: when a production route closes, show three feasible routes before the manager decides. Select CableTwin for Phase 3, and I will demonstrate that complete decision live in 90 seconds.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92925"/>
        </a:solidFill>
        <a:effectLst/>
      </p:bgPr>
    </p:bg>
    <p:spTree>
      <p:nvGrpSpPr>
        <p:cNvPr id="1" name=""/>
        <p:cNvGrpSpPr/>
        <p:nvPr/>
      </p:nvGrpSpPr>
      <p:grpSpPr/>
      <p:pic>
        <p:nvPicPr>
          <p:cNvPr id="2" name="Picture 1" descr="cabletwin-mark.png"/>
          <p:cNvPicPr>
            <a:picLocks noChangeAspect="1"/>
          </p:cNvPicPr>
          <p:nvPr/>
        </p:nvPicPr>
        <p:blipFill>
          <a:blip r:embed="rId2"/>
          <a:stretch>
            <a:fillRect/>
          </a:stretch>
        </p:blipFill>
        <p:spPr>
          <a:xfrm>
            <a:off x="640080" y="502920"/>
            <a:ext cx="960120" cy="960120"/>
          </a:xfrm>
          <a:prstGeom prst="rect">
            <a:avLst/>
          </a:prstGeom>
        </p:spPr>
      </p:pic>
      <p:sp>
        <p:nvSpPr>
          <p:cNvPr id="3" name="TextBox 2"/>
          <p:cNvSpPr txBox="1"/>
          <p:nvPr/>
        </p:nvSpPr>
        <p:spPr>
          <a:xfrm>
            <a:off x="640080" y="182880"/>
            <a:ext cx="10972800" cy="274320"/>
          </a:xfrm>
          <a:prstGeom prst="rect">
            <a:avLst/>
          </a:prstGeom>
          <a:noFill/>
        </p:spPr>
        <p:txBody>
          <a:bodyPr wrap="square" anchor="t" lIns="0" rIns="0" tIns="0" bIns="0">
            <a:spAutoFit/>
          </a:bodyPr>
          <a:lstStyle/>
          <a:p>
            <a:pPr algn="l">
              <a:spcAft>
                <a:spcPts val="400"/>
              </a:spcAft>
            </a:pPr>
            <a:r>
              <a:rPr sz="1200" b="1">
                <a:solidFill>
                  <a:srgbClr val="8FA8A2"/>
                </a:solidFill>
                <a:latin typeface="Arial"/>
              </a:rPr>
              <a:t>AUTOMATE OR DIE 2026 · INDUSTRY · THEME 3</a:t>
            </a:r>
          </a:p>
        </p:txBody>
      </p:sp>
      <p:sp>
        <p:nvSpPr>
          <p:cNvPr id="4" name="TextBox 3"/>
          <p:cNvSpPr txBox="1"/>
          <p:nvPr/>
        </p:nvSpPr>
        <p:spPr>
          <a:xfrm>
            <a:off x="621792" y="1828800"/>
            <a:ext cx="10881360" cy="1280160"/>
          </a:xfrm>
          <a:prstGeom prst="rect">
            <a:avLst/>
          </a:prstGeom>
          <a:noFill/>
        </p:spPr>
        <p:txBody>
          <a:bodyPr wrap="square" anchor="t" lIns="0" rIns="0" tIns="0" bIns="0">
            <a:spAutoFit/>
          </a:bodyPr>
          <a:lstStyle/>
          <a:p>
            <a:pPr algn="l">
              <a:spcAft>
                <a:spcPts val="400"/>
              </a:spcAft>
            </a:pPr>
            <a:r>
              <a:rPr sz="6600" b="1">
                <a:solidFill>
                  <a:srgbClr val="F5F4ED"/>
                </a:solidFill>
                <a:latin typeface="Arial"/>
              </a:rPr>
              <a:t>Cable</a:t>
            </a:r>
            <a:r>
              <a:rPr sz="6600" b="1">
                <a:solidFill>
                  <a:srgbClr val="C9F36B"/>
                </a:solidFill>
                <a:latin typeface="Arial"/>
              </a:rPr>
              <a:t>Twin</a:t>
            </a:r>
          </a:p>
        </p:txBody>
      </p:sp>
      <p:sp>
        <p:nvSpPr>
          <p:cNvPr id="5" name="TextBox 4"/>
          <p:cNvSpPr txBox="1"/>
          <p:nvPr/>
        </p:nvSpPr>
        <p:spPr>
          <a:xfrm>
            <a:off x="640080" y="3063240"/>
            <a:ext cx="10241280" cy="1371600"/>
          </a:xfrm>
          <a:prstGeom prst="rect">
            <a:avLst/>
          </a:prstGeom>
          <a:noFill/>
        </p:spPr>
        <p:txBody>
          <a:bodyPr wrap="square" anchor="t" lIns="0" rIns="0" tIns="0" bIns="0">
            <a:spAutoFit/>
          </a:bodyPr>
          <a:lstStyle/>
          <a:p>
            <a:pPr algn="l">
              <a:spcAft>
                <a:spcPts val="400"/>
              </a:spcAft>
            </a:pPr>
            <a:r>
              <a:rPr sz="3200" b="0">
                <a:solidFill>
                  <a:srgbClr val="F5F4ED"/>
                </a:solidFill>
                <a:latin typeface="Arial"/>
              </a:rPr>
              <a:t>When a line stops, see the consequences</a:t>
            </a:r>
          </a:p>
          <a:p>
            <a:pPr algn="l">
              <a:spcAft>
                <a:spcPts val="400"/>
              </a:spcAft>
            </a:pPr>
            <a:r>
              <a:rPr sz="3200" b="0">
                <a:solidFill>
                  <a:srgbClr val="F5F4ED"/>
                </a:solidFill>
                <a:latin typeface="Arial"/>
              </a:rPr>
              <a:t>before changing production.</a:t>
            </a:r>
          </a:p>
        </p:txBody>
      </p:sp>
      <p:sp>
        <p:nvSpPr>
          <p:cNvPr id="6" name="TextBox 5"/>
          <p:cNvSpPr txBox="1"/>
          <p:nvPr/>
        </p:nvSpPr>
        <p:spPr>
          <a:xfrm>
            <a:off x="640080" y="4434840"/>
            <a:ext cx="10058400" cy="457200"/>
          </a:xfrm>
          <a:prstGeom prst="rect">
            <a:avLst/>
          </a:prstGeom>
          <a:noFill/>
        </p:spPr>
        <p:txBody>
          <a:bodyPr wrap="square" anchor="t" lIns="0" rIns="0" tIns="0" bIns="0">
            <a:spAutoFit/>
          </a:bodyPr>
          <a:lstStyle/>
          <a:p>
            <a:pPr algn="l">
              <a:spcAft>
                <a:spcPts val="400"/>
              </a:spcAft>
            </a:pPr>
            <a:r>
              <a:rPr sz="2000" b="0">
                <a:solidFill>
                  <a:srgbClr val="C9F36B"/>
                </a:solidFill>
                <a:latin typeface="Arial"/>
              </a:rPr>
              <a:t>The Waze of the cable factory</a:t>
            </a:r>
          </a:p>
        </p:txBody>
      </p:sp>
      <p:pic>
        <p:nvPicPr>
          <p:cNvPr id="7" name="Picture 6" descr="05-preview-service-gantt.png"/>
          <p:cNvPicPr>
            <a:picLocks noChangeAspect="1"/>
          </p:cNvPicPr>
          <p:nvPr/>
        </p:nvPicPr>
        <p:blipFill>
          <a:blip r:embed="rId3"/>
          <a:stretch>
            <a:fillRect/>
          </a:stretch>
        </p:blipFill>
        <p:spPr>
          <a:xfrm>
            <a:off x="7863840" y="4892040"/>
            <a:ext cx="3840480" cy="2160270"/>
          </a:xfrm>
          <a:prstGeom prst="rect">
            <a:avLst/>
          </a:prstGeom>
        </p:spPr>
      </p:pic>
      <p:sp>
        <p:nvSpPr>
          <p:cNvPr id="8" name="TextBox 7"/>
          <p:cNvSpPr txBox="1"/>
          <p:nvPr/>
        </p:nvSpPr>
        <p:spPr>
          <a:xfrm>
            <a:off x="640080" y="5212080"/>
            <a:ext cx="6949440" cy="731520"/>
          </a:xfrm>
          <a:prstGeom prst="rect">
            <a:avLst/>
          </a:prstGeom>
          <a:noFill/>
        </p:spPr>
        <p:txBody>
          <a:bodyPr wrap="square" anchor="t" lIns="0" rIns="0" tIns="0" bIns="0">
            <a:spAutoFit/>
          </a:bodyPr>
          <a:lstStyle/>
          <a:p>
            <a:pPr algn="l">
              <a:spcAft>
                <a:spcPts val="400"/>
              </a:spcAft>
            </a:pPr>
            <a:r>
              <a:rPr sz="1400" b="0">
                <a:solidFill>
                  <a:srgbClr val="8FA8A2"/>
                </a:solidFill>
                <a:latin typeface="Arial"/>
              </a:rPr>
              <a:t>Working offline prototype · Fictional Tunisian factory · Fully synthetic data</a:t>
            </a:r>
          </a:p>
        </p:txBody>
      </p:sp>
      <p:sp>
        <p:nvSpPr>
          <p:cNvPr id="9" name="TextBox 8"/>
          <p:cNvSpPr txBox="1"/>
          <p:nvPr/>
        </p:nvSpPr>
        <p:spPr>
          <a:xfrm>
            <a:off x="640080" y="6473952"/>
            <a:ext cx="8229600" cy="274320"/>
          </a:xfrm>
          <a:prstGeom prst="rect">
            <a:avLst/>
          </a:prstGeom>
          <a:noFill/>
        </p:spPr>
        <p:txBody>
          <a:bodyPr wrap="square" anchor="t" lIns="0" rIns="0" tIns="0" bIns="0">
            <a:spAutoFit/>
          </a:bodyPr>
          <a:lstStyle/>
          <a:p>
            <a:pPr algn="l">
              <a:spcAft>
                <a:spcPts val="400"/>
              </a:spcAft>
            </a:pPr>
            <a:r>
              <a:rPr sz="1000" b="0">
                <a:solidFill>
                  <a:srgbClr val="8FA8A2"/>
                </a:solidFill>
                <a:latin typeface="Arial"/>
              </a:rPr>
              <a:t>CableTwin · SUPCOM · Oussama Akir · Fully synthetic data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TextBox 1"/>
          <p:cNvSpPr txBox="1"/>
          <p:nvPr/>
        </p:nvSpPr>
        <p:spPr>
          <a:xfrm>
            <a:off x="640080" y="384048"/>
            <a:ext cx="10972800" cy="320040"/>
          </a:xfrm>
          <a:prstGeom prst="rect">
            <a:avLst/>
          </a:prstGeom>
          <a:noFill/>
        </p:spPr>
        <p:txBody>
          <a:bodyPr wrap="square" anchor="t" lIns="0" rIns="0" tIns="0" bIns="0">
            <a:spAutoFit/>
          </a:bodyPr>
          <a:lstStyle/>
          <a:p>
            <a:pPr algn="l">
              <a:spcAft>
                <a:spcPts val="400"/>
              </a:spcAft>
            </a:pPr>
            <a:r>
              <a:rPr sz="1300" b="1">
                <a:solidFill>
                  <a:srgbClr val="0F766E"/>
                </a:solidFill>
                <a:latin typeface="Arial"/>
              </a:rPr>
              <a:t>THE PROBLEM</a:t>
            </a:r>
          </a:p>
        </p:txBody>
      </p:sp>
      <p:sp>
        <p:nvSpPr>
          <p:cNvPr id="3" name="TextBox 2"/>
          <p:cNvSpPr txBox="1"/>
          <p:nvPr/>
        </p:nvSpPr>
        <p:spPr>
          <a:xfrm>
            <a:off x="640080" y="713232"/>
            <a:ext cx="10972800" cy="822960"/>
          </a:xfrm>
          <a:prstGeom prst="rect">
            <a:avLst/>
          </a:prstGeom>
          <a:noFill/>
        </p:spPr>
        <p:txBody>
          <a:bodyPr wrap="square" anchor="t" lIns="0" rIns="0" tIns="0" bIns="0">
            <a:spAutoFit/>
          </a:bodyPr>
          <a:lstStyle/>
          <a:p>
            <a:pPr algn="l">
              <a:spcAft>
                <a:spcPts val="400"/>
              </a:spcAft>
            </a:pPr>
            <a:r>
              <a:rPr sz="2400" b="1">
                <a:solidFill>
                  <a:srgbClr val="10221F"/>
                </a:solidFill>
                <a:latin typeface="Arial"/>
              </a:rPr>
              <a:t>At 10:00, one stoppage exposes 3 orders and 620 minutes of delay</a:t>
            </a:r>
          </a:p>
        </p:txBody>
      </p:sp>
      <p:sp>
        <p:nvSpPr>
          <p:cNvPr id="4" name="TextBox 3"/>
          <p:cNvSpPr txBox="1"/>
          <p:nvPr/>
        </p:nvSpPr>
        <p:spPr>
          <a:xfrm>
            <a:off x="640080" y="1554480"/>
            <a:ext cx="6035040" cy="1463040"/>
          </a:xfrm>
          <a:prstGeom prst="rect">
            <a:avLst/>
          </a:prstGeom>
          <a:noFill/>
        </p:spPr>
        <p:txBody>
          <a:bodyPr wrap="square" anchor="t" lIns="0" rIns="0" tIns="0" bIns="0">
            <a:spAutoFit/>
          </a:bodyPr>
          <a:lstStyle/>
          <a:p>
            <a:pPr algn="l">
              <a:spcAft>
                <a:spcPts val="400"/>
              </a:spcAft>
            </a:pPr>
            <a:r>
              <a:rPr sz="1900" b="0">
                <a:solidFill>
                  <a:srgbClr val="10221F"/>
                </a:solidFill>
                <a:latin typeface="Arial"/>
              </a:rPr>
              <a:t>Which orders should be moved, delayed or protected —</a:t>
            </a:r>
          </a:p>
          <a:p>
            <a:pPr algn="l">
              <a:spcAft>
                <a:spcPts val="400"/>
              </a:spcAft>
            </a:pPr>
            <a:r>
              <a:rPr sz="1900" b="0">
                <a:solidFill>
                  <a:srgbClr val="10221F"/>
                </a:solidFill>
                <a:latin typeface="Arial"/>
              </a:rPr>
              <a:t>and what will each choice do to service, throughput</a:t>
            </a:r>
          </a:p>
          <a:p>
            <a:pPr algn="l">
              <a:spcAft>
                <a:spcPts val="400"/>
              </a:spcAft>
            </a:pPr>
            <a:r>
              <a:rPr sz="1900" b="0">
                <a:solidFill>
                  <a:srgbClr val="10221F"/>
                </a:solidFill>
                <a:latin typeface="Arial"/>
              </a:rPr>
              <a:t>and the workshop?</a:t>
            </a:r>
          </a:p>
        </p:txBody>
      </p:sp>
      <p:sp>
        <p:nvSpPr>
          <p:cNvPr id="5" name="Rectangle 4"/>
          <p:cNvSpPr/>
          <p:nvPr/>
        </p:nvSpPr>
        <p:spPr>
          <a:xfrm>
            <a:off x="640080" y="3017520"/>
            <a:ext cx="1728216" cy="310896"/>
          </a:xfrm>
          <a:prstGeom prst="rect">
            <a:avLst/>
          </a:prstGeom>
          <a:solidFill>
            <a:srgbClr val="092925"/>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12700" bIns="12700" wrap="none"/>
          <a:lstStyle/>
          <a:p>
            <a:pPr algn="ctr"/>
            <a:r>
              <a:rPr sz="1200" b="1">
                <a:solidFill>
                  <a:srgbClr val="C9F36B"/>
                </a:solidFill>
                <a:latin typeface="Arial"/>
              </a:rPr>
              <a:t>Eligible lines</a:t>
            </a:r>
          </a:p>
        </p:txBody>
      </p:sp>
      <p:sp>
        <p:nvSpPr>
          <p:cNvPr id="6" name="Rectangle 5"/>
          <p:cNvSpPr/>
          <p:nvPr/>
        </p:nvSpPr>
        <p:spPr>
          <a:xfrm>
            <a:off x="2532888" y="3017520"/>
            <a:ext cx="1202436" cy="310896"/>
          </a:xfrm>
          <a:prstGeom prst="rect">
            <a:avLst/>
          </a:prstGeom>
          <a:solidFill>
            <a:srgbClr val="092925"/>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12700" bIns="12700" wrap="none"/>
          <a:lstStyle/>
          <a:p>
            <a:pPr algn="ctr"/>
            <a:r>
              <a:rPr sz="1200" b="1">
                <a:solidFill>
                  <a:srgbClr val="C9F36B"/>
                </a:solidFill>
                <a:latin typeface="Arial"/>
              </a:rPr>
              <a:t>Durations</a:t>
            </a:r>
          </a:p>
        </p:txBody>
      </p:sp>
      <p:sp>
        <p:nvSpPr>
          <p:cNvPr id="7" name="Rectangle 6"/>
          <p:cNvSpPr/>
          <p:nvPr/>
        </p:nvSpPr>
        <p:spPr>
          <a:xfrm>
            <a:off x="3899916" y="3017520"/>
            <a:ext cx="1202436" cy="310896"/>
          </a:xfrm>
          <a:prstGeom prst="rect">
            <a:avLst/>
          </a:prstGeom>
          <a:solidFill>
            <a:srgbClr val="092925"/>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12700" bIns="12700" wrap="none"/>
          <a:lstStyle/>
          <a:p>
            <a:pPr algn="ctr"/>
            <a:r>
              <a:rPr sz="1200" b="1">
                <a:solidFill>
                  <a:srgbClr val="C9F36B"/>
                </a:solidFill>
                <a:latin typeface="Arial"/>
              </a:rPr>
              <a:t>Due times</a:t>
            </a:r>
          </a:p>
        </p:txBody>
      </p:sp>
      <p:sp>
        <p:nvSpPr>
          <p:cNvPr id="8" name="Rectangle 7"/>
          <p:cNvSpPr/>
          <p:nvPr/>
        </p:nvSpPr>
        <p:spPr>
          <a:xfrm>
            <a:off x="640080" y="3456432"/>
            <a:ext cx="1307592" cy="310896"/>
          </a:xfrm>
          <a:prstGeom prst="rect">
            <a:avLst/>
          </a:prstGeom>
          <a:solidFill>
            <a:srgbClr val="092925"/>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12700" bIns="12700" wrap="none"/>
          <a:lstStyle/>
          <a:p>
            <a:pPr algn="ctr"/>
            <a:r>
              <a:rPr sz="1200" b="1">
                <a:solidFill>
                  <a:srgbClr val="C9F36B"/>
                </a:solidFill>
                <a:latin typeface="Arial"/>
              </a:rPr>
              <a:t>No overlap</a:t>
            </a:r>
          </a:p>
        </p:txBody>
      </p:sp>
      <p:sp>
        <p:nvSpPr>
          <p:cNvPr id="9" name="Rectangle 8"/>
          <p:cNvSpPr/>
          <p:nvPr/>
        </p:nvSpPr>
        <p:spPr>
          <a:xfrm>
            <a:off x="2112264" y="3456432"/>
            <a:ext cx="1938528" cy="310896"/>
          </a:xfrm>
          <a:prstGeom prst="rect">
            <a:avLst/>
          </a:prstGeom>
          <a:solidFill>
            <a:srgbClr val="092925"/>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12700" bIns="12700" wrap="none"/>
          <a:lstStyle/>
          <a:p>
            <a:pPr algn="ctr"/>
            <a:r>
              <a:rPr sz="1200" b="1">
                <a:solidFill>
                  <a:srgbClr val="C9F36B"/>
                </a:solidFill>
                <a:latin typeface="Arial"/>
              </a:rPr>
              <a:t>Planning horizon</a:t>
            </a:r>
          </a:p>
        </p:txBody>
      </p:sp>
      <p:sp>
        <p:nvSpPr>
          <p:cNvPr id="10" name="TextBox 9"/>
          <p:cNvSpPr txBox="1"/>
          <p:nvPr/>
        </p:nvSpPr>
        <p:spPr>
          <a:xfrm>
            <a:off x="640080" y="5806440"/>
            <a:ext cx="6583680" cy="457200"/>
          </a:xfrm>
          <a:prstGeom prst="rect">
            <a:avLst/>
          </a:prstGeom>
          <a:noFill/>
        </p:spPr>
        <p:txBody>
          <a:bodyPr wrap="square" anchor="t" lIns="0" rIns="0" tIns="0" bIns="0">
            <a:spAutoFit/>
          </a:bodyPr>
          <a:lstStyle/>
          <a:p>
            <a:pPr algn="l">
              <a:spcAft>
                <a:spcPts val="400"/>
              </a:spcAft>
            </a:pPr>
            <a:r>
              <a:rPr sz="1700" b="1">
                <a:solidFill>
                  <a:srgbClr val="0F766E"/>
                </a:solidFill>
                <a:latin typeface="Arial"/>
              </a:rPr>
              <a:t>The manager needs a feasible choice, not another dashboard.</a:t>
            </a:r>
          </a:p>
        </p:txBody>
      </p:sp>
      <p:sp>
        <p:nvSpPr>
          <p:cNvPr id="11" name="Rectangle 10"/>
          <p:cNvSpPr/>
          <p:nvPr/>
        </p:nvSpPr>
        <p:spPr>
          <a:xfrm>
            <a:off x="7315200" y="1481328"/>
            <a:ext cx="4206240" cy="969264"/>
          </a:xfrm>
          <a:prstGeom prst="rect">
            <a:avLst/>
          </a:prstGeom>
          <a:solidFill>
            <a:srgbClr val="0929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43800" y="1600200"/>
            <a:ext cx="3840480" cy="274320"/>
          </a:xfrm>
          <a:prstGeom prst="rect">
            <a:avLst/>
          </a:prstGeom>
          <a:noFill/>
        </p:spPr>
        <p:txBody>
          <a:bodyPr wrap="square" anchor="t" lIns="0" rIns="0" tIns="0" bIns="0">
            <a:spAutoFit/>
          </a:bodyPr>
          <a:lstStyle/>
          <a:p>
            <a:pPr algn="l">
              <a:spcAft>
                <a:spcPts val="400"/>
              </a:spcAft>
            </a:pPr>
            <a:r>
              <a:rPr sz="1100" b="1">
                <a:solidFill>
                  <a:srgbClr val="8FA8A2"/>
                </a:solidFill>
                <a:latin typeface="Arial"/>
              </a:rPr>
              <a:t>LINE 2 UNAVAILABLE</a:t>
            </a:r>
          </a:p>
        </p:txBody>
      </p:sp>
      <p:sp>
        <p:nvSpPr>
          <p:cNvPr id="13" name="TextBox 12"/>
          <p:cNvSpPr txBox="1"/>
          <p:nvPr/>
        </p:nvSpPr>
        <p:spPr>
          <a:xfrm>
            <a:off x="7543800" y="1847088"/>
            <a:ext cx="3840480" cy="502920"/>
          </a:xfrm>
          <a:prstGeom prst="rect">
            <a:avLst/>
          </a:prstGeom>
          <a:noFill/>
        </p:spPr>
        <p:txBody>
          <a:bodyPr wrap="square" anchor="t" lIns="0" rIns="0" tIns="0" bIns="0">
            <a:spAutoFit/>
          </a:bodyPr>
          <a:lstStyle/>
          <a:p>
            <a:pPr algn="l">
              <a:spcAft>
                <a:spcPts val="400"/>
              </a:spcAft>
            </a:pPr>
            <a:r>
              <a:rPr sz="2600" b="1">
                <a:solidFill>
                  <a:srgbClr val="E9763B"/>
                </a:solidFill>
                <a:latin typeface="Arial"/>
              </a:rPr>
              <a:t>10:00 – 14:00</a:t>
            </a:r>
          </a:p>
        </p:txBody>
      </p:sp>
      <p:sp>
        <p:nvSpPr>
          <p:cNvPr id="14" name="Rectangle 13"/>
          <p:cNvSpPr/>
          <p:nvPr/>
        </p:nvSpPr>
        <p:spPr>
          <a:xfrm>
            <a:off x="7315200" y="2596896"/>
            <a:ext cx="4206240" cy="969264"/>
          </a:xfrm>
          <a:prstGeom prst="rect">
            <a:avLst/>
          </a:prstGeom>
          <a:solidFill>
            <a:srgbClr val="0929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43800" y="2715768"/>
            <a:ext cx="3840480" cy="274320"/>
          </a:xfrm>
          <a:prstGeom prst="rect">
            <a:avLst/>
          </a:prstGeom>
          <a:noFill/>
        </p:spPr>
        <p:txBody>
          <a:bodyPr wrap="square" anchor="t" lIns="0" rIns="0" tIns="0" bIns="0">
            <a:spAutoFit/>
          </a:bodyPr>
          <a:lstStyle/>
          <a:p>
            <a:pPr algn="l">
              <a:spcAft>
                <a:spcPts val="400"/>
              </a:spcAft>
            </a:pPr>
            <a:r>
              <a:rPr sz="1100" b="1">
                <a:solidFill>
                  <a:srgbClr val="8FA8A2"/>
                </a:solidFill>
                <a:latin typeface="Arial"/>
              </a:rPr>
              <a:t>ORDERS EXPOSED</a:t>
            </a:r>
          </a:p>
        </p:txBody>
      </p:sp>
      <p:sp>
        <p:nvSpPr>
          <p:cNvPr id="16" name="TextBox 15"/>
          <p:cNvSpPr txBox="1"/>
          <p:nvPr/>
        </p:nvSpPr>
        <p:spPr>
          <a:xfrm>
            <a:off x="7543800" y="2962656"/>
            <a:ext cx="3840480" cy="502920"/>
          </a:xfrm>
          <a:prstGeom prst="rect">
            <a:avLst/>
          </a:prstGeom>
          <a:noFill/>
        </p:spPr>
        <p:txBody>
          <a:bodyPr wrap="square" anchor="t" lIns="0" rIns="0" tIns="0" bIns="0">
            <a:spAutoFit/>
          </a:bodyPr>
          <a:lstStyle/>
          <a:p>
            <a:pPr algn="l">
              <a:spcAft>
                <a:spcPts val="400"/>
              </a:spcAft>
            </a:pPr>
            <a:r>
              <a:rPr sz="2600" b="1">
                <a:solidFill>
                  <a:srgbClr val="C9F36B"/>
                </a:solidFill>
                <a:latin typeface="Arial"/>
              </a:rPr>
              <a:t>3</a:t>
            </a:r>
          </a:p>
        </p:txBody>
      </p:sp>
      <p:sp>
        <p:nvSpPr>
          <p:cNvPr id="17" name="Rectangle 16"/>
          <p:cNvSpPr/>
          <p:nvPr/>
        </p:nvSpPr>
        <p:spPr>
          <a:xfrm>
            <a:off x="7315200" y="3712464"/>
            <a:ext cx="4206240" cy="969264"/>
          </a:xfrm>
          <a:prstGeom prst="rect">
            <a:avLst/>
          </a:prstGeom>
          <a:solidFill>
            <a:srgbClr val="0929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43800" y="3831336"/>
            <a:ext cx="3840480" cy="274320"/>
          </a:xfrm>
          <a:prstGeom prst="rect">
            <a:avLst/>
          </a:prstGeom>
          <a:noFill/>
        </p:spPr>
        <p:txBody>
          <a:bodyPr wrap="square" anchor="t" lIns="0" rIns="0" tIns="0" bIns="0">
            <a:spAutoFit/>
          </a:bodyPr>
          <a:lstStyle/>
          <a:p>
            <a:pPr algn="l">
              <a:spcAft>
                <a:spcPts val="400"/>
              </a:spcAft>
            </a:pPr>
            <a:r>
              <a:rPr sz="1100" b="1">
                <a:solidFill>
                  <a:srgbClr val="8FA8A2"/>
                </a:solidFill>
                <a:latin typeface="Arial"/>
              </a:rPr>
              <a:t>ON TIME WITHOUT ADAPTATION</a:t>
            </a:r>
          </a:p>
        </p:txBody>
      </p:sp>
      <p:sp>
        <p:nvSpPr>
          <p:cNvPr id="19" name="TextBox 18"/>
          <p:cNvSpPr txBox="1"/>
          <p:nvPr/>
        </p:nvSpPr>
        <p:spPr>
          <a:xfrm>
            <a:off x="7543800" y="4078224"/>
            <a:ext cx="3840480" cy="502920"/>
          </a:xfrm>
          <a:prstGeom prst="rect">
            <a:avLst/>
          </a:prstGeom>
          <a:noFill/>
        </p:spPr>
        <p:txBody>
          <a:bodyPr wrap="square" anchor="t" lIns="0" rIns="0" tIns="0" bIns="0">
            <a:spAutoFit/>
          </a:bodyPr>
          <a:lstStyle/>
          <a:p>
            <a:pPr algn="l">
              <a:spcAft>
                <a:spcPts val="400"/>
              </a:spcAft>
            </a:pPr>
            <a:r>
              <a:rPr sz="2600" b="1">
                <a:solidFill>
                  <a:srgbClr val="C9F36B"/>
                </a:solidFill>
                <a:latin typeface="Arial"/>
              </a:rPr>
              <a:t>7 / 10</a:t>
            </a:r>
          </a:p>
        </p:txBody>
      </p:sp>
      <p:sp>
        <p:nvSpPr>
          <p:cNvPr id="20" name="Rectangle 19"/>
          <p:cNvSpPr/>
          <p:nvPr/>
        </p:nvSpPr>
        <p:spPr>
          <a:xfrm>
            <a:off x="7315200" y="4828032"/>
            <a:ext cx="4206240" cy="969264"/>
          </a:xfrm>
          <a:prstGeom prst="rect">
            <a:avLst/>
          </a:prstGeom>
          <a:solidFill>
            <a:srgbClr val="0929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43800" y="4946904"/>
            <a:ext cx="3840480" cy="274320"/>
          </a:xfrm>
          <a:prstGeom prst="rect">
            <a:avLst/>
          </a:prstGeom>
          <a:noFill/>
        </p:spPr>
        <p:txBody>
          <a:bodyPr wrap="square" anchor="t" lIns="0" rIns="0" tIns="0" bIns="0">
            <a:spAutoFit/>
          </a:bodyPr>
          <a:lstStyle/>
          <a:p>
            <a:pPr algn="l">
              <a:spcAft>
                <a:spcPts val="400"/>
              </a:spcAft>
            </a:pPr>
            <a:r>
              <a:rPr sz="1100" b="1">
                <a:solidFill>
                  <a:srgbClr val="8FA8A2"/>
                </a:solidFill>
                <a:latin typeface="Arial"/>
              </a:rPr>
              <a:t>PROJECTED CUMULATIVE DELAY</a:t>
            </a:r>
          </a:p>
        </p:txBody>
      </p:sp>
      <p:sp>
        <p:nvSpPr>
          <p:cNvPr id="22" name="TextBox 21"/>
          <p:cNvSpPr txBox="1"/>
          <p:nvPr/>
        </p:nvSpPr>
        <p:spPr>
          <a:xfrm>
            <a:off x="7543800" y="5193792"/>
            <a:ext cx="3840480" cy="502920"/>
          </a:xfrm>
          <a:prstGeom prst="rect">
            <a:avLst/>
          </a:prstGeom>
          <a:noFill/>
        </p:spPr>
        <p:txBody>
          <a:bodyPr wrap="square" anchor="t" lIns="0" rIns="0" tIns="0" bIns="0">
            <a:spAutoFit/>
          </a:bodyPr>
          <a:lstStyle/>
          <a:p>
            <a:pPr algn="l">
              <a:spcAft>
                <a:spcPts val="400"/>
              </a:spcAft>
            </a:pPr>
            <a:r>
              <a:rPr sz="2600" b="1">
                <a:solidFill>
                  <a:srgbClr val="C9F36B"/>
                </a:solidFill>
                <a:latin typeface="Arial"/>
              </a:rPr>
              <a:t>620 min</a:t>
            </a:r>
          </a:p>
        </p:txBody>
      </p:sp>
      <p:sp>
        <p:nvSpPr>
          <p:cNvPr id="23" name="TextBox 22"/>
          <p:cNvSpPr txBox="1"/>
          <p:nvPr/>
        </p:nvSpPr>
        <p:spPr>
          <a:xfrm>
            <a:off x="640080" y="4114800"/>
            <a:ext cx="6309360" cy="1554480"/>
          </a:xfrm>
          <a:prstGeom prst="rect">
            <a:avLst/>
          </a:prstGeom>
          <a:noFill/>
        </p:spPr>
        <p:txBody>
          <a:bodyPr wrap="square" anchor="t" lIns="0" rIns="0" tIns="0" bIns="0">
            <a:spAutoFit/>
          </a:bodyPr>
          <a:lstStyle/>
          <a:p>
            <a:pPr algn="l">
              <a:spcAft>
                <a:spcPts val="400"/>
              </a:spcAft>
            </a:pPr>
            <a:r>
              <a:rPr sz="1500" b="0">
                <a:solidFill>
                  <a:srgbClr val="53645F"/>
                </a:solidFill>
                <a:latin typeface="Arial"/>
              </a:rPr>
              <a:t>The active schedule becomes infeasible the moment the</a:t>
            </a:r>
          </a:p>
          <a:p>
            <a:pPr algn="l">
              <a:spcAft>
                <a:spcPts val="400"/>
              </a:spcAft>
            </a:pPr>
            <a:r>
              <a:rPr sz="1500" b="0">
                <a:solidFill>
                  <a:srgbClr val="53645F"/>
                </a:solidFill>
                <a:latin typeface="Arial"/>
              </a:rPr>
              <a:t>line stops: two orders overlap the stop, one downstream</a:t>
            </a:r>
          </a:p>
          <a:p>
            <a:pPr algn="l">
              <a:spcAft>
                <a:spcPts val="400"/>
              </a:spcAft>
            </a:pPr>
            <a:r>
              <a:rPr sz="1500" b="0">
                <a:solidFill>
                  <a:srgbClr val="53645F"/>
                </a:solidFill>
                <a:latin typeface="Arial"/>
              </a:rPr>
              <a:t>order is exposed, and every alternative must respect real</a:t>
            </a:r>
          </a:p>
          <a:p>
            <a:pPr algn="l">
              <a:spcAft>
                <a:spcPts val="400"/>
              </a:spcAft>
            </a:pPr>
            <a:r>
              <a:rPr sz="1500" b="0">
                <a:solidFill>
                  <a:srgbClr val="53645F"/>
                </a:solidFill>
                <a:latin typeface="Arial"/>
              </a:rPr>
              <a:t>constraints. The decision owner is the production manager.</a:t>
            </a:r>
          </a:p>
        </p:txBody>
      </p:sp>
      <p:sp>
        <p:nvSpPr>
          <p:cNvPr id="24" name="TextBox 23"/>
          <p:cNvSpPr txBox="1"/>
          <p:nvPr/>
        </p:nvSpPr>
        <p:spPr>
          <a:xfrm>
            <a:off x="640080" y="6473952"/>
            <a:ext cx="8229600" cy="274320"/>
          </a:xfrm>
          <a:prstGeom prst="rect">
            <a:avLst/>
          </a:prstGeom>
          <a:noFill/>
        </p:spPr>
        <p:txBody>
          <a:bodyPr wrap="square" anchor="t" lIns="0" rIns="0" tIns="0" bIns="0">
            <a:spAutoFit/>
          </a:bodyPr>
          <a:lstStyle/>
          <a:p>
            <a:pPr algn="l">
              <a:spcAft>
                <a:spcPts val="400"/>
              </a:spcAft>
            </a:pPr>
            <a:r>
              <a:rPr sz="1000" b="0">
                <a:solidFill>
                  <a:srgbClr val="53645F"/>
                </a:solidFill>
                <a:latin typeface="Arial"/>
              </a:rPr>
              <a:t>CableTwin · SUPCOM · Oussama Akir · Fully synthetic data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TextBox 1"/>
          <p:cNvSpPr txBox="1"/>
          <p:nvPr/>
        </p:nvSpPr>
        <p:spPr>
          <a:xfrm>
            <a:off x="640080" y="384048"/>
            <a:ext cx="10972800" cy="320040"/>
          </a:xfrm>
          <a:prstGeom prst="rect">
            <a:avLst/>
          </a:prstGeom>
          <a:noFill/>
        </p:spPr>
        <p:txBody>
          <a:bodyPr wrap="square" anchor="t" lIns="0" rIns="0" tIns="0" bIns="0">
            <a:spAutoFit/>
          </a:bodyPr>
          <a:lstStyle/>
          <a:p>
            <a:pPr algn="l">
              <a:spcAft>
                <a:spcPts val="400"/>
              </a:spcAft>
            </a:pPr>
            <a:r>
              <a:rPr sz="1300" b="1">
                <a:solidFill>
                  <a:srgbClr val="0F766E"/>
                </a:solidFill>
                <a:latin typeface="Arial"/>
              </a:rPr>
              <a:t>THE PRODUCT</a:t>
            </a:r>
          </a:p>
        </p:txBody>
      </p:sp>
      <p:sp>
        <p:nvSpPr>
          <p:cNvPr id="3" name="TextBox 2"/>
          <p:cNvSpPr txBox="1"/>
          <p:nvPr/>
        </p:nvSpPr>
        <p:spPr>
          <a:xfrm>
            <a:off x="640080" y="713232"/>
            <a:ext cx="10972800" cy="822960"/>
          </a:xfrm>
          <a:prstGeom prst="rect">
            <a:avLst/>
          </a:prstGeom>
          <a:noFill/>
        </p:spPr>
        <p:txBody>
          <a:bodyPr wrap="square" anchor="t" lIns="0" rIns="0" tIns="0" bIns="0">
            <a:spAutoFit/>
          </a:bodyPr>
          <a:lstStyle/>
          <a:p>
            <a:pPr algn="l">
              <a:spcAft>
                <a:spcPts val="400"/>
              </a:spcAft>
            </a:pPr>
            <a:r>
              <a:rPr sz="3000" b="1">
                <a:solidFill>
                  <a:srgbClr val="10221F"/>
                </a:solidFill>
                <a:latin typeface="Arial"/>
              </a:rPr>
              <a:t>CableTwin turns one disruption into three feasible routes</a:t>
            </a:r>
          </a:p>
        </p:txBody>
      </p:sp>
      <p:sp>
        <p:nvSpPr>
          <p:cNvPr id="4" name="Rectangle 3"/>
          <p:cNvSpPr/>
          <p:nvPr/>
        </p:nvSpPr>
        <p:spPr>
          <a:xfrm>
            <a:off x="640080" y="1600200"/>
            <a:ext cx="5120640" cy="658368"/>
          </a:xfrm>
          <a:prstGeom prst="rect">
            <a:avLst/>
          </a:prstGeom>
          <a:solidFill>
            <a:srgbClr val="0929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46504"/>
            <a:ext cx="4754880" cy="365760"/>
          </a:xfrm>
          <a:prstGeom prst="rect">
            <a:avLst/>
          </a:prstGeom>
          <a:noFill/>
        </p:spPr>
        <p:txBody>
          <a:bodyPr wrap="square" anchor="t" lIns="0" rIns="0" tIns="0" bIns="0">
            <a:spAutoFit/>
          </a:bodyPr>
          <a:lstStyle/>
          <a:p>
            <a:pPr algn="l">
              <a:spcAft>
                <a:spcPts val="400"/>
              </a:spcAft>
            </a:pPr>
            <a:r>
              <a:rPr sz="1600" b="1">
                <a:solidFill>
                  <a:srgbClr val="F5F4ED"/>
                </a:solidFill>
                <a:latin typeface="Arial"/>
              </a:rPr>
              <a:t>1  Detect the stop</a:t>
            </a:r>
          </a:p>
        </p:txBody>
      </p:sp>
      <p:sp>
        <p:nvSpPr>
          <p:cNvPr id="6" name="Rectangle 5"/>
          <p:cNvSpPr/>
          <p:nvPr/>
        </p:nvSpPr>
        <p:spPr>
          <a:xfrm>
            <a:off x="640080" y="2441448"/>
            <a:ext cx="5120640" cy="658368"/>
          </a:xfrm>
          <a:prstGeom prst="rect">
            <a:avLst/>
          </a:prstGeom>
          <a:solidFill>
            <a:srgbClr val="0929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587752"/>
            <a:ext cx="4754880" cy="365760"/>
          </a:xfrm>
          <a:prstGeom prst="rect">
            <a:avLst/>
          </a:prstGeom>
          <a:noFill/>
        </p:spPr>
        <p:txBody>
          <a:bodyPr wrap="square" anchor="t" lIns="0" rIns="0" tIns="0" bIns="0">
            <a:spAutoFit/>
          </a:bodyPr>
          <a:lstStyle/>
          <a:p>
            <a:pPr algn="l">
              <a:spcAft>
                <a:spcPts val="400"/>
              </a:spcAft>
            </a:pPr>
            <a:r>
              <a:rPr sz="1600" b="1">
                <a:solidFill>
                  <a:srgbClr val="F5F4ED"/>
                </a:solidFill>
                <a:latin typeface="Arial"/>
              </a:rPr>
              <a:t>2  Reveal exposed orders and KPI</a:t>
            </a:r>
          </a:p>
        </p:txBody>
      </p:sp>
      <p:sp>
        <p:nvSpPr>
          <p:cNvPr id="8" name="Rectangle 7"/>
          <p:cNvSpPr/>
          <p:nvPr/>
        </p:nvSpPr>
        <p:spPr>
          <a:xfrm>
            <a:off x="640080" y="3282696"/>
            <a:ext cx="5120640" cy="658368"/>
          </a:xfrm>
          <a:prstGeom prst="rect">
            <a:avLst/>
          </a:prstGeom>
          <a:solidFill>
            <a:srgbClr val="0929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429000"/>
            <a:ext cx="4754880" cy="365760"/>
          </a:xfrm>
          <a:prstGeom prst="rect">
            <a:avLst/>
          </a:prstGeom>
          <a:noFill/>
        </p:spPr>
        <p:txBody>
          <a:bodyPr wrap="square" anchor="t" lIns="0" rIns="0" tIns="0" bIns="0">
            <a:spAutoFit/>
          </a:bodyPr>
          <a:lstStyle/>
          <a:p>
            <a:pPr algn="l">
              <a:spcAft>
                <a:spcPts val="400"/>
              </a:spcAft>
            </a:pPr>
            <a:r>
              <a:rPr sz="1600" b="1">
                <a:solidFill>
                  <a:srgbClr val="F5F4ED"/>
                </a:solidFill>
                <a:latin typeface="Arial"/>
              </a:rPr>
              <a:t>3  Compare Service · Cost · Stability</a:t>
            </a:r>
          </a:p>
        </p:txBody>
      </p:sp>
      <p:sp>
        <p:nvSpPr>
          <p:cNvPr id="10" name="Rectangle 9"/>
          <p:cNvSpPr/>
          <p:nvPr/>
        </p:nvSpPr>
        <p:spPr>
          <a:xfrm>
            <a:off x="640080" y="4123944"/>
            <a:ext cx="5120640" cy="658368"/>
          </a:xfrm>
          <a:prstGeom prst="rect">
            <a:avLst/>
          </a:prstGeom>
          <a:solidFill>
            <a:srgbClr val="0929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270248"/>
            <a:ext cx="4754880" cy="365760"/>
          </a:xfrm>
          <a:prstGeom prst="rect">
            <a:avLst/>
          </a:prstGeom>
          <a:noFill/>
        </p:spPr>
        <p:txBody>
          <a:bodyPr wrap="square" anchor="t" lIns="0" rIns="0" tIns="0" bIns="0">
            <a:spAutoFit/>
          </a:bodyPr>
          <a:lstStyle/>
          <a:p>
            <a:pPr algn="l">
              <a:spcAft>
                <a:spcPts val="400"/>
              </a:spcAft>
            </a:pPr>
            <a:r>
              <a:rPr sz="1600" b="1">
                <a:solidFill>
                  <a:srgbClr val="F5F4ED"/>
                </a:solidFill>
                <a:latin typeface="Arial"/>
              </a:rPr>
              <a:t>4  Preview, approve and record</a:t>
            </a:r>
          </a:p>
        </p:txBody>
      </p:sp>
      <p:sp>
        <p:nvSpPr>
          <p:cNvPr id="12" name="Rectangle 11"/>
          <p:cNvSpPr/>
          <p:nvPr/>
        </p:nvSpPr>
        <p:spPr>
          <a:xfrm>
            <a:off x="6309360" y="1600200"/>
            <a:ext cx="5212080" cy="2194560"/>
          </a:xfrm>
          <a:prstGeom prst="rect">
            <a:avLst/>
          </a:prstGeom>
          <a:solidFill>
            <a:srgbClr val="F5F4ED"/>
          </a:solidFill>
          <a:ln w="1905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1828800"/>
            <a:ext cx="4663440" cy="1737360"/>
          </a:xfrm>
          <a:prstGeom prst="rect">
            <a:avLst/>
          </a:prstGeom>
          <a:noFill/>
        </p:spPr>
        <p:txBody>
          <a:bodyPr wrap="square" anchor="t" lIns="0" rIns="0" tIns="0" bIns="0">
            <a:spAutoFit/>
          </a:bodyPr>
          <a:lstStyle/>
          <a:p>
            <a:pPr algn="l">
              <a:spcAft>
                <a:spcPts val="600"/>
              </a:spcAft>
            </a:pPr>
            <a:r>
              <a:rPr sz="1700" b="1">
                <a:solidFill>
                  <a:srgbClr val="10221F"/>
                </a:solidFill>
                <a:latin typeface="Arial"/>
              </a:rPr>
              <a:t>Like Waze after a road closes:</a:t>
            </a:r>
          </a:p>
          <a:p>
            <a:pPr algn="l">
              <a:spcAft>
                <a:spcPts val="600"/>
              </a:spcAft>
            </a:pPr>
            <a:r>
              <a:rPr sz="1500" b="0">
                <a:solidFill>
                  <a:srgbClr val="53645F"/>
                </a:solidFill>
                <a:latin typeface="Arial"/>
              </a:rPr>
              <a:t>same destination, different routes and visible</a:t>
            </a:r>
          </a:p>
          <a:p>
            <a:pPr algn="l">
              <a:spcAft>
                <a:spcPts val="600"/>
              </a:spcAft>
            </a:pPr>
            <a:r>
              <a:rPr sz="1500" b="0">
                <a:solidFill>
                  <a:srgbClr val="53645F"/>
                </a:solidFill>
                <a:latin typeface="Arial"/>
              </a:rPr>
              <a:t>trade-offs — the driver still decides.</a:t>
            </a:r>
          </a:p>
        </p:txBody>
      </p:sp>
      <p:sp>
        <p:nvSpPr>
          <p:cNvPr id="14" name="TextBox 13"/>
          <p:cNvSpPr txBox="1"/>
          <p:nvPr/>
        </p:nvSpPr>
        <p:spPr>
          <a:xfrm>
            <a:off x="6309360" y="4114800"/>
            <a:ext cx="5394960" cy="822960"/>
          </a:xfrm>
          <a:prstGeom prst="rect">
            <a:avLst/>
          </a:prstGeom>
          <a:noFill/>
        </p:spPr>
        <p:txBody>
          <a:bodyPr wrap="square" anchor="t" lIns="0" rIns="0" tIns="0" bIns="0">
            <a:spAutoFit/>
          </a:bodyPr>
          <a:lstStyle/>
          <a:p>
            <a:pPr algn="l">
              <a:spcAft>
                <a:spcPts val="400"/>
              </a:spcAft>
            </a:pPr>
            <a:r>
              <a:rPr sz="1700" b="1">
                <a:solidFill>
                  <a:srgbClr val="0F766E"/>
                </a:solidFill>
                <a:latin typeface="Arial"/>
              </a:rPr>
              <a:t>One incident → three comparable recovery</a:t>
            </a:r>
          </a:p>
          <a:p>
            <a:pPr algn="l">
              <a:spcAft>
                <a:spcPts val="400"/>
              </a:spcAft>
            </a:pPr>
            <a:r>
              <a:rPr sz="1700" b="1">
                <a:solidFill>
                  <a:srgbClr val="0F766E"/>
                </a:solidFill>
                <a:latin typeface="Arial"/>
              </a:rPr>
              <a:t>schedules → one traceable human decision</a:t>
            </a:r>
          </a:p>
        </p:txBody>
      </p:sp>
      <p:sp>
        <p:nvSpPr>
          <p:cNvPr id="15" name="Rectangle 14"/>
          <p:cNvSpPr/>
          <p:nvPr/>
        </p:nvSpPr>
        <p:spPr>
          <a:xfrm>
            <a:off x="640080" y="5257800"/>
            <a:ext cx="10881360" cy="603504"/>
          </a:xfrm>
          <a:prstGeom prst="rect">
            <a:avLst/>
          </a:prstGeom>
          <a:solidFill>
            <a:srgbClr val="0929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394960"/>
            <a:ext cx="10424160" cy="365760"/>
          </a:xfrm>
          <a:prstGeom prst="rect">
            <a:avLst/>
          </a:prstGeom>
          <a:noFill/>
        </p:spPr>
        <p:txBody>
          <a:bodyPr wrap="square" anchor="t" lIns="0" rIns="0" tIns="0" bIns="0">
            <a:spAutoFit/>
          </a:bodyPr>
          <a:lstStyle/>
          <a:p>
            <a:pPr algn="l">
              <a:spcAft>
                <a:spcPts val="400"/>
              </a:spcAft>
            </a:pPr>
            <a:r>
              <a:rPr sz="1500" b="1">
                <a:solidFill>
                  <a:srgbClr val="C9F36B"/>
                </a:solidFill>
                <a:latin typeface="Arial"/>
              </a:rPr>
              <a:t>Read-only decision support · No failure prediction · No machine control</a:t>
            </a:r>
          </a:p>
        </p:txBody>
      </p:sp>
      <p:sp>
        <p:nvSpPr>
          <p:cNvPr id="17" name="TextBox 16"/>
          <p:cNvSpPr txBox="1"/>
          <p:nvPr/>
        </p:nvSpPr>
        <p:spPr>
          <a:xfrm>
            <a:off x="640080" y="6473952"/>
            <a:ext cx="8229600" cy="274320"/>
          </a:xfrm>
          <a:prstGeom prst="rect">
            <a:avLst/>
          </a:prstGeom>
          <a:noFill/>
        </p:spPr>
        <p:txBody>
          <a:bodyPr wrap="square" anchor="t" lIns="0" rIns="0" tIns="0" bIns="0">
            <a:spAutoFit/>
          </a:bodyPr>
          <a:lstStyle/>
          <a:p>
            <a:pPr algn="l">
              <a:spcAft>
                <a:spcPts val="400"/>
              </a:spcAft>
            </a:pPr>
            <a:r>
              <a:rPr sz="1000" b="0">
                <a:solidFill>
                  <a:srgbClr val="53645F"/>
                </a:solidFill>
                <a:latin typeface="Arial"/>
              </a:rPr>
              <a:t>CableTwin · SUPCOM · Oussama Akir · Fully synthetic data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TextBox 1"/>
          <p:cNvSpPr txBox="1"/>
          <p:nvPr/>
        </p:nvSpPr>
        <p:spPr>
          <a:xfrm>
            <a:off x="640080" y="384048"/>
            <a:ext cx="10972800" cy="320040"/>
          </a:xfrm>
          <a:prstGeom prst="rect">
            <a:avLst/>
          </a:prstGeom>
          <a:noFill/>
        </p:spPr>
        <p:txBody>
          <a:bodyPr wrap="square" anchor="t" lIns="0" rIns="0" tIns="0" bIns="0">
            <a:spAutoFit/>
          </a:bodyPr>
          <a:lstStyle/>
          <a:p>
            <a:pPr algn="l">
              <a:spcAft>
                <a:spcPts val="400"/>
              </a:spcAft>
            </a:pPr>
            <a:r>
              <a:rPr sz="1300" b="1">
                <a:solidFill>
                  <a:srgbClr val="0F766E"/>
                </a:solidFill>
                <a:latin typeface="Arial"/>
              </a:rPr>
              <a:t>END-TO-END WORKFLOW</a:t>
            </a:r>
          </a:p>
        </p:txBody>
      </p:sp>
      <p:sp>
        <p:nvSpPr>
          <p:cNvPr id="3" name="TextBox 2"/>
          <p:cNvSpPr txBox="1"/>
          <p:nvPr/>
        </p:nvSpPr>
        <p:spPr>
          <a:xfrm>
            <a:off x="640080" y="713232"/>
            <a:ext cx="10972800" cy="822960"/>
          </a:xfrm>
          <a:prstGeom prst="rect">
            <a:avLst/>
          </a:prstGeom>
          <a:noFill/>
        </p:spPr>
        <p:txBody>
          <a:bodyPr wrap="square" anchor="t" lIns="0" rIns="0" tIns="0" bIns="0">
            <a:spAutoFit/>
          </a:bodyPr>
          <a:lstStyle/>
          <a:p>
            <a:pPr algn="l">
              <a:spcAft>
                <a:spcPts val="400"/>
              </a:spcAft>
            </a:pPr>
            <a:r>
              <a:rPr sz="2400" b="1">
                <a:solidFill>
                  <a:srgbClr val="10221F"/>
                </a:solidFill>
                <a:latin typeface="Arial"/>
              </a:rPr>
              <a:t>One end-to-end loop connects the incident to an auditable decision</a:t>
            </a:r>
          </a:p>
        </p:txBody>
      </p:sp>
      <p:sp>
        <p:nvSpPr>
          <p:cNvPr id="4" name="TextBox 3"/>
          <p:cNvSpPr txBox="1"/>
          <p:nvPr/>
        </p:nvSpPr>
        <p:spPr>
          <a:xfrm>
            <a:off x="640080" y="1554480"/>
            <a:ext cx="2697480" cy="274320"/>
          </a:xfrm>
          <a:prstGeom prst="rect">
            <a:avLst/>
          </a:prstGeom>
          <a:noFill/>
        </p:spPr>
        <p:txBody>
          <a:bodyPr wrap="square" anchor="t" lIns="0" rIns="0" tIns="0" bIns="0">
            <a:spAutoFit/>
          </a:bodyPr>
          <a:lstStyle/>
          <a:p>
            <a:pPr algn="l">
              <a:spcAft>
                <a:spcPts val="400"/>
              </a:spcAft>
            </a:pPr>
            <a:r>
              <a:rPr sz="1400" b="1">
                <a:solidFill>
                  <a:srgbClr val="0F766E"/>
                </a:solidFill>
                <a:latin typeface="Arial"/>
              </a:rPr>
              <a:t>01 — Understand</a:t>
            </a:r>
          </a:p>
        </p:txBody>
      </p:sp>
      <p:pic>
        <p:nvPicPr>
          <p:cNvPr id="5" name="Picture 4" descr="02-factory-nominal.png"/>
          <p:cNvPicPr>
            <a:picLocks noChangeAspect="1"/>
          </p:cNvPicPr>
          <p:nvPr/>
        </p:nvPicPr>
        <p:blipFill>
          <a:blip r:embed="rId2"/>
          <a:stretch>
            <a:fillRect/>
          </a:stretch>
        </p:blipFill>
        <p:spPr>
          <a:xfrm>
            <a:off x="640080" y="1920240"/>
            <a:ext cx="2697480" cy="1517332"/>
          </a:xfrm>
          <a:prstGeom prst="rect">
            <a:avLst/>
          </a:prstGeom>
        </p:spPr>
      </p:pic>
      <p:sp>
        <p:nvSpPr>
          <p:cNvPr id="6" name="TextBox 5"/>
          <p:cNvSpPr txBox="1"/>
          <p:nvPr/>
        </p:nvSpPr>
        <p:spPr>
          <a:xfrm>
            <a:off x="640080" y="3611880"/>
            <a:ext cx="2697480" cy="548640"/>
          </a:xfrm>
          <a:prstGeom prst="rect">
            <a:avLst/>
          </a:prstGeom>
          <a:noFill/>
        </p:spPr>
        <p:txBody>
          <a:bodyPr wrap="square" anchor="t" lIns="0" rIns="0" tIns="0" bIns="0">
            <a:spAutoFit/>
          </a:bodyPr>
          <a:lstStyle/>
          <a:p>
            <a:pPr algn="l">
              <a:spcAft>
                <a:spcPts val="400"/>
              </a:spcAft>
            </a:pPr>
            <a:r>
              <a:rPr sz="1250" b="0">
                <a:solidFill>
                  <a:srgbClr val="10221F"/>
                </a:solidFill>
                <a:latin typeface="Arial"/>
              </a:rPr>
              <a:t>3 lines · 10/10 on time</a:t>
            </a:r>
          </a:p>
        </p:txBody>
      </p:sp>
      <p:sp>
        <p:nvSpPr>
          <p:cNvPr id="7" name="TextBox 6"/>
          <p:cNvSpPr txBox="1"/>
          <p:nvPr/>
        </p:nvSpPr>
        <p:spPr>
          <a:xfrm>
            <a:off x="3447288" y="1554480"/>
            <a:ext cx="2697480" cy="274320"/>
          </a:xfrm>
          <a:prstGeom prst="rect">
            <a:avLst/>
          </a:prstGeom>
          <a:noFill/>
        </p:spPr>
        <p:txBody>
          <a:bodyPr wrap="square" anchor="t" lIns="0" rIns="0" tIns="0" bIns="0">
            <a:spAutoFit/>
          </a:bodyPr>
          <a:lstStyle/>
          <a:p>
            <a:pPr algn="l">
              <a:spcAft>
                <a:spcPts val="400"/>
              </a:spcAft>
            </a:pPr>
            <a:r>
              <a:rPr sz="1400" b="1">
                <a:solidFill>
                  <a:srgbClr val="0F766E"/>
                </a:solidFill>
                <a:latin typeface="Arial"/>
              </a:rPr>
              <a:t>02 — Simulate</a:t>
            </a:r>
          </a:p>
        </p:txBody>
      </p:sp>
      <p:pic>
        <p:nvPicPr>
          <p:cNvPr id="8" name="Picture 7" descr="03-incident-kpis.png"/>
          <p:cNvPicPr>
            <a:picLocks noChangeAspect="1"/>
          </p:cNvPicPr>
          <p:nvPr/>
        </p:nvPicPr>
        <p:blipFill>
          <a:blip r:embed="rId3"/>
          <a:stretch>
            <a:fillRect/>
          </a:stretch>
        </p:blipFill>
        <p:spPr>
          <a:xfrm>
            <a:off x="3447288" y="1920240"/>
            <a:ext cx="2697480" cy="1517332"/>
          </a:xfrm>
          <a:prstGeom prst="rect">
            <a:avLst/>
          </a:prstGeom>
        </p:spPr>
      </p:pic>
      <p:sp>
        <p:nvSpPr>
          <p:cNvPr id="9" name="TextBox 8"/>
          <p:cNvSpPr txBox="1"/>
          <p:nvPr/>
        </p:nvSpPr>
        <p:spPr>
          <a:xfrm>
            <a:off x="3447288" y="3611880"/>
            <a:ext cx="2697480" cy="548640"/>
          </a:xfrm>
          <a:prstGeom prst="rect">
            <a:avLst/>
          </a:prstGeom>
          <a:noFill/>
        </p:spPr>
        <p:txBody>
          <a:bodyPr wrap="square" anchor="t" lIns="0" rIns="0" tIns="0" bIns="0">
            <a:spAutoFit/>
          </a:bodyPr>
          <a:lstStyle/>
          <a:p>
            <a:pPr algn="l">
              <a:spcAft>
                <a:spcPts val="400"/>
              </a:spcAft>
            </a:pPr>
            <a:r>
              <a:rPr sz="1250" b="0">
                <a:solidFill>
                  <a:srgbClr val="10221F"/>
                </a:solidFill>
                <a:latin typeface="Arial"/>
              </a:rPr>
              <a:t>Line 2 stops · 3 exposed</a:t>
            </a:r>
          </a:p>
        </p:txBody>
      </p:sp>
      <p:sp>
        <p:nvSpPr>
          <p:cNvPr id="10" name="TextBox 9"/>
          <p:cNvSpPr txBox="1"/>
          <p:nvPr/>
        </p:nvSpPr>
        <p:spPr>
          <a:xfrm>
            <a:off x="6254496" y="1554480"/>
            <a:ext cx="2697480" cy="274320"/>
          </a:xfrm>
          <a:prstGeom prst="rect">
            <a:avLst/>
          </a:prstGeom>
          <a:noFill/>
        </p:spPr>
        <p:txBody>
          <a:bodyPr wrap="square" anchor="t" lIns="0" rIns="0" tIns="0" bIns="0">
            <a:spAutoFit/>
          </a:bodyPr>
          <a:lstStyle/>
          <a:p>
            <a:pPr algn="l">
              <a:spcAft>
                <a:spcPts val="400"/>
              </a:spcAft>
            </a:pPr>
            <a:r>
              <a:rPr sz="1400" b="1">
                <a:solidFill>
                  <a:srgbClr val="0F766E"/>
                </a:solidFill>
                <a:latin typeface="Arial"/>
              </a:rPr>
              <a:t>03 — Compare</a:t>
            </a:r>
          </a:p>
        </p:txBody>
      </p:sp>
      <p:pic>
        <p:nvPicPr>
          <p:cNvPr id="11" name="Picture 10" descr="04-strategies.png"/>
          <p:cNvPicPr>
            <a:picLocks noChangeAspect="1"/>
          </p:cNvPicPr>
          <p:nvPr/>
        </p:nvPicPr>
        <p:blipFill>
          <a:blip r:embed="rId4"/>
          <a:stretch>
            <a:fillRect/>
          </a:stretch>
        </p:blipFill>
        <p:spPr>
          <a:xfrm>
            <a:off x="6254496" y="1920240"/>
            <a:ext cx="2697480" cy="1517332"/>
          </a:xfrm>
          <a:prstGeom prst="rect">
            <a:avLst/>
          </a:prstGeom>
        </p:spPr>
      </p:pic>
      <p:sp>
        <p:nvSpPr>
          <p:cNvPr id="12" name="TextBox 11"/>
          <p:cNvSpPr txBox="1"/>
          <p:nvPr/>
        </p:nvSpPr>
        <p:spPr>
          <a:xfrm>
            <a:off x="6254496" y="3611880"/>
            <a:ext cx="2697480" cy="548640"/>
          </a:xfrm>
          <a:prstGeom prst="rect">
            <a:avLst/>
          </a:prstGeom>
          <a:noFill/>
        </p:spPr>
        <p:txBody>
          <a:bodyPr wrap="square" anchor="t" lIns="0" rIns="0" tIns="0" bIns="0">
            <a:spAutoFit/>
          </a:bodyPr>
          <a:lstStyle/>
          <a:p>
            <a:pPr algn="l">
              <a:spcAft>
                <a:spcPts val="400"/>
              </a:spcAft>
            </a:pPr>
            <a:r>
              <a:rPr sz="1250" b="0">
                <a:solidFill>
                  <a:srgbClr val="10221F"/>
                </a:solidFill>
                <a:latin typeface="Arial"/>
              </a:rPr>
              <a:t>3 feasible routes · same KPI</a:t>
            </a:r>
          </a:p>
        </p:txBody>
      </p:sp>
      <p:sp>
        <p:nvSpPr>
          <p:cNvPr id="13" name="TextBox 12"/>
          <p:cNvSpPr txBox="1"/>
          <p:nvPr/>
        </p:nvSpPr>
        <p:spPr>
          <a:xfrm>
            <a:off x="9061704" y="1554480"/>
            <a:ext cx="2697480" cy="274320"/>
          </a:xfrm>
          <a:prstGeom prst="rect">
            <a:avLst/>
          </a:prstGeom>
          <a:noFill/>
        </p:spPr>
        <p:txBody>
          <a:bodyPr wrap="square" anchor="t" lIns="0" rIns="0" tIns="0" bIns="0">
            <a:spAutoFit/>
          </a:bodyPr>
          <a:lstStyle/>
          <a:p>
            <a:pPr algn="l">
              <a:spcAft>
                <a:spcPts val="400"/>
              </a:spcAft>
            </a:pPr>
            <a:r>
              <a:rPr sz="1400" b="1">
                <a:solidFill>
                  <a:srgbClr val="0F766E"/>
                </a:solidFill>
                <a:latin typeface="Arial"/>
              </a:rPr>
              <a:t>04 — Decide</a:t>
            </a:r>
          </a:p>
        </p:txBody>
      </p:sp>
      <p:pic>
        <p:nvPicPr>
          <p:cNvPr id="14" name="Picture 13" descr="07-approved-audit.png"/>
          <p:cNvPicPr>
            <a:picLocks noChangeAspect="1"/>
          </p:cNvPicPr>
          <p:nvPr/>
        </p:nvPicPr>
        <p:blipFill>
          <a:blip r:embed="rId5"/>
          <a:stretch>
            <a:fillRect/>
          </a:stretch>
        </p:blipFill>
        <p:spPr>
          <a:xfrm>
            <a:off x="9061704" y="1920240"/>
            <a:ext cx="2697480" cy="1517332"/>
          </a:xfrm>
          <a:prstGeom prst="rect">
            <a:avLst/>
          </a:prstGeom>
        </p:spPr>
      </p:pic>
      <p:sp>
        <p:nvSpPr>
          <p:cNvPr id="15" name="TextBox 14"/>
          <p:cNvSpPr txBox="1"/>
          <p:nvPr/>
        </p:nvSpPr>
        <p:spPr>
          <a:xfrm>
            <a:off x="9061704" y="3611880"/>
            <a:ext cx="2697480" cy="548640"/>
          </a:xfrm>
          <a:prstGeom prst="rect">
            <a:avLst/>
          </a:prstGeom>
          <a:noFill/>
        </p:spPr>
        <p:txBody>
          <a:bodyPr wrap="square" anchor="t" lIns="0" rIns="0" tIns="0" bIns="0">
            <a:spAutoFit/>
          </a:bodyPr>
          <a:lstStyle/>
          <a:p>
            <a:pPr algn="l">
              <a:spcAft>
                <a:spcPts val="400"/>
              </a:spcAft>
            </a:pPr>
            <a:r>
              <a:rPr sz="1250" b="0">
                <a:solidFill>
                  <a:srgbClr val="10221F"/>
                </a:solidFill>
                <a:latin typeface="Arial"/>
              </a:rPr>
              <a:t>Manager approves · audit at 10:07</a:t>
            </a:r>
          </a:p>
        </p:txBody>
      </p:sp>
      <p:sp>
        <p:nvSpPr>
          <p:cNvPr id="16" name="Rectangle 15"/>
          <p:cNvSpPr/>
          <p:nvPr/>
        </p:nvSpPr>
        <p:spPr>
          <a:xfrm>
            <a:off x="640080" y="5349240"/>
            <a:ext cx="10881360" cy="603504"/>
          </a:xfrm>
          <a:prstGeom prst="rect">
            <a:avLst/>
          </a:prstGeom>
          <a:solidFill>
            <a:srgbClr val="0929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486400"/>
            <a:ext cx="10515600" cy="365760"/>
          </a:xfrm>
          <a:prstGeom prst="rect">
            <a:avLst/>
          </a:prstGeom>
          <a:noFill/>
        </p:spPr>
        <p:txBody>
          <a:bodyPr wrap="square" anchor="t" lIns="0" rIns="0" tIns="0" bIns="0">
            <a:spAutoFit/>
          </a:bodyPr>
          <a:lstStyle/>
          <a:p>
            <a:pPr algn="l">
              <a:spcAft>
                <a:spcPts val="400"/>
              </a:spcAft>
            </a:pPr>
            <a:r>
              <a:rPr sz="1350" b="0">
                <a:solidFill>
                  <a:srgbClr val="F5F4ED"/>
                </a:solidFill>
                <a:latin typeface="Arial"/>
              </a:rPr>
              <a:t>The same executable path connects data, incident analysis, planning, Gantt preview, approval, audit and reset.</a:t>
            </a:r>
          </a:p>
        </p:txBody>
      </p:sp>
      <p:sp>
        <p:nvSpPr>
          <p:cNvPr id="18" name="TextBox 17"/>
          <p:cNvSpPr txBox="1"/>
          <p:nvPr/>
        </p:nvSpPr>
        <p:spPr>
          <a:xfrm>
            <a:off x="640080" y="6473952"/>
            <a:ext cx="8229600" cy="274320"/>
          </a:xfrm>
          <a:prstGeom prst="rect">
            <a:avLst/>
          </a:prstGeom>
          <a:noFill/>
        </p:spPr>
        <p:txBody>
          <a:bodyPr wrap="square" anchor="t" lIns="0" rIns="0" tIns="0" bIns="0">
            <a:spAutoFit/>
          </a:bodyPr>
          <a:lstStyle/>
          <a:p>
            <a:pPr algn="l">
              <a:spcAft>
                <a:spcPts val="400"/>
              </a:spcAft>
            </a:pPr>
            <a:r>
              <a:rPr sz="1000" b="0">
                <a:solidFill>
                  <a:srgbClr val="53645F"/>
                </a:solidFill>
                <a:latin typeface="Arial"/>
              </a:rPr>
              <a:t>CableTwin · SUPCOM · Oussama Akir · Fully synthetic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92925"/>
        </a:solidFill>
        <a:effectLst/>
      </p:bgPr>
    </p:bg>
    <p:spTree>
      <p:nvGrpSpPr>
        <p:cNvPr id="1" name=""/>
        <p:cNvGrpSpPr/>
        <p:nvPr/>
      </p:nvGrpSpPr>
      <p:grpSpPr/>
      <p:sp>
        <p:nvSpPr>
          <p:cNvPr id="2" name="TextBox 1"/>
          <p:cNvSpPr txBox="1"/>
          <p:nvPr/>
        </p:nvSpPr>
        <p:spPr>
          <a:xfrm>
            <a:off x="640080" y="384048"/>
            <a:ext cx="10972800" cy="320040"/>
          </a:xfrm>
          <a:prstGeom prst="rect">
            <a:avLst/>
          </a:prstGeom>
          <a:noFill/>
        </p:spPr>
        <p:txBody>
          <a:bodyPr wrap="square" anchor="t" lIns="0" rIns="0" tIns="0" bIns="0">
            <a:spAutoFit/>
          </a:bodyPr>
          <a:lstStyle/>
          <a:p>
            <a:pPr algn="l">
              <a:spcAft>
                <a:spcPts val="400"/>
              </a:spcAft>
            </a:pPr>
            <a:r>
              <a:rPr sz="1300" b="1">
                <a:solidFill>
                  <a:srgbClr val="C9F36B"/>
                </a:solidFill>
                <a:latin typeface="Arial"/>
              </a:rPr>
              <a:t>WORKING PROTOTYPE · MEASURED CONSEQUENCE</a:t>
            </a:r>
          </a:p>
        </p:txBody>
      </p:sp>
      <p:sp>
        <p:nvSpPr>
          <p:cNvPr id="3" name="TextBox 2"/>
          <p:cNvSpPr txBox="1"/>
          <p:nvPr/>
        </p:nvSpPr>
        <p:spPr>
          <a:xfrm>
            <a:off x="640080" y="713232"/>
            <a:ext cx="10972800" cy="822960"/>
          </a:xfrm>
          <a:prstGeom prst="rect">
            <a:avLst/>
          </a:prstGeom>
          <a:noFill/>
        </p:spPr>
        <p:txBody>
          <a:bodyPr wrap="square" anchor="t" lIns="0" rIns="0" tIns="0" bIns="0">
            <a:spAutoFit/>
          </a:bodyPr>
          <a:lstStyle/>
          <a:p>
            <a:pPr algn="l">
              <a:spcAft>
                <a:spcPts val="400"/>
              </a:spcAft>
            </a:pPr>
            <a:r>
              <a:rPr sz="3000" b="1">
                <a:solidFill>
                  <a:srgbClr val="F5F4ED"/>
                </a:solidFill>
                <a:latin typeface="Arial"/>
              </a:rPr>
              <a:t>Service cuts projected delay from </a:t>
            </a:r>
            <a:r>
              <a:rPr sz="3000" b="1">
                <a:solidFill>
                  <a:srgbClr val="C9F36B"/>
                </a:solidFill>
                <a:latin typeface="Arial"/>
              </a:rPr>
              <a:t>620 to 140 minutes</a:t>
            </a:r>
          </a:p>
        </p:txBody>
      </p:sp>
      <p:sp>
        <p:nvSpPr>
          <p:cNvPr id="4" name="TextBox 3"/>
          <p:cNvSpPr txBox="1"/>
          <p:nvPr/>
        </p:nvSpPr>
        <p:spPr>
          <a:xfrm>
            <a:off x="640080" y="1600200"/>
            <a:ext cx="2743200" cy="457200"/>
          </a:xfrm>
          <a:prstGeom prst="rect">
            <a:avLst/>
          </a:prstGeom>
          <a:noFill/>
        </p:spPr>
        <p:txBody>
          <a:bodyPr wrap="square" anchor="t" lIns="0" rIns="0" tIns="0" bIns="0">
            <a:spAutoFit/>
          </a:bodyPr>
          <a:lstStyle/>
          <a:p>
            <a:pPr algn="l">
              <a:spcAft>
                <a:spcPts val="400"/>
              </a:spcAft>
            </a:pPr>
            <a:r>
              <a:rPr sz="2100" b="1">
                <a:solidFill>
                  <a:srgbClr val="C9F36B"/>
                </a:solidFill>
                <a:latin typeface="Arial"/>
              </a:rPr>
              <a:t>620 → 140 min</a:t>
            </a:r>
          </a:p>
        </p:txBody>
      </p:sp>
      <p:sp>
        <p:nvSpPr>
          <p:cNvPr id="5" name="TextBox 4"/>
          <p:cNvSpPr txBox="1"/>
          <p:nvPr/>
        </p:nvSpPr>
        <p:spPr>
          <a:xfrm>
            <a:off x="640080" y="2011680"/>
            <a:ext cx="2743200" cy="457200"/>
          </a:xfrm>
          <a:prstGeom prst="rect">
            <a:avLst/>
          </a:prstGeom>
          <a:noFill/>
        </p:spPr>
        <p:txBody>
          <a:bodyPr wrap="square" anchor="t" lIns="0" rIns="0" tIns="0" bIns="0">
            <a:spAutoFit/>
          </a:bodyPr>
          <a:lstStyle/>
          <a:p>
            <a:pPr algn="l">
              <a:spcAft>
                <a:spcPts val="400"/>
              </a:spcAft>
            </a:pPr>
            <a:r>
              <a:rPr sz="1200" b="0">
                <a:solidFill>
                  <a:srgbClr val="8FA8A2"/>
                </a:solidFill>
                <a:latin typeface="Arial"/>
              </a:rPr>
              <a:t>projected cumulative delay</a:t>
            </a:r>
          </a:p>
        </p:txBody>
      </p:sp>
      <p:sp>
        <p:nvSpPr>
          <p:cNvPr id="6" name="TextBox 5"/>
          <p:cNvSpPr txBox="1"/>
          <p:nvPr/>
        </p:nvSpPr>
        <p:spPr>
          <a:xfrm>
            <a:off x="3429000" y="1600200"/>
            <a:ext cx="2743200" cy="457200"/>
          </a:xfrm>
          <a:prstGeom prst="rect">
            <a:avLst/>
          </a:prstGeom>
          <a:noFill/>
        </p:spPr>
        <p:txBody>
          <a:bodyPr wrap="square" anchor="t" lIns="0" rIns="0" tIns="0" bIns="0">
            <a:spAutoFit/>
          </a:bodyPr>
          <a:lstStyle/>
          <a:p>
            <a:pPr algn="l">
              <a:spcAft>
                <a:spcPts val="400"/>
              </a:spcAft>
            </a:pPr>
            <a:r>
              <a:rPr sz="2100" b="1">
                <a:solidFill>
                  <a:srgbClr val="C9F36B"/>
                </a:solidFill>
                <a:latin typeface="Arial"/>
              </a:rPr>
              <a:t>188 → 216 km</a:t>
            </a:r>
          </a:p>
        </p:txBody>
      </p:sp>
      <p:sp>
        <p:nvSpPr>
          <p:cNvPr id="7" name="TextBox 6"/>
          <p:cNvSpPr txBox="1"/>
          <p:nvPr/>
        </p:nvSpPr>
        <p:spPr>
          <a:xfrm>
            <a:off x="3429000" y="2011680"/>
            <a:ext cx="2743200" cy="457200"/>
          </a:xfrm>
          <a:prstGeom prst="rect">
            <a:avLst/>
          </a:prstGeom>
          <a:noFill/>
        </p:spPr>
        <p:txBody>
          <a:bodyPr wrap="square" anchor="t" lIns="0" rIns="0" tIns="0" bIns="0">
            <a:spAutoFit/>
          </a:bodyPr>
          <a:lstStyle/>
          <a:p>
            <a:pPr algn="l">
              <a:spcAft>
                <a:spcPts val="400"/>
              </a:spcAft>
            </a:pPr>
            <a:r>
              <a:rPr sz="1200" b="0">
                <a:solidFill>
                  <a:srgbClr val="8FA8A2"/>
                </a:solidFill>
                <a:latin typeface="Arial"/>
              </a:rPr>
              <a:t>completed by 18:00 · +14.9%</a:t>
            </a:r>
          </a:p>
        </p:txBody>
      </p:sp>
      <p:sp>
        <p:nvSpPr>
          <p:cNvPr id="8" name="TextBox 7"/>
          <p:cNvSpPr txBox="1"/>
          <p:nvPr/>
        </p:nvSpPr>
        <p:spPr>
          <a:xfrm>
            <a:off x="6217920" y="1600200"/>
            <a:ext cx="2743200" cy="457200"/>
          </a:xfrm>
          <a:prstGeom prst="rect">
            <a:avLst/>
          </a:prstGeom>
          <a:noFill/>
        </p:spPr>
        <p:txBody>
          <a:bodyPr wrap="square" anchor="t" lIns="0" rIns="0" tIns="0" bIns="0">
            <a:spAutoFit/>
          </a:bodyPr>
          <a:lstStyle/>
          <a:p>
            <a:pPr algn="l">
              <a:spcAft>
                <a:spcPts val="400"/>
              </a:spcAft>
            </a:pPr>
            <a:r>
              <a:rPr sz="2100" b="1">
                <a:solidFill>
                  <a:srgbClr val="C9F36B"/>
                </a:solidFill>
                <a:latin typeface="Arial"/>
              </a:rPr>
              <a:t>180 → 30 min</a:t>
            </a:r>
          </a:p>
        </p:txBody>
      </p:sp>
      <p:sp>
        <p:nvSpPr>
          <p:cNvPr id="9" name="TextBox 8"/>
          <p:cNvSpPr txBox="1"/>
          <p:nvPr/>
        </p:nvSpPr>
        <p:spPr>
          <a:xfrm>
            <a:off x="6217920" y="2011680"/>
            <a:ext cx="2743200" cy="457200"/>
          </a:xfrm>
          <a:prstGeom prst="rect">
            <a:avLst/>
          </a:prstGeom>
          <a:noFill/>
        </p:spPr>
        <p:txBody>
          <a:bodyPr wrap="square" anchor="t" lIns="0" rIns="0" tIns="0" bIns="0">
            <a:spAutoFit/>
          </a:bodyPr>
          <a:lstStyle/>
          <a:p>
            <a:pPr algn="l">
              <a:spcAft>
                <a:spcPts val="400"/>
              </a:spcAft>
            </a:pPr>
            <a:r>
              <a:rPr sz="1200" b="0">
                <a:solidFill>
                  <a:srgbClr val="8FA8A2"/>
                </a:solidFill>
                <a:latin typeface="Arial"/>
              </a:rPr>
              <a:t>overtime · −83.3%</a:t>
            </a:r>
          </a:p>
        </p:txBody>
      </p:sp>
      <p:sp>
        <p:nvSpPr>
          <p:cNvPr id="10" name="TextBox 9"/>
          <p:cNvSpPr txBox="1"/>
          <p:nvPr/>
        </p:nvSpPr>
        <p:spPr>
          <a:xfrm>
            <a:off x="9006840" y="1600200"/>
            <a:ext cx="2743200" cy="457200"/>
          </a:xfrm>
          <a:prstGeom prst="rect">
            <a:avLst/>
          </a:prstGeom>
          <a:noFill/>
        </p:spPr>
        <p:txBody>
          <a:bodyPr wrap="square" anchor="t" lIns="0" rIns="0" tIns="0" bIns="0">
            <a:spAutoFit/>
          </a:bodyPr>
          <a:lstStyle/>
          <a:p>
            <a:pPr algn="l">
              <a:spcAft>
                <a:spcPts val="400"/>
              </a:spcAft>
            </a:pPr>
            <a:r>
              <a:rPr sz="2100" b="1">
                <a:solidFill>
                  <a:srgbClr val="C9F36B"/>
                </a:solidFill>
                <a:latin typeface="Arial"/>
              </a:rPr>
              <a:t>7/10 → 8/10</a:t>
            </a:r>
          </a:p>
        </p:txBody>
      </p:sp>
      <p:sp>
        <p:nvSpPr>
          <p:cNvPr id="11" name="TextBox 10"/>
          <p:cNvSpPr txBox="1"/>
          <p:nvPr/>
        </p:nvSpPr>
        <p:spPr>
          <a:xfrm>
            <a:off x="9006840" y="2011680"/>
            <a:ext cx="2743200" cy="457200"/>
          </a:xfrm>
          <a:prstGeom prst="rect">
            <a:avLst/>
          </a:prstGeom>
          <a:noFill/>
        </p:spPr>
        <p:txBody>
          <a:bodyPr wrap="square" anchor="t" lIns="0" rIns="0" tIns="0" bIns="0">
            <a:spAutoFit/>
          </a:bodyPr>
          <a:lstStyle/>
          <a:p>
            <a:pPr algn="l">
              <a:spcAft>
                <a:spcPts val="400"/>
              </a:spcAft>
            </a:pPr>
            <a:r>
              <a:rPr sz="1200" b="0">
                <a:solidFill>
                  <a:srgbClr val="8FA8A2"/>
                </a:solidFill>
                <a:latin typeface="Arial"/>
              </a:rPr>
              <a:t>orders on time · 3 line moves</a:t>
            </a:r>
          </a:p>
        </p:txBody>
      </p:sp>
      <p:pic>
        <p:nvPicPr>
          <p:cNvPr id="12" name="Picture 11" descr="08-full-resolved.png"/>
          <p:cNvPicPr>
            <a:picLocks noChangeAspect="1"/>
          </p:cNvPicPr>
          <p:nvPr/>
        </p:nvPicPr>
        <p:blipFill>
          <a:blip r:embed="rId2"/>
          <a:srcRect l="17708" r="17708" t="36974" b="53865"/>
          <a:stretch>
            <a:fillRect/>
          </a:stretch>
        </p:blipFill>
        <p:spPr>
          <a:xfrm>
            <a:off x="640080" y="2697480"/>
            <a:ext cx="7589520" cy="2706624"/>
          </a:xfrm>
          <a:prstGeom prst="rect">
            <a:avLst/>
          </a:prstGeom>
        </p:spPr>
      </p:pic>
      <p:sp>
        <p:nvSpPr>
          <p:cNvPr id="13" name="Rectangle 12"/>
          <p:cNvSpPr/>
          <p:nvPr/>
        </p:nvSpPr>
        <p:spPr>
          <a:xfrm>
            <a:off x="8458200" y="2651760"/>
            <a:ext cx="3063240" cy="841248"/>
          </a:xfrm>
          <a:prstGeom prst="rect">
            <a:avLst/>
          </a:prstGeom>
          <a:solidFill>
            <a:srgbClr val="092925"/>
          </a:solidFill>
          <a:ln w="1270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0" y="2743200"/>
            <a:ext cx="2743200" cy="274320"/>
          </a:xfrm>
          <a:prstGeom prst="rect">
            <a:avLst/>
          </a:prstGeom>
          <a:noFill/>
        </p:spPr>
        <p:txBody>
          <a:bodyPr wrap="square" anchor="t" lIns="0" rIns="0" tIns="0" bIns="0">
            <a:spAutoFit/>
          </a:bodyPr>
          <a:lstStyle/>
          <a:p>
            <a:pPr algn="l">
              <a:spcAft>
                <a:spcPts val="400"/>
              </a:spcAft>
            </a:pPr>
            <a:r>
              <a:rPr sz="1400" b="1">
                <a:solidFill>
                  <a:srgbClr val="F5F4ED"/>
                </a:solidFill>
                <a:latin typeface="Arial"/>
              </a:rPr>
              <a:t>Stability</a:t>
            </a:r>
          </a:p>
        </p:txBody>
      </p:sp>
      <p:sp>
        <p:nvSpPr>
          <p:cNvPr id="15" name="TextBox 14"/>
          <p:cNvSpPr txBox="1"/>
          <p:nvPr/>
        </p:nvSpPr>
        <p:spPr>
          <a:xfrm>
            <a:off x="8686800" y="3035808"/>
            <a:ext cx="2743200" cy="365760"/>
          </a:xfrm>
          <a:prstGeom prst="rect">
            <a:avLst/>
          </a:prstGeom>
          <a:noFill/>
        </p:spPr>
        <p:txBody>
          <a:bodyPr wrap="square" anchor="t" lIns="0" rIns="0" tIns="0" bIns="0">
            <a:spAutoFit/>
          </a:bodyPr>
          <a:lstStyle/>
          <a:p>
            <a:pPr algn="l">
              <a:spcAft>
                <a:spcPts val="400"/>
              </a:spcAft>
            </a:pPr>
            <a:r>
              <a:rPr sz="1300" b="0">
                <a:solidFill>
                  <a:srgbClr val="F5F4ED"/>
                </a:solidFill>
                <a:latin typeface="Arial"/>
              </a:rPr>
              <a:t>620 min · 188 km · 0 moves</a:t>
            </a:r>
          </a:p>
        </p:txBody>
      </p:sp>
      <p:sp>
        <p:nvSpPr>
          <p:cNvPr id="16" name="Rectangle 15"/>
          <p:cNvSpPr/>
          <p:nvPr/>
        </p:nvSpPr>
        <p:spPr>
          <a:xfrm>
            <a:off x="8458200" y="3639312"/>
            <a:ext cx="3063240" cy="84124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0" y="3730752"/>
            <a:ext cx="2743200" cy="274320"/>
          </a:xfrm>
          <a:prstGeom prst="rect">
            <a:avLst/>
          </a:prstGeom>
          <a:noFill/>
        </p:spPr>
        <p:txBody>
          <a:bodyPr wrap="square" anchor="t" lIns="0" rIns="0" tIns="0" bIns="0">
            <a:spAutoFit/>
          </a:bodyPr>
          <a:lstStyle/>
          <a:p>
            <a:pPr algn="l">
              <a:spcAft>
                <a:spcPts val="400"/>
              </a:spcAft>
            </a:pPr>
            <a:r>
              <a:rPr sz="1400" b="1">
                <a:solidFill>
                  <a:srgbClr val="C9F36B"/>
                </a:solidFill>
                <a:latin typeface="Arial"/>
              </a:rPr>
              <a:t>Service</a:t>
            </a:r>
          </a:p>
        </p:txBody>
      </p:sp>
      <p:sp>
        <p:nvSpPr>
          <p:cNvPr id="18" name="TextBox 17"/>
          <p:cNvSpPr txBox="1"/>
          <p:nvPr/>
        </p:nvSpPr>
        <p:spPr>
          <a:xfrm>
            <a:off x="8686800" y="4023360"/>
            <a:ext cx="2743200" cy="365760"/>
          </a:xfrm>
          <a:prstGeom prst="rect">
            <a:avLst/>
          </a:prstGeom>
          <a:noFill/>
        </p:spPr>
        <p:txBody>
          <a:bodyPr wrap="square" anchor="t" lIns="0" rIns="0" tIns="0" bIns="0">
            <a:spAutoFit/>
          </a:bodyPr>
          <a:lstStyle/>
          <a:p>
            <a:pPr algn="l">
              <a:spcAft>
                <a:spcPts val="400"/>
              </a:spcAft>
            </a:pPr>
            <a:r>
              <a:rPr sz="1300" b="0">
                <a:solidFill>
                  <a:srgbClr val="F5F4ED"/>
                </a:solidFill>
                <a:latin typeface="Arial"/>
              </a:rPr>
              <a:t>140 min · 216 km · 3 moves</a:t>
            </a:r>
          </a:p>
        </p:txBody>
      </p:sp>
      <p:sp>
        <p:nvSpPr>
          <p:cNvPr id="19" name="Rectangle 18"/>
          <p:cNvSpPr/>
          <p:nvPr/>
        </p:nvSpPr>
        <p:spPr>
          <a:xfrm>
            <a:off x="8458200" y="4626864"/>
            <a:ext cx="3063240" cy="841248"/>
          </a:xfrm>
          <a:prstGeom prst="rect">
            <a:avLst/>
          </a:prstGeom>
          <a:solidFill>
            <a:srgbClr val="092925"/>
          </a:solidFill>
          <a:ln w="1270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0" y="4718304"/>
            <a:ext cx="2743200" cy="274320"/>
          </a:xfrm>
          <a:prstGeom prst="rect">
            <a:avLst/>
          </a:prstGeom>
          <a:noFill/>
        </p:spPr>
        <p:txBody>
          <a:bodyPr wrap="square" anchor="t" lIns="0" rIns="0" tIns="0" bIns="0">
            <a:spAutoFit/>
          </a:bodyPr>
          <a:lstStyle/>
          <a:p>
            <a:pPr algn="l">
              <a:spcAft>
                <a:spcPts val="400"/>
              </a:spcAft>
            </a:pPr>
            <a:r>
              <a:rPr sz="1400" b="1">
                <a:solidFill>
                  <a:srgbClr val="F5F4ED"/>
                </a:solidFill>
                <a:latin typeface="Arial"/>
              </a:rPr>
              <a:t>Cost</a:t>
            </a:r>
          </a:p>
        </p:txBody>
      </p:sp>
      <p:sp>
        <p:nvSpPr>
          <p:cNvPr id="21" name="TextBox 20"/>
          <p:cNvSpPr txBox="1"/>
          <p:nvPr/>
        </p:nvSpPr>
        <p:spPr>
          <a:xfrm>
            <a:off x="8686800" y="5010912"/>
            <a:ext cx="2743200" cy="365760"/>
          </a:xfrm>
          <a:prstGeom prst="rect">
            <a:avLst/>
          </a:prstGeom>
          <a:noFill/>
        </p:spPr>
        <p:txBody>
          <a:bodyPr wrap="square" anchor="t" lIns="0" rIns="0" tIns="0" bIns="0">
            <a:spAutoFit/>
          </a:bodyPr>
          <a:lstStyle/>
          <a:p>
            <a:pPr algn="l">
              <a:spcAft>
                <a:spcPts val="400"/>
              </a:spcAft>
            </a:pPr>
            <a:r>
              <a:rPr sz="1300" b="0">
                <a:solidFill>
                  <a:srgbClr val="F5F4ED"/>
                </a:solidFill>
                <a:latin typeface="Arial"/>
              </a:rPr>
              <a:t>170 min · 216 km · 2 moves</a:t>
            </a:r>
          </a:p>
        </p:txBody>
      </p:sp>
      <p:sp>
        <p:nvSpPr>
          <p:cNvPr id="22" name="TextBox 21"/>
          <p:cNvSpPr txBox="1"/>
          <p:nvPr/>
        </p:nvSpPr>
        <p:spPr>
          <a:xfrm>
            <a:off x="640080" y="5989320"/>
            <a:ext cx="10972800" cy="365760"/>
          </a:xfrm>
          <a:prstGeom prst="rect">
            <a:avLst/>
          </a:prstGeom>
          <a:noFill/>
        </p:spPr>
        <p:txBody>
          <a:bodyPr wrap="square" anchor="t" lIns="0" rIns="0" tIns="0" bIns="0">
            <a:spAutoFit/>
          </a:bodyPr>
          <a:lstStyle/>
          <a:p>
            <a:pPr algn="l">
              <a:spcAft>
                <a:spcPts val="400"/>
              </a:spcAft>
            </a:pPr>
            <a:r>
              <a:rPr sz="1250" b="0">
                <a:solidFill>
                  <a:srgbClr val="8FA8A2"/>
                </a:solidFill>
                <a:latin typeface="Arial"/>
              </a:rPr>
              <a:t>Fixed synthetic scenario · calculated by the working prototype · not factory ROI</a:t>
            </a:r>
          </a:p>
        </p:txBody>
      </p:sp>
      <p:sp>
        <p:nvSpPr>
          <p:cNvPr id="23" name="TextBox 22"/>
          <p:cNvSpPr txBox="1"/>
          <p:nvPr/>
        </p:nvSpPr>
        <p:spPr>
          <a:xfrm>
            <a:off x="640080" y="6473952"/>
            <a:ext cx="8229600" cy="274320"/>
          </a:xfrm>
          <a:prstGeom prst="rect">
            <a:avLst/>
          </a:prstGeom>
          <a:noFill/>
        </p:spPr>
        <p:txBody>
          <a:bodyPr wrap="square" anchor="t" lIns="0" rIns="0" tIns="0" bIns="0">
            <a:spAutoFit/>
          </a:bodyPr>
          <a:lstStyle/>
          <a:p>
            <a:pPr algn="l">
              <a:spcAft>
                <a:spcPts val="400"/>
              </a:spcAft>
            </a:pPr>
            <a:r>
              <a:rPr sz="1000" b="0">
                <a:solidFill>
                  <a:srgbClr val="8FA8A2"/>
                </a:solidFill>
                <a:latin typeface="Arial"/>
              </a:rPr>
              <a:t>CableTwin · SUPCOM · Oussama Akir · Fully synthetic data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TextBox 1"/>
          <p:cNvSpPr txBox="1"/>
          <p:nvPr/>
        </p:nvSpPr>
        <p:spPr>
          <a:xfrm>
            <a:off x="640080" y="384048"/>
            <a:ext cx="10972800" cy="320040"/>
          </a:xfrm>
          <a:prstGeom prst="rect">
            <a:avLst/>
          </a:prstGeom>
          <a:noFill/>
        </p:spPr>
        <p:txBody>
          <a:bodyPr wrap="square" anchor="t" lIns="0" rIns="0" tIns="0" bIns="0">
            <a:spAutoFit/>
          </a:bodyPr>
          <a:lstStyle/>
          <a:p>
            <a:pPr algn="l">
              <a:spcAft>
                <a:spcPts val="400"/>
              </a:spcAft>
            </a:pPr>
            <a:r>
              <a:rPr sz="1300" b="1">
                <a:solidFill>
                  <a:srgbClr val="0F766E"/>
                </a:solidFill>
                <a:latin typeface="Arial"/>
              </a:rPr>
              <a:t>CORE AI</a:t>
            </a:r>
          </a:p>
        </p:txBody>
      </p:sp>
      <p:sp>
        <p:nvSpPr>
          <p:cNvPr id="3" name="TextBox 2"/>
          <p:cNvSpPr txBox="1"/>
          <p:nvPr/>
        </p:nvSpPr>
        <p:spPr>
          <a:xfrm>
            <a:off x="640080" y="713232"/>
            <a:ext cx="10972800" cy="822960"/>
          </a:xfrm>
          <a:prstGeom prst="rect">
            <a:avLst/>
          </a:prstGeom>
          <a:noFill/>
        </p:spPr>
        <p:txBody>
          <a:bodyPr wrap="square" anchor="t" lIns="0" rIns="0" tIns="0" bIns="0">
            <a:spAutoFit/>
          </a:bodyPr>
          <a:lstStyle/>
          <a:p>
            <a:pPr algn="l">
              <a:spcAft>
                <a:spcPts val="400"/>
              </a:spcAft>
            </a:pPr>
            <a:r>
              <a:rPr sz="3000" b="1">
                <a:solidFill>
                  <a:srgbClr val="10221F"/>
                </a:solidFill>
                <a:latin typeface="Arial"/>
              </a:rPr>
              <a:t>The AI is the planning decision, not the dashboard</a:t>
            </a:r>
          </a:p>
        </p:txBody>
      </p:sp>
      <p:sp>
        <p:nvSpPr>
          <p:cNvPr id="4" name="Rectangle 3"/>
          <p:cNvSpPr/>
          <p:nvPr/>
        </p:nvSpPr>
        <p:spPr>
          <a:xfrm>
            <a:off x="640080" y="1554480"/>
            <a:ext cx="5257800" cy="3200400"/>
          </a:xfrm>
          <a:prstGeom prst="rect">
            <a:avLst/>
          </a:prstGeom>
          <a:solidFill>
            <a:srgbClr val="0929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4754880" cy="2834640"/>
          </a:xfrm>
          <a:prstGeom prst="rect">
            <a:avLst/>
          </a:prstGeom>
          <a:noFill/>
        </p:spPr>
        <p:txBody>
          <a:bodyPr wrap="square" anchor="t" lIns="0" rIns="0" tIns="0" bIns="0">
            <a:spAutoFit/>
          </a:bodyPr>
          <a:lstStyle/>
          <a:p>
            <a:pPr algn="l">
              <a:spcAft>
                <a:spcPts val="700"/>
              </a:spcAft>
            </a:pPr>
            <a:r>
              <a:rPr sz="1300" b="1">
                <a:solidFill>
                  <a:srgbClr val="C9F36B"/>
                </a:solidFill>
                <a:latin typeface="Arial"/>
              </a:rPr>
              <a:t>LIVE SYMBOLIC PLANNER</a:t>
            </a:r>
          </a:p>
          <a:p>
            <a:pPr algn="l">
              <a:spcAft>
                <a:spcPts val="700"/>
              </a:spcAft>
            </a:pPr>
            <a:r>
              <a:rPr sz="1300" b="1">
                <a:solidFill>
                  <a:srgbClr val="8FA8A2"/>
                </a:solidFill>
                <a:latin typeface="Arial"/>
              </a:rPr>
              <a:t>Decision variables</a:t>
            </a:r>
          </a:p>
          <a:p>
            <a:pPr algn="l">
              <a:spcAft>
                <a:spcPts val="700"/>
              </a:spcAft>
            </a:pPr>
            <a:r>
              <a:rPr sz="1350" b="0">
                <a:solidFill>
                  <a:srgbClr val="F5F4ED"/>
                </a:solidFill>
                <a:latin typeface="Arial"/>
              </a:rPr>
              <a:t>line assignment · sequence · start / end</a:t>
            </a:r>
          </a:p>
          <a:p>
            <a:pPr algn="l">
              <a:spcAft>
                <a:spcPts val="700"/>
              </a:spcAft>
            </a:pPr>
            <a:r>
              <a:rPr sz="1300" b="1">
                <a:solidFill>
                  <a:srgbClr val="8FA8A2"/>
                </a:solidFill>
                <a:latin typeface="Arial"/>
              </a:rPr>
              <a:t>Hard constraints</a:t>
            </a:r>
          </a:p>
          <a:p>
            <a:pPr algn="l">
              <a:spcAft>
                <a:spcPts val="700"/>
              </a:spcAft>
            </a:pPr>
            <a:r>
              <a:rPr sz="1350" b="0">
                <a:solidFill>
                  <a:srgbClr val="F5F4ED"/>
                </a:solidFill>
                <a:latin typeface="Arial"/>
              </a:rPr>
              <a:t>eligibility · duration · downtime · no overlap · horizon</a:t>
            </a:r>
          </a:p>
          <a:p>
            <a:pPr algn="l">
              <a:spcAft>
                <a:spcPts val="700"/>
              </a:spcAft>
            </a:pPr>
            <a:r>
              <a:rPr sz="1300" b="1">
                <a:solidFill>
                  <a:srgbClr val="8FA8A2"/>
                </a:solidFill>
                <a:latin typeface="Arial"/>
              </a:rPr>
              <a:t>Business policies</a:t>
            </a:r>
          </a:p>
          <a:p>
            <a:pPr algn="l">
              <a:spcAft>
                <a:spcPts val="700"/>
              </a:spcAft>
            </a:pPr>
            <a:r>
              <a:rPr sz="1350" b="0">
                <a:solidFill>
                  <a:srgbClr val="F5F4ED"/>
                </a:solidFill>
                <a:latin typeface="Arial"/>
              </a:rPr>
              <a:t>Service · Cost · Stability (lexicographic objectives)</a:t>
            </a:r>
          </a:p>
        </p:txBody>
      </p:sp>
      <p:sp>
        <p:nvSpPr>
          <p:cNvPr id="6" name="Rectangle 5"/>
          <p:cNvSpPr/>
          <p:nvPr/>
        </p:nvSpPr>
        <p:spPr>
          <a:xfrm>
            <a:off x="6263640" y="1554480"/>
            <a:ext cx="5257800" cy="3200400"/>
          </a:xfrm>
          <a:prstGeom prst="rect">
            <a:avLst/>
          </a:prstGeom>
          <a:solidFill>
            <a:srgbClr val="F5F4ED"/>
          </a:solidFill>
          <a:ln w="1905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37960" y="1783080"/>
            <a:ext cx="4754880" cy="2834640"/>
          </a:xfrm>
          <a:prstGeom prst="rect">
            <a:avLst/>
          </a:prstGeom>
          <a:noFill/>
        </p:spPr>
        <p:txBody>
          <a:bodyPr wrap="square" anchor="t" lIns="0" rIns="0" tIns="0" bIns="0">
            <a:spAutoFit/>
          </a:bodyPr>
          <a:lstStyle/>
          <a:p>
            <a:pPr algn="l">
              <a:spcAft>
                <a:spcPts val="900"/>
              </a:spcAft>
            </a:pPr>
            <a:r>
              <a:rPr sz="1300" b="1">
                <a:solidFill>
                  <a:srgbClr val="0F766E"/>
                </a:solidFill>
                <a:latin typeface="Arial"/>
              </a:rPr>
              <a:t>INDEPENDENT BOUNDED ORACLE</a:t>
            </a:r>
          </a:p>
          <a:p>
            <a:pPr algn="l">
              <a:spcAft>
                <a:spcPts val="900"/>
              </a:spcAft>
            </a:pPr>
            <a:r>
              <a:rPr sz="1500" b="1">
                <a:solidFill>
                  <a:srgbClr val="10221F"/>
                </a:solidFill>
                <a:latin typeface="Arial"/>
              </a:rPr>
              <a:t>17,856 candidate schedules evaluated</a:t>
            </a:r>
          </a:p>
          <a:p>
            <a:pPr algn="l">
              <a:spcAft>
                <a:spcPts val="900"/>
              </a:spcAft>
            </a:pPr>
            <a:r>
              <a:rPr sz="1500" b="1">
                <a:solidFill>
                  <a:srgbClr val="10221F"/>
                </a:solidFill>
                <a:latin typeface="Arial"/>
              </a:rPr>
              <a:t>10,440 feasible complete schedules</a:t>
            </a:r>
          </a:p>
          <a:p>
            <a:pPr algn="l">
              <a:spcAft>
                <a:spcPts val="900"/>
              </a:spcAft>
            </a:pPr>
            <a:r>
              <a:rPr sz="1500" b="1">
                <a:solidFill>
                  <a:srgbClr val="10221F"/>
                </a:solidFill>
                <a:latin typeface="Arial"/>
              </a:rPr>
              <a:t>3/3 displayed routes = unique policy optimum</a:t>
            </a:r>
          </a:p>
          <a:p>
            <a:pPr algn="l">
              <a:spcAft>
                <a:spcPts val="900"/>
              </a:spcAft>
            </a:pPr>
            <a:r>
              <a:rPr sz="1500" b="1">
                <a:solidFill>
                  <a:srgbClr val="10221F"/>
                </a:solidFill>
                <a:latin typeface="Arial"/>
              </a:rPr>
              <a:t>9/9 automated checks pass</a:t>
            </a:r>
          </a:p>
        </p:txBody>
      </p:sp>
      <p:sp>
        <p:nvSpPr>
          <p:cNvPr id="8" name="Rectangle 7"/>
          <p:cNvSpPr/>
          <p:nvPr/>
        </p:nvSpPr>
        <p:spPr>
          <a:xfrm>
            <a:off x="640080" y="4983480"/>
            <a:ext cx="10881360" cy="914400"/>
          </a:xfrm>
          <a:prstGeom prst="rect">
            <a:avLst/>
          </a:prstGeom>
          <a:solidFill>
            <a:srgbClr val="0929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120640"/>
            <a:ext cx="10424160" cy="685800"/>
          </a:xfrm>
          <a:prstGeom prst="rect">
            <a:avLst/>
          </a:prstGeom>
          <a:noFill/>
        </p:spPr>
        <p:txBody>
          <a:bodyPr wrap="square" anchor="t" lIns="0" rIns="0" tIns="0" bIns="0">
            <a:spAutoFit/>
          </a:bodyPr>
          <a:lstStyle/>
          <a:p>
            <a:pPr algn="l">
              <a:spcAft>
                <a:spcPts val="400"/>
              </a:spcAft>
            </a:pPr>
            <a:r>
              <a:rPr sz="1400" b="0">
                <a:solidFill>
                  <a:srgbClr val="F5F4ED"/>
                </a:solidFill>
                <a:latin typeface="Arial"/>
              </a:rPr>
              <a:t>A 9/10 route exists, but creates 230 min of total delay; Service chooses 8/10 with only 140 min</a:t>
            </a:r>
          </a:p>
          <a:p>
            <a:pPr algn="l">
              <a:spcAft>
                <a:spcPts val="400"/>
              </a:spcAft>
            </a:pPr>
            <a:r>
              <a:rPr sz="1400" b="0">
                <a:solidFill>
                  <a:srgbClr val="8FA8A2"/>
                </a:solidFill>
                <a:latin typeface="Arial"/>
              </a:rPr>
              <a:t>because priority-weighted lateness matters. Exact for the encoded bounded demo — not factory-scale optimization.</a:t>
            </a:r>
          </a:p>
        </p:txBody>
      </p:sp>
      <p:sp>
        <p:nvSpPr>
          <p:cNvPr id="10" name="TextBox 9"/>
          <p:cNvSpPr txBox="1"/>
          <p:nvPr/>
        </p:nvSpPr>
        <p:spPr>
          <a:xfrm>
            <a:off x="640080" y="6473952"/>
            <a:ext cx="8229600" cy="274320"/>
          </a:xfrm>
          <a:prstGeom prst="rect">
            <a:avLst/>
          </a:prstGeom>
          <a:noFill/>
        </p:spPr>
        <p:txBody>
          <a:bodyPr wrap="square" anchor="t" lIns="0" rIns="0" tIns="0" bIns="0">
            <a:spAutoFit/>
          </a:bodyPr>
          <a:lstStyle/>
          <a:p>
            <a:pPr algn="l">
              <a:spcAft>
                <a:spcPts val="400"/>
              </a:spcAft>
            </a:pPr>
            <a:r>
              <a:rPr sz="1000" b="0">
                <a:solidFill>
                  <a:srgbClr val="53645F"/>
                </a:solidFill>
                <a:latin typeface="Arial"/>
              </a:rPr>
              <a:t>CableTwin · SUPCOM · Oussama Akir · Fully synthetic data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TextBox 1"/>
          <p:cNvSpPr txBox="1"/>
          <p:nvPr/>
        </p:nvSpPr>
        <p:spPr>
          <a:xfrm>
            <a:off x="640080" y="384048"/>
            <a:ext cx="10972800" cy="320040"/>
          </a:xfrm>
          <a:prstGeom prst="rect">
            <a:avLst/>
          </a:prstGeom>
          <a:noFill/>
        </p:spPr>
        <p:txBody>
          <a:bodyPr wrap="square" anchor="t" lIns="0" rIns="0" tIns="0" bIns="0">
            <a:spAutoFit/>
          </a:bodyPr>
          <a:lstStyle/>
          <a:p>
            <a:pPr algn="l">
              <a:spcAft>
                <a:spcPts val="400"/>
              </a:spcAft>
            </a:pPr>
            <a:r>
              <a:rPr sz="1300" b="1">
                <a:solidFill>
                  <a:srgbClr val="0F766E"/>
                </a:solidFill>
                <a:latin typeface="Arial"/>
              </a:rPr>
              <a:t>FROM SIMULATION TO INDUSTRIAL PROOF</a:t>
            </a:r>
          </a:p>
        </p:txBody>
      </p:sp>
      <p:sp>
        <p:nvSpPr>
          <p:cNvPr id="3" name="TextBox 2"/>
          <p:cNvSpPr txBox="1"/>
          <p:nvPr/>
        </p:nvSpPr>
        <p:spPr>
          <a:xfrm>
            <a:off x="640080" y="713232"/>
            <a:ext cx="10972800" cy="822960"/>
          </a:xfrm>
          <a:prstGeom prst="rect">
            <a:avLst/>
          </a:prstGeom>
          <a:noFill/>
        </p:spPr>
        <p:txBody>
          <a:bodyPr wrap="square" anchor="t" lIns="0" rIns="0" tIns="0" bIns="0">
            <a:spAutoFit/>
          </a:bodyPr>
          <a:lstStyle/>
          <a:p>
            <a:pPr algn="l">
              <a:spcAft>
                <a:spcPts val="400"/>
              </a:spcAft>
            </a:pPr>
            <a:r>
              <a:rPr sz="2400" b="1">
                <a:solidFill>
                  <a:srgbClr val="10221F"/>
                </a:solidFill>
                <a:latin typeface="Arial"/>
              </a:rPr>
              <a:t>Simulation proves the mechanism; a shadow pilot will prove value</a:t>
            </a:r>
          </a:p>
        </p:txBody>
      </p:sp>
      <p:sp>
        <p:nvSpPr>
          <p:cNvPr id="4" name="Rectangle 3"/>
          <p:cNvSpPr/>
          <p:nvPr/>
        </p:nvSpPr>
        <p:spPr>
          <a:xfrm>
            <a:off x="640080" y="1554480"/>
            <a:ext cx="3566160" cy="3931920"/>
          </a:xfrm>
          <a:prstGeom prst="rect">
            <a:avLst/>
          </a:prstGeom>
          <a:solidFill>
            <a:srgbClr val="0929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3108960" cy="3474720"/>
          </a:xfrm>
          <a:prstGeom prst="rect">
            <a:avLst/>
          </a:prstGeom>
          <a:noFill/>
        </p:spPr>
        <p:txBody>
          <a:bodyPr wrap="square" anchor="t" lIns="0" rIns="0" tIns="0" bIns="0">
            <a:spAutoFit/>
          </a:bodyPr>
          <a:lstStyle/>
          <a:p>
            <a:pPr algn="l">
              <a:spcAft>
                <a:spcPts val="800"/>
              </a:spcAft>
            </a:pPr>
            <a:r>
              <a:rPr sz="1400" b="1">
                <a:solidFill>
                  <a:srgbClr val="C9F36B"/>
                </a:solidFill>
                <a:latin typeface="Arial"/>
              </a:rPr>
              <a:t>PROVED IN DEMO</a:t>
            </a:r>
          </a:p>
          <a:p>
            <a:pPr algn="l">
              <a:spcAft>
                <a:spcPts val="800"/>
              </a:spcAft>
            </a:pPr>
            <a:r>
              <a:rPr sz="1400" b="0">
                <a:solidFill>
                  <a:srgbClr val="F5F4ED"/>
                </a:solidFill>
                <a:latin typeface="Arial"/>
              </a:rPr>
              <a:t>Same incident</a:t>
            </a:r>
          </a:p>
          <a:p>
            <a:pPr algn="l">
              <a:spcAft>
                <a:spcPts val="800"/>
              </a:spcAft>
            </a:pPr>
            <a:r>
              <a:rPr sz="1400" b="0">
                <a:solidFill>
                  <a:srgbClr val="F5F4ED"/>
                </a:solidFill>
                <a:latin typeface="Arial"/>
              </a:rPr>
              <a:t>Same KPI definitions</a:t>
            </a:r>
          </a:p>
          <a:p>
            <a:pPr algn="l">
              <a:spcAft>
                <a:spcPts val="800"/>
              </a:spcAft>
            </a:pPr>
            <a:r>
              <a:rPr sz="1400" b="0">
                <a:solidFill>
                  <a:srgbClr val="F5F4ED"/>
                </a:solidFill>
                <a:latin typeface="Arial"/>
              </a:rPr>
              <a:t>Reproducible before/after</a:t>
            </a:r>
          </a:p>
          <a:p>
            <a:pPr algn="l">
              <a:spcAft>
                <a:spcPts val="800"/>
              </a:spcAft>
            </a:pPr>
            <a:r>
              <a:rPr sz="1400" b="0">
                <a:solidFill>
                  <a:srgbClr val="F5F4ED"/>
                </a:solidFill>
                <a:latin typeface="Arial"/>
              </a:rPr>
              <a:t>calculations</a:t>
            </a:r>
          </a:p>
        </p:txBody>
      </p:sp>
      <p:sp>
        <p:nvSpPr>
          <p:cNvPr id="6" name="Rectangle 5"/>
          <p:cNvSpPr/>
          <p:nvPr/>
        </p:nvSpPr>
        <p:spPr>
          <a:xfrm>
            <a:off x="4526280" y="1554480"/>
            <a:ext cx="6995160" cy="566928"/>
          </a:xfrm>
          <a:prstGeom prst="rect">
            <a:avLst/>
          </a:prstGeom>
          <a:solidFill>
            <a:srgbClr val="F5F4ED"/>
          </a:solidFill>
          <a:ln w="1270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0" y="1673352"/>
            <a:ext cx="6583680" cy="320040"/>
          </a:xfrm>
          <a:prstGeom prst="rect">
            <a:avLst/>
          </a:prstGeom>
          <a:noFill/>
        </p:spPr>
        <p:txBody>
          <a:bodyPr wrap="square" anchor="t" lIns="0" rIns="0" tIns="0" bIns="0">
            <a:spAutoFit/>
          </a:bodyPr>
          <a:lstStyle/>
          <a:p>
            <a:pPr algn="l">
              <a:spcAft>
                <a:spcPts val="400"/>
              </a:spcAft>
            </a:pPr>
            <a:r>
              <a:rPr sz="1400" b="0">
                <a:solidFill>
                  <a:srgbClr val="10221F"/>
                </a:solidFill>
                <a:latin typeface="Arial"/>
              </a:rPr>
              <a:t>5–10 historical stoppages</a:t>
            </a:r>
          </a:p>
        </p:txBody>
      </p:sp>
      <p:sp>
        <p:nvSpPr>
          <p:cNvPr id="8" name="Rectangle 7"/>
          <p:cNvSpPr/>
          <p:nvPr/>
        </p:nvSpPr>
        <p:spPr>
          <a:xfrm>
            <a:off x="4526280" y="2267712"/>
            <a:ext cx="6995160" cy="566928"/>
          </a:xfrm>
          <a:prstGeom prst="rect">
            <a:avLst/>
          </a:prstGeom>
          <a:solidFill>
            <a:srgbClr val="F5F4ED"/>
          </a:solidFill>
          <a:ln w="1270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0" y="2386584"/>
            <a:ext cx="6583680" cy="320040"/>
          </a:xfrm>
          <a:prstGeom prst="rect">
            <a:avLst/>
          </a:prstGeom>
          <a:noFill/>
        </p:spPr>
        <p:txBody>
          <a:bodyPr wrap="square" anchor="t" lIns="0" rIns="0" tIns="0" bIns="0">
            <a:spAutoFit/>
          </a:bodyPr>
          <a:lstStyle/>
          <a:p>
            <a:pPr algn="l">
              <a:spcAft>
                <a:spcPts val="400"/>
              </a:spcAft>
            </a:pPr>
            <a:r>
              <a:rPr sz="1400" b="0">
                <a:solidFill>
                  <a:srgbClr val="10221F"/>
                </a:solidFill>
                <a:latin typeface="Arial"/>
              </a:rPr>
              <a:t>Same information cutoff as the real decision</a:t>
            </a:r>
          </a:p>
        </p:txBody>
      </p:sp>
      <p:sp>
        <p:nvSpPr>
          <p:cNvPr id="10" name="Rectangle 9"/>
          <p:cNvSpPr/>
          <p:nvPr/>
        </p:nvSpPr>
        <p:spPr>
          <a:xfrm>
            <a:off x="4526280" y="2980944"/>
            <a:ext cx="6995160" cy="566928"/>
          </a:xfrm>
          <a:prstGeom prst="rect">
            <a:avLst/>
          </a:prstGeom>
          <a:solidFill>
            <a:srgbClr val="F5F4ED"/>
          </a:solidFill>
          <a:ln w="1270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4880" y="3099816"/>
            <a:ext cx="6583680" cy="320040"/>
          </a:xfrm>
          <a:prstGeom prst="rect">
            <a:avLst/>
          </a:prstGeom>
          <a:noFill/>
        </p:spPr>
        <p:txBody>
          <a:bodyPr wrap="square" anchor="t" lIns="0" rIns="0" tIns="0" bIns="0">
            <a:spAutoFit/>
          </a:bodyPr>
          <a:lstStyle/>
          <a:p>
            <a:pPr algn="l">
              <a:spcAft>
                <a:spcPts val="400"/>
              </a:spcAft>
            </a:pPr>
            <a:r>
              <a:rPr sz="1400" b="0">
                <a:solidFill>
                  <a:srgbClr val="10221F"/>
                </a:solidFill>
                <a:latin typeface="Arial"/>
              </a:rPr>
              <a:t>Planner-validated constraints</a:t>
            </a:r>
          </a:p>
        </p:txBody>
      </p:sp>
      <p:sp>
        <p:nvSpPr>
          <p:cNvPr id="12" name="Rectangle 11"/>
          <p:cNvSpPr/>
          <p:nvPr/>
        </p:nvSpPr>
        <p:spPr>
          <a:xfrm>
            <a:off x="4526280" y="3694176"/>
            <a:ext cx="6995160" cy="566928"/>
          </a:xfrm>
          <a:prstGeom prst="rect">
            <a:avLst/>
          </a:prstGeom>
          <a:solidFill>
            <a:srgbClr val="F5F4ED"/>
          </a:solidFill>
          <a:ln w="1270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80" y="3813048"/>
            <a:ext cx="6583680" cy="320040"/>
          </a:xfrm>
          <a:prstGeom prst="rect">
            <a:avLst/>
          </a:prstGeom>
          <a:noFill/>
        </p:spPr>
        <p:txBody>
          <a:bodyPr wrap="square" anchor="t" lIns="0" rIns="0" tIns="0" bIns="0">
            <a:spAutoFit/>
          </a:bodyPr>
          <a:lstStyle/>
          <a:p>
            <a:pPr algn="l">
              <a:spcAft>
                <a:spcPts val="400"/>
              </a:spcAft>
            </a:pPr>
            <a:r>
              <a:rPr sz="1400" b="0">
                <a:solidFill>
                  <a:srgbClr val="10221F"/>
                </a:solidFill>
                <a:latin typeface="Arial"/>
              </a:rPr>
              <a:t>CableTwin vs actual historical baseline</a:t>
            </a:r>
          </a:p>
        </p:txBody>
      </p:sp>
      <p:sp>
        <p:nvSpPr>
          <p:cNvPr id="14" name="Rectangle 13"/>
          <p:cNvSpPr/>
          <p:nvPr/>
        </p:nvSpPr>
        <p:spPr>
          <a:xfrm>
            <a:off x="4526280" y="4407408"/>
            <a:ext cx="6995160" cy="566928"/>
          </a:xfrm>
          <a:prstGeom prst="rect">
            <a:avLst/>
          </a:prstGeom>
          <a:solidFill>
            <a:srgbClr val="F5F4ED"/>
          </a:solidFill>
          <a:ln w="1270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0" y="4526280"/>
            <a:ext cx="6583680" cy="320040"/>
          </a:xfrm>
          <a:prstGeom prst="rect">
            <a:avLst/>
          </a:prstGeom>
          <a:noFill/>
        </p:spPr>
        <p:txBody>
          <a:bodyPr wrap="square" anchor="t" lIns="0" rIns="0" tIns="0" bIns="0">
            <a:spAutoFit/>
          </a:bodyPr>
          <a:lstStyle/>
          <a:p>
            <a:pPr algn="l">
              <a:spcAft>
                <a:spcPts val="400"/>
              </a:spcAft>
            </a:pPr>
            <a:r>
              <a:rPr sz="1400" b="0">
                <a:solidFill>
                  <a:srgbClr val="10221F"/>
                </a:solidFill>
                <a:latin typeface="Arial"/>
              </a:rPr>
              <a:t>Time, delay, output, overtime, moves, usability</a:t>
            </a:r>
          </a:p>
        </p:txBody>
      </p:sp>
      <p:sp>
        <p:nvSpPr>
          <p:cNvPr id="16" name="Rectangle 15"/>
          <p:cNvSpPr/>
          <p:nvPr/>
        </p:nvSpPr>
        <p:spPr>
          <a:xfrm>
            <a:off x="4526280" y="5257800"/>
            <a:ext cx="6995160" cy="777240"/>
          </a:xfrm>
          <a:prstGeom prst="rect">
            <a:avLst/>
          </a:prstGeom>
          <a:solidFill>
            <a:srgbClr val="0929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54880" y="5376672"/>
            <a:ext cx="6583680" cy="548640"/>
          </a:xfrm>
          <a:prstGeom prst="rect">
            <a:avLst/>
          </a:prstGeom>
          <a:noFill/>
        </p:spPr>
        <p:txBody>
          <a:bodyPr wrap="square" anchor="t" lIns="0" rIns="0" tIns="0" bIns="0">
            <a:spAutoFit/>
          </a:bodyPr>
          <a:lstStyle/>
          <a:p>
            <a:pPr algn="l">
              <a:spcAft>
                <a:spcPts val="400"/>
              </a:spcAft>
            </a:pPr>
            <a:r>
              <a:rPr sz="1150" b="1">
                <a:solidFill>
                  <a:srgbClr val="C9F36B"/>
                </a:solidFill>
                <a:latin typeface="Arial"/>
              </a:rPr>
              <a:t>PROPOSED SUCCESS GATES — targets to agree, not achieved claims</a:t>
            </a:r>
          </a:p>
          <a:p>
            <a:pPr algn="l">
              <a:spcAft>
                <a:spcPts val="400"/>
              </a:spcAft>
            </a:pPr>
            <a:r>
              <a:rPr sz="1200" b="0">
                <a:solidFill>
                  <a:srgbClr val="F5F4ED"/>
                </a:solidFill>
                <a:latin typeface="Arial"/>
              </a:rPr>
              <a:t>30% faster assessment · 20% lower delay · 0 hard-constraint violations · ≥70% planner usability · 100% traceability</a:t>
            </a:r>
          </a:p>
        </p:txBody>
      </p:sp>
      <p:sp>
        <p:nvSpPr>
          <p:cNvPr id="18" name="TextBox 17"/>
          <p:cNvSpPr txBox="1"/>
          <p:nvPr/>
        </p:nvSpPr>
        <p:spPr>
          <a:xfrm>
            <a:off x="640080" y="5760720"/>
            <a:ext cx="3566160" cy="457200"/>
          </a:xfrm>
          <a:prstGeom prst="rect">
            <a:avLst/>
          </a:prstGeom>
          <a:noFill/>
        </p:spPr>
        <p:txBody>
          <a:bodyPr wrap="square" anchor="t" lIns="0" rIns="0" tIns="0" bIns="0">
            <a:spAutoFit/>
          </a:bodyPr>
          <a:lstStyle/>
          <a:p>
            <a:pPr algn="l">
              <a:spcAft>
                <a:spcPts val="400"/>
              </a:spcAft>
            </a:pPr>
            <a:r>
              <a:rPr sz="1400" b="1">
                <a:solidFill>
                  <a:srgbClr val="0F766E"/>
                </a:solidFill>
                <a:latin typeface="Arial"/>
              </a:rPr>
              <a:t>Ends in Go · Revise · Stop</a:t>
            </a:r>
          </a:p>
        </p:txBody>
      </p:sp>
      <p:sp>
        <p:nvSpPr>
          <p:cNvPr id="19" name="TextBox 18"/>
          <p:cNvSpPr txBox="1"/>
          <p:nvPr/>
        </p:nvSpPr>
        <p:spPr>
          <a:xfrm>
            <a:off x="640080" y="6473952"/>
            <a:ext cx="8229600" cy="274320"/>
          </a:xfrm>
          <a:prstGeom prst="rect">
            <a:avLst/>
          </a:prstGeom>
          <a:noFill/>
        </p:spPr>
        <p:txBody>
          <a:bodyPr wrap="square" anchor="t" lIns="0" rIns="0" tIns="0" bIns="0">
            <a:spAutoFit/>
          </a:bodyPr>
          <a:lstStyle/>
          <a:p>
            <a:pPr algn="l">
              <a:spcAft>
                <a:spcPts val="400"/>
              </a:spcAft>
            </a:pPr>
            <a:r>
              <a:rPr sz="1000" b="0">
                <a:solidFill>
                  <a:srgbClr val="53645F"/>
                </a:solidFill>
                <a:latin typeface="Arial"/>
              </a:rPr>
              <a:t>CableTwin · SUPCOM · Oussama Akir · Fully synthetic data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4ED"/>
        </a:solidFill>
        <a:effectLst/>
      </p:bgPr>
    </p:bg>
    <p:spTree>
      <p:nvGrpSpPr>
        <p:cNvPr id="1" name=""/>
        <p:cNvGrpSpPr/>
        <p:nvPr/>
      </p:nvGrpSpPr>
      <p:grpSpPr/>
      <p:sp>
        <p:nvSpPr>
          <p:cNvPr id="2" name="TextBox 1"/>
          <p:cNvSpPr txBox="1"/>
          <p:nvPr/>
        </p:nvSpPr>
        <p:spPr>
          <a:xfrm>
            <a:off x="640080" y="384048"/>
            <a:ext cx="10972800" cy="320040"/>
          </a:xfrm>
          <a:prstGeom prst="rect">
            <a:avLst/>
          </a:prstGeom>
          <a:noFill/>
        </p:spPr>
        <p:txBody>
          <a:bodyPr wrap="square" anchor="t" lIns="0" rIns="0" tIns="0" bIns="0">
            <a:spAutoFit/>
          </a:bodyPr>
          <a:lstStyle/>
          <a:p>
            <a:pPr algn="l">
              <a:spcAft>
                <a:spcPts val="400"/>
              </a:spcAft>
            </a:pPr>
            <a:r>
              <a:rPr sz="1300" b="1">
                <a:solidFill>
                  <a:srgbClr val="0F766E"/>
                </a:solidFill>
                <a:latin typeface="Arial"/>
              </a:rPr>
              <a:t>BUSINESS VIABILITY</a:t>
            </a:r>
          </a:p>
        </p:txBody>
      </p:sp>
      <p:sp>
        <p:nvSpPr>
          <p:cNvPr id="3" name="TextBox 2"/>
          <p:cNvSpPr txBox="1"/>
          <p:nvPr/>
        </p:nvSpPr>
        <p:spPr>
          <a:xfrm>
            <a:off x="640080" y="713232"/>
            <a:ext cx="10972800" cy="822960"/>
          </a:xfrm>
          <a:prstGeom prst="rect">
            <a:avLst/>
          </a:prstGeom>
          <a:noFill/>
        </p:spPr>
        <p:txBody>
          <a:bodyPr wrap="square" anchor="t" lIns="0" rIns="0" tIns="0" bIns="0">
            <a:spAutoFit/>
          </a:bodyPr>
          <a:lstStyle/>
          <a:p>
            <a:pPr algn="l">
              <a:spcAft>
                <a:spcPts val="400"/>
              </a:spcAft>
            </a:pPr>
            <a:r>
              <a:rPr sz="2400" b="1">
                <a:solidFill>
                  <a:srgbClr val="10221F"/>
                </a:solidFill>
                <a:latin typeface="Arial"/>
              </a:rPr>
              <a:t>Start read-only in one workshop; scale only after measured proof</a:t>
            </a:r>
          </a:p>
        </p:txBody>
      </p:sp>
      <p:sp>
        <p:nvSpPr>
          <p:cNvPr id="4" name="TextBox 3"/>
          <p:cNvSpPr txBox="1"/>
          <p:nvPr/>
        </p:nvSpPr>
        <p:spPr>
          <a:xfrm>
            <a:off x="640080" y="1508760"/>
            <a:ext cx="10972800" cy="365760"/>
          </a:xfrm>
          <a:prstGeom prst="rect">
            <a:avLst/>
          </a:prstGeom>
          <a:noFill/>
        </p:spPr>
        <p:txBody>
          <a:bodyPr wrap="square" anchor="t" lIns="0" rIns="0" tIns="0" bIns="0">
            <a:spAutoFit/>
          </a:bodyPr>
          <a:lstStyle/>
          <a:p>
            <a:pPr algn="l">
              <a:spcAft>
                <a:spcPts val="400"/>
              </a:spcAft>
            </a:pPr>
            <a:r>
              <a:rPr sz="1600" b="0">
                <a:solidFill>
                  <a:srgbClr val="53645F"/>
                </a:solidFill>
                <a:latin typeface="Arial"/>
              </a:rPr>
              <a:t>User: </a:t>
            </a:r>
            <a:r>
              <a:rPr sz="1600" b="1">
                <a:solidFill>
                  <a:srgbClr val="10221F"/>
                </a:solidFill>
                <a:latin typeface="Arial"/>
              </a:rPr>
              <a:t>Production manager / planner</a:t>
            </a:r>
            <a:r>
              <a:rPr sz="1600" b="0">
                <a:solidFill>
                  <a:srgbClr val="53645F"/>
                </a:solidFill>
                <a:latin typeface="Arial"/>
              </a:rPr>
              <a:t>      Buyer: </a:t>
            </a:r>
            <a:r>
              <a:rPr sz="1600" b="1">
                <a:solidFill>
                  <a:srgbClr val="10221F"/>
                </a:solidFill>
                <a:latin typeface="Arial"/>
              </a:rPr>
              <a:t>Plant or operations director</a:t>
            </a:r>
            <a:r>
              <a:rPr sz="1600" b="0">
                <a:solidFill>
                  <a:srgbClr val="53645F"/>
                </a:solidFill>
                <a:latin typeface="Arial"/>
              </a:rPr>
              <a:t>      Pilot: </a:t>
            </a:r>
            <a:r>
              <a:rPr sz="1600" b="1">
                <a:solidFill>
                  <a:srgbClr val="10221F"/>
                </a:solidFill>
                <a:latin typeface="Arial"/>
              </a:rPr>
              <a:t>4–6 weeks · read-only</a:t>
            </a:r>
          </a:p>
        </p:txBody>
      </p:sp>
      <p:sp>
        <p:nvSpPr>
          <p:cNvPr id="5" name="Rectangle 4"/>
          <p:cNvSpPr/>
          <p:nvPr/>
        </p:nvSpPr>
        <p:spPr>
          <a:xfrm>
            <a:off x="640080" y="2194560"/>
            <a:ext cx="2121408" cy="868680"/>
          </a:xfrm>
          <a:prstGeom prst="rect">
            <a:avLst/>
          </a:prstGeom>
          <a:solidFill>
            <a:srgbClr val="0929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331720"/>
            <a:ext cx="1847088" cy="640080"/>
          </a:xfrm>
          <a:prstGeom prst="rect">
            <a:avLst/>
          </a:prstGeom>
          <a:noFill/>
        </p:spPr>
        <p:txBody>
          <a:bodyPr wrap="square" anchor="t" lIns="0" rIns="0" tIns="0" bIns="0">
            <a:spAutoFit/>
          </a:bodyPr>
          <a:lstStyle/>
          <a:p>
            <a:pPr algn="l">
              <a:spcAft>
                <a:spcPts val="400"/>
              </a:spcAft>
            </a:pPr>
            <a:r>
              <a:rPr sz="1300" b="1">
                <a:solidFill>
                  <a:srgbClr val="F5F4ED"/>
                </a:solidFill>
                <a:latin typeface="Arial"/>
              </a:rPr>
              <a:t>Validate process</a:t>
            </a:r>
          </a:p>
        </p:txBody>
      </p:sp>
      <p:sp>
        <p:nvSpPr>
          <p:cNvPr id="7" name="Rectangle 6"/>
          <p:cNvSpPr/>
          <p:nvPr/>
        </p:nvSpPr>
        <p:spPr>
          <a:xfrm>
            <a:off x="2852928" y="2194560"/>
            <a:ext cx="2121408" cy="868680"/>
          </a:xfrm>
          <a:prstGeom prst="rect">
            <a:avLst/>
          </a:prstGeom>
          <a:solidFill>
            <a:srgbClr val="0929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90088" y="2331720"/>
            <a:ext cx="1847088" cy="640080"/>
          </a:xfrm>
          <a:prstGeom prst="rect">
            <a:avLst/>
          </a:prstGeom>
          <a:noFill/>
        </p:spPr>
        <p:txBody>
          <a:bodyPr wrap="square" anchor="t" lIns="0" rIns="0" tIns="0" bIns="0">
            <a:spAutoFit/>
          </a:bodyPr>
          <a:lstStyle/>
          <a:p>
            <a:pPr algn="l">
              <a:spcAft>
                <a:spcPts val="400"/>
              </a:spcAft>
            </a:pPr>
            <a:r>
              <a:rPr sz="1300" b="1">
                <a:solidFill>
                  <a:srgbClr val="F5F4ED"/>
                </a:solidFill>
                <a:latin typeface="Arial"/>
              </a:rPr>
              <a:t>Map read-only data</a:t>
            </a:r>
          </a:p>
        </p:txBody>
      </p:sp>
      <p:sp>
        <p:nvSpPr>
          <p:cNvPr id="9" name="Rectangle 8"/>
          <p:cNvSpPr/>
          <p:nvPr/>
        </p:nvSpPr>
        <p:spPr>
          <a:xfrm>
            <a:off x="5065776" y="2194560"/>
            <a:ext cx="2121408" cy="868680"/>
          </a:xfrm>
          <a:prstGeom prst="rect">
            <a:avLst/>
          </a:prstGeom>
          <a:solidFill>
            <a:srgbClr val="0929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02936" y="2331720"/>
            <a:ext cx="1847088" cy="640080"/>
          </a:xfrm>
          <a:prstGeom prst="rect">
            <a:avLst/>
          </a:prstGeom>
          <a:noFill/>
        </p:spPr>
        <p:txBody>
          <a:bodyPr wrap="square" anchor="t" lIns="0" rIns="0" tIns="0" bIns="0">
            <a:spAutoFit/>
          </a:bodyPr>
          <a:lstStyle/>
          <a:p>
            <a:pPr algn="l">
              <a:spcAft>
                <a:spcPts val="400"/>
              </a:spcAft>
            </a:pPr>
            <a:r>
              <a:rPr sz="1300" b="1">
                <a:solidFill>
                  <a:srgbClr val="F5F4ED"/>
                </a:solidFill>
                <a:latin typeface="Arial"/>
              </a:rPr>
              <a:t>Encode workshop constraints</a:t>
            </a:r>
          </a:p>
        </p:txBody>
      </p:sp>
      <p:sp>
        <p:nvSpPr>
          <p:cNvPr id="11" name="Rectangle 10"/>
          <p:cNvSpPr/>
          <p:nvPr/>
        </p:nvSpPr>
        <p:spPr>
          <a:xfrm>
            <a:off x="7278624" y="2194560"/>
            <a:ext cx="2121408" cy="868680"/>
          </a:xfrm>
          <a:prstGeom prst="rect">
            <a:avLst/>
          </a:prstGeom>
          <a:solidFill>
            <a:srgbClr val="0929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15784" y="2331720"/>
            <a:ext cx="1847088" cy="640080"/>
          </a:xfrm>
          <a:prstGeom prst="rect">
            <a:avLst/>
          </a:prstGeom>
          <a:noFill/>
        </p:spPr>
        <p:txBody>
          <a:bodyPr wrap="square" anchor="t" lIns="0" rIns="0" tIns="0" bIns="0">
            <a:spAutoFit/>
          </a:bodyPr>
          <a:lstStyle/>
          <a:p>
            <a:pPr algn="l">
              <a:spcAft>
                <a:spcPts val="400"/>
              </a:spcAft>
            </a:pPr>
            <a:r>
              <a:rPr sz="1300" b="1">
                <a:solidFill>
                  <a:srgbClr val="F5F4ED"/>
                </a:solidFill>
                <a:latin typeface="Arial"/>
              </a:rPr>
              <a:t>Replay and shadow</a:t>
            </a:r>
          </a:p>
        </p:txBody>
      </p:sp>
      <p:sp>
        <p:nvSpPr>
          <p:cNvPr id="13" name="Rectangle 12"/>
          <p:cNvSpPr/>
          <p:nvPr/>
        </p:nvSpPr>
        <p:spPr>
          <a:xfrm>
            <a:off x="9491472" y="2194560"/>
            <a:ext cx="2121408" cy="8686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28632" y="2331720"/>
            <a:ext cx="1847088" cy="640080"/>
          </a:xfrm>
          <a:prstGeom prst="rect">
            <a:avLst/>
          </a:prstGeom>
          <a:noFill/>
        </p:spPr>
        <p:txBody>
          <a:bodyPr wrap="square" anchor="t" lIns="0" rIns="0" tIns="0" bIns="0">
            <a:spAutoFit/>
          </a:bodyPr>
          <a:lstStyle/>
          <a:p>
            <a:pPr algn="l">
              <a:spcAft>
                <a:spcPts val="400"/>
              </a:spcAft>
            </a:pPr>
            <a:r>
              <a:rPr sz="1300" b="1">
                <a:solidFill>
                  <a:srgbClr val="C9F36B"/>
                </a:solidFill>
                <a:latin typeface="Arial"/>
              </a:rPr>
              <a:t>Measured go / revise / stop</a:t>
            </a:r>
          </a:p>
        </p:txBody>
      </p:sp>
      <p:sp>
        <p:nvSpPr>
          <p:cNvPr id="15" name="Rectangle 14"/>
          <p:cNvSpPr/>
          <p:nvPr/>
        </p:nvSpPr>
        <p:spPr>
          <a:xfrm>
            <a:off x="640080" y="3520440"/>
            <a:ext cx="10881360" cy="475488"/>
          </a:xfrm>
          <a:prstGeom prst="rect">
            <a:avLst/>
          </a:prstGeom>
          <a:solidFill>
            <a:srgbClr val="F5F4ED"/>
          </a:solidFill>
          <a:ln w="9525">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611880"/>
            <a:ext cx="3108960" cy="274320"/>
          </a:xfrm>
          <a:prstGeom prst="rect">
            <a:avLst/>
          </a:prstGeom>
          <a:noFill/>
        </p:spPr>
        <p:txBody>
          <a:bodyPr wrap="square" anchor="t" lIns="0" rIns="0" tIns="0" bIns="0">
            <a:spAutoFit/>
          </a:bodyPr>
          <a:lstStyle/>
          <a:p>
            <a:pPr algn="l">
              <a:spcAft>
                <a:spcPts val="400"/>
              </a:spcAft>
            </a:pPr>
            <a:r>
              <a:rPr sz="1300" b="1">
                <a:solidFill>
                  <a:srgbClr val="0F766E"/>
                </a:solidFill>
                <a:latin typeface="Arial"/>
              </a:rPr>
              <a:t>Manual / spreadsheet</a:t>
            </a:r>
          </a:p>
        </p:txBody>
      </p:sp>
      <p:sp>
        <p:nvSpPr>
          <p:cNvPr id="17" name="TextBox 16"/>
          <p:cNvSpPr txBox="1"/>
          <p:nvPr/>
        </p:nvSpPr>
        <p:spPr>
          <a:xfrm>
            <a:off x="4023360" y="3611880"/>
            <a:ext cx="7315200" cy="274320"/>
          </a:xfrm>
          <a:prstGeom prst="rect">
            <a:avLst/>
          </a:prstGeom>
          <a:noFill/>
        </p:spPr>
        <p:txBody>
          <a:bodyPr wrap="square" anchor="t" lIns="0" rIns="0" tIns="0" bIns="0">
            <a:spAutoFit/>
          </a:bodyPr>
          <a:lstStyle/>
          <a:p>
            <a:pPr algn="l">
              <a:spcAft>
                <a:spcPts val="400"/>
              </a:spcAft>
            </a:pPr>
            <a:r>
              <a:rPr sz="1300" b="0">
                <a:solidFill>
                  <a:srgbClr val="53645F"/>
                </a:solidFill>
                <a:latin typeface="Arial"/>
              </a:rPr>
              <a:t>familiar but hard to compare and trace</a:t>
            </a:r>
          </a:p>
        </p:txBody>
      </p:sp>
      <p:sp>
        <p:nvSpPr>
          <p:cNvPr id="18" name="Rectangle 17"/>
          <p:cNvSpPr/>
          <p:nvPr/>
        </p:nvSpPr>
        <p:spPr>
          <a:xfrm>
            <a:off x="640080" y="4087368"/>
            <a:ext cx="10881360" cy="475488"/>
          </a:xfrm>
          <a:prstGeom prst="rect">
            <a:avLst/>
          </a:prstGeom>
          <a:solidFill>
            <a:srgbClr val="F5F4ED"/>
          </a:solidFill>
          <a:ln w="9525">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4178808"/>
            <a:ext cx="3108960" cy="274320"/>
          </a:xfrm>
          <a:prstGeom prst="rect">
            <a:avLst/>
          </a:prstGeom>
          <a:noFill/>
        </p:spPr>
        <p:txBody>
          <a:bodyPr wrap="square" anchor="t" lIns="0" rIns="0" tIns="0" bIns="0">
            <a:spAutoFit/>
          </a:bodyPr>
          <a:lstStyle/>
          <a:p>
            <a:pPr algn="l">
              <a:spcAft>
                <a:spcPts val="400"/>
              </a:spcAft>
            </a:pPr>
            <a:r>
              <a:rPr sz="1300" b="1">
                <a:solidFill>
                  <a:srgbClr val="0F766E"/>
                </a:solidFill>
                <a:latin typeface="Arial"/>
              </a:rPr>
              <a:t>ERP · MES · APS</a:t>
            </a:r>
          </a:p>
        </p:txBody>
      </p:sp>
      <p:sp>
        <p:nvSpPr>
          <p:cNvPr id="20" name="TextBox 19"/>
          <p:cNvSpPr txBox="1"/>
          <p:nvPr/>
        </p:nvSpPr>
        <p:spPr>
          <a:xfrm>
            <a:off x="4023360" y="4178808"/>
            <a:ext cx="7315200" cy="274320"/>
          </a:xfrm>
          <a:prstGeom prst="rect">
            <a:avLst/>
          </a:prstGeom>
          <a:noFill/>
        </p:spPr>
        <p:txBody>
          <a:bodyPr wrap="square" anchor="t" lIns="0" rIns="0" tIns="0" bIns="0">
            <a:spAutoFit/>
          </a:bodyPr>
          <a:lstStyle/>
          <a:p>
            <a:pPr algn="l">
              <a:spcAft>
                <a:spcPts val="400"/>
              </a:spcAft>
            </a:pPr>
            <a:r>
              <a:rPr sz="1300" b="0">
                <a:solidFill>
                  <a:srgbClr val="53645F"/>
                </a:solidFill>
                <a:latin typeface="Arial"/>
              </a:rPr>
              <a:t>system of record / broad planning</a:t>
            </a:r>
          </a:p>
        </p:txBody>
      </p:sp>
      <p:sp>
        <p:nvSpPr>
          <p:cNvPr id="21" name="Rectangle 20"/>
          <p:cNvSpPr/>
          <p:nvPr/>
        </p:nvSpPr>
        <p:spPr>
          <a:xfrm>
            <a:off x="640080" y="4654296"/>
            <a:ext cx="10881360" cy="475488"/>
          </a:xfrm>
          <a:prstGeom prst="rect">
            <a:avLst/>
          </a:prstGeom>
          <a:solidFill>
            <a:srgbClr val="F5F4ED"/>
          </a:solidFill>
          <a:ln w="9525">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4745736"/>
            <a:ext cx="3108960" cy="274320"/>
          </a:xfrm>
          <a:prstGeom prst="rect">
            <a:avLst/>
          </a:prstGeom>
          <a:noFill/>
        </p:spPr>
        <p:txBody>
          <a:bodyPr wrap="square" anchor="t" lIns="0" rIns="0" tIns="0" bIns="0">
            <a:spAutoFit/>
          </a:bodyPr>
          <a:lstStyle/>
          <a:p>
            <a:pPr algn="l">
              <a:spcAft>
                <a:spcPts val="400"/>
              </a:spcAft>
            </a:pPr>
            <a:r>
              <a:rPr sz="1300" b="1">
                <a:solidFill>
                  <a:srgbClr val="0F766E"/>
                </a:solidFill>
                <a:latin typeface="Arial"/>
              </a:rPr>
              <a:t>High-fidelity twin</a:t>
            </a:r>
          </a:p>
        </p:txBody>
      </p:sp>
      <p:sp>
        <p:nvSpPr>
          <p:cNvPr id="23" name="TextBox 22"/>
          <p:cNvSpPr txBox="1"/>
          <p:nvPr/>
        </p:nvSpPr>
        <p:spPr>
          <a:xfrm>
            <a:off x="4023360" y="4745736"/>
            <a:ext cx="7315200" cy="274320"/>
          </a:xfrm>
          <a:prstGeom prst="rect">
            <a:avLst/>
          </a:prstGeom>
          <a:noFill/>
        </p:spPr>
        <p:txBody>
          <a:bodyPr wrap="square" anchor="t" lIns="0" rIns="0" tIns="0" bIns="0">
            <a:spAutoFit/>
          </a:bodyPr>
          <a:lstStyle/>
          <a:p>
            <a:pPr algn="l">
              <a:spcAft>
                <a:spcPts val="400"/>
              </a:spcAft>
            </a:pPr>
            <a:r>
              <a:rPr sz="1300" b="0">
                <a:solidFill>
                  <a:srgbClr val="53645F"/>
                </a:solidFill>
                <a:latin typeface="Arial"/>
              </a:rPr>
              <a:t>rich but integration-heavy</a:t>
            </a:r>
          </a:p>
        </p:txBody>
      </p:sp>
      <p:sp>
        <p:nvSpPr>
          <p:cNvPr id="24" name="Rectangle 23"/>
          <p:cNvSpPr/>
          <p:nvPr/>
        </p:nvSpPr>
        <p:spPr>
          <a:xfrm>
            <a:off x="640080" y="5221224"/>
            <a:ext cx="10881360" cy="47548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 y="5312664"/>
            <a:ext cx="3108960" cy="274320"/>
          </a:xfrm>
          <a:prstGeom prst="rect">
            <a:avLst/>
          </a:prstGeom>
          <a:noFill/>
        </p:spPr>
        <p:txBody>
          <a:bodyPr wrap="square" anchor="t" lIns="0" rIns="0" tIns="0" bIns="0">
            <a:spAutoFit/>
          </a:bodyPr>
          <a:lstStyle/>
          <a:p>
            <a:pPr algn="l">
              <a:spcAft>
                <a:spcPts val="400"/>
              </a:spcAft>
            </a:pPr>
            <a:r>
              <a:rPr sz="1300" b="1">
                <a:solidFill>
                  <a:srgbClr val="C9F36B"/>
                </a:solidFill>
                <a:latin typeface="Arial"/>
              </a:rPr>
              <a:t>CableTwin</a:t>
            </a:r>
          </a:p>
        </p:txBody>
      </p:sp>
      <p:sp>
        <p:nvSpPr>
          <p:cNvPr id="26" name="TextBox 25"/>
          <p:cNvSpPr txBox="1"/>
          <p:nvPr/>
        </p:nvSpPr>
        <p:spPr>
          <a:xfrm>
            <a:off x="4023360" y="5312664"/>
            <a:ext cx="7315200" cy="274320"/>
          </a:xfrm>
          <a:prstGeom prst="rect">
            <a:avLst/>
          </a:prstGeom>
          <a:noFill/>
        </p:spPr>
        <p:txBody>
          <a:bodyPr wrap="square" anchor="t" lIns="0" rIns="0" tIns="0" bIns="0">
            <a:spAutoFit/>
          </a:bodyPr>
          <a:lstStyle/>
          <a:p>
            <a:pPr algn="l">
              <a:spcAft>
                <a:spcPts val="400"/>
              </a:spcAft>
            </a:pPr>
            <a:r>
              <a:rPr sz="1300" b="0">
                <a:solidFill>
                  <a:srgbClr val="F5F4ED"/>
                </a:solidFill>
                <a:latin typeface="Arial"/>
              </a:rPr>
              <a:t>focused incident layer · 3 explainable routes · human approval</a:t>
            </a:r>
          </a:p>
        </p:txBody>
      </p:sp>
      <p:sp>
        <p:nvSpPr>
          <p:cNvPr id="27" name="Rectangle 26"/>
          <p:cNvSpPr/>
          <p:nvPr/>
        </p:nvSpPr>
        <p:spPr>
          <a:xfrm>
            <a:off x="640080" y="5897880"/>
            <a:ext cx="10881360" cy="457200"/>
          </a:xfrm>
          <a:prstGeom prst="rect">
            <a:avLst/>
          </a:prstGeom>
          <a:solidFill>
            <a:srgbClr val="0929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 y="5989320"/>
            <a:ext cx="10424160" cy="274320"/>
          </a:xfrm>
          <a:prstGeom prst="rect">
            <a:avLst/>
          </a:prstGeom>
          <a:noFill/>
        </p:spPr>
        <p:txBody>
          <a:bodyPr wrap="square" anchor="t" lIns="0" rIns="0" tIns="0" bIns="0">
            <a:spAutoFit/>
          </a:bodyPr>
          <a:lstStyle/>
          <a:p>
            <a:pPr algn="l">
              <a:spcAft>
                <a:spcPts val="400"/>
              </a:spcAft>
            </a:pPr>
            <a:r>
              <a:rPr sz="1300" b="1">
                <a:solidFill>
                  <a:srgbClr val="C9F36B"/>
                </a:solidFill>
                <a:latin typeface="Arial"/>
              </a:rPr>
              <a:t>No prediction · no autonomous control · no write-back · no price or ROI claim</a:t>
            </a:r>
          </a:p>
        </p:txBody>
      </p:sp>
      <p:sp>
        <p:nvSpPr>
          <p:cNvPr id="29" name="TextBox 28"/>
          <p:cNvSpPr txBox="1"/>
          <p:nvPr/>
        </p:nvSpPr>
        <p:spPr>
          <a:xfrm>
            <a:off x="640080" y="6473952"/>
            <a:ext cx="8229600" cy="274320"/>
          </a:xfrm>
          <a:prstGeom prst="rect">
            <a:avLst/>
          </a:prstGeom>
          <a:noFill/>
        </p:spPr>
        <p:txBody>
          <a:bodyPr wrap="square" anchor="t" lIns="0" rIns="0" tIns="0" bIns="0">
            <a:spAutoFit/>
          </a:bodyPr>
          <a:lstStyle/>
          <a:p>
            <a:pPr algn="l">
              <a:spcAft>
                <a:spcPts val="400"/>
              </a:spcAft>
            </a:pPr>
            <a:r>
              <a:rPr sz="1000" b="0">
                <a:solidFill>
                  <a:srgbClr val="53645F"/>
                </a:solidFill>
                <a:latin typeface="Arial"/>
              </a:rPr>
              <a:t>CableTwin · SUPCOM · Oussama Akir · Fully synthetic data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92925"/>
        </a:solidFill>
        <a:effectLst/>
      </p:bgPr>
    </p:bg>
    <p:spTree>
      <p:nvGrpSpPr>
        <p:cNvPr id="1" name=""/>
        <p:cNvGrpSpPr/>
        <p:nvPr/>
      </p:nvGrpSpPr>
      <p:grpSpPr/>
      <p:sp>
        <p:nvSpPr>
          <p:cNvPr id="2" name="TextBox 1"/>
          <p:cNvSpPr txBox="1"/>
          <p:nvPr/>
        </p:nvSpPr>
        <p:spPr>
          <a:xfrm>
            <a:off x="640080" y="384048"/>
            <a:ext cx="10972800" cy="320040"/>
          </a:xfrm>
          <a:prstGeom prst="rect">
            <a:avLst/>
          </a:prstGeom>
          <a:noFill/>
        </p:spPr>
        <p:txBody>
          <a:bodyPr wrap="square" anchor="t" lIns="0" rIns="0" tIns="0" bIns="0">
            <a:spAutoFit/>
          </a:bodyPr>
          <a:lstStyle/>
          <a:p>
            <a:pPr algn="l">
              <a:spcAft>
                <a:spcPts val="400"/>
              </a:spcAft>
            </a:pPr>
            <a:r>
              <a:rPr sz="1300" b="1">
                <a:solidFill>
                  <a:srgbClr val="C9F36B"/>
                </a:solidFill>
                <a:latin typeface="Arial"/>
              </a:rPr>
              <a:t>READY FOR PHASE 3</a:t>
            </a:r>
          </a:p>
        </p:txBody>
      </p:sp>
      <p:sp>
        <p:nvSpPr>
          <p:cNvPr id="3" name="TextBox 2"/>
          <p:cNvSpPr txBox="1"/>
          <p:nvPr/>
        </p:nvSpPr>
        <p:spPr>
          <a:xfrm>
            <a:off x="640080" y="713232"/>
            <a:ext cx="10972800" cy="731520"/>
          </a:xfrm>
          <a:prstGeom prst="rect">
            <a:avLst/>
          </a:prstGeom>
          <a:noFill/>
        </p:spPr>
        <p:txBody>
          <a:bodyPr wrap="square" anchor="t" lIns="0" rIns="0" tIns="0" bIns="0">
            <a:spAutoFit/>
          </a:bodyPr>
          <a:lstStyle/>
          <a:p>
            <a:pPr algn="l">
              <a:spcAft>
                <a:spcPts val="400"/>
              </a:spcAft>
            </a:pPr>
            <a:r>
              <a:rPr sz="3200" b="1">
                <a:solidFill>
                  <a:srgbClr val="F5F4ED"/>
                </a:solidFill>
                <a:latin typeface="Arial"/>
              </a:rPr>
              <a:t>CableTwin is ready for Phase 3</a:t>
            </a:r>
          </a:p>
        </p:txBody>
      </p:sp>
      <p:sp>
        <p:nvSpPr>
          <p:cNvPr id="4" name="Rectangle 3"/>
          <p:cNvSpPr/>
          <p:nvPr/>
        </p:nvSpPr>
        <p:spPr>
          <a:xfrm>
            <a:off x="640080" y="1645920"/>
            <a:ext cx="3520440" cy="6217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792224"/>
            <a:ext cx="3200400" cy="365760"/>
          </a:xfrm>
          <a:prstGeom prst="rect">
            <a:avLst/>
          </a:prstGeom>
          <a:noFill/>
        </p:spPr>
        <p:txBody>
          <a:bodyPr wrap="square" anchor="t" lIns="0" rIns="0" tIns="0" bIns="0">
            <a:spAutoFit/>
          </a:bodyPr>
          <a:lstStyle/>
          <a:p>
            <a:pPr algn="l">
              <a:spcAft>
                <a:spcPts val="400"/>
              </a:spcAft>
            </a:pPr>
            <a:r>
              <a:rPr sz="1350" b="1">
                <a:solidFill>
                  <a:srgbClr val="F5F4ED"/>
                </a:solidFill>
                <a:latin typeface="Arial"/>
              </a:rPr>
              <a:t>25% · Business process &amp; impact</a:t>
            </a:r>
          </a:p>
        </p:txBody>
      </p:sp>
      <p:sp>
        <p:nvSpPr>
          <p:cNvPr id="6" name="TextBox 5"/>
          <p:cNvSpPr txBox="1"/>
          <p:nvPr/>
        </p:nvSpPr>
        <p:spPr>
          <a:xfrm>
            <a:off x="4434840" y="1792224"/>
            <a:ext cx="7132320" cy="365760"/>
          </a:xfrm>
          <a:prstGeom prst="rect">
            <a:avLst/>
          </a:prstGeom>
          <a:noFill/>
        </p:spPr>
        <p:txBody>
          <a:bodyPr wrap="square" anchor="t" lIns="0" rIns="0" tIns="0" bIns="0">
            <a:spAutoFit/>
          </a:bodyPr>
          <a:lstStyle/>
          <a:p>
            <a:pPr algn="l">
              <a:spcAft>
                <a:spcPts val="400"/>
              </a:spcAft>
            </a:pPr>
            <a:r>
              <a:rPr sz="1350" b="0">
                <a:solidFill>
                  <a:srgbClr val="F5F4ED"/>
                </a:solidFill>
                <a:latin typeface="Arial"/>
              </a:rPr>
              <a:t>One incident-rescheduling loop · delay, overtime and output measured</a:t>
            </a:r>
          </a:p>
        </p:txBody>
      </p:sp>
      <p:sp>
        <p:nvSpPr>
          <p:cNvPr id="7" name="Rectangle 6"/>
          <p:cNvSpPr/>
          <p:nvPr/>
        </p:nvSpPr>
        <p:spPr>
          <a:xfrm>
            <a:off x="640080" y="2414016"/>
            <a:ext cx="3520440" cy="6217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560320"/>
            <a:ext cx="3200400" cy="365760"/>
          </a:xfrm>
          <a:prstGeom prst="rect">
            <a:avLst/>
          </a:prstGeom>
          <a:noFill/>
        </p:spPr>
        <p:txBody>
          <a:bodyPr wrap="square" anchor="t" lIns="0" rIns="0" tIns="0" bIns="0">
            <a:spAutoFit/>
          </a:bodyPr>
          <a:lstStyle/>
          <a:p>
            <a:pPr algn="l">
              <a:spcAft>
                <a:spcPts val="400"/>
              </a:spcAft>
            </a:pPr>
            <a:r>
              <a:rPr sz="1350" b="1">
                <a:solidFill>
                  <a:srgbClr val="F5F4ED"/>
                </a:solidFill>
                <a:latin typeface="Arial"/>
              </a:rPr>
              <a:t>20% · Core AI</a:t>
            </a:r>
          </a:p>
        </p:txBody>
      </p:sp>
      <p:sp>
        <p:nvSpPr>
          <p:cNvPr id="9" name="TextBox 8"/>
          <p:cNvSpPr txBox="1"/>
          <p:nvPr/>
        </p:nvSpPr>
        <p:spPr>
          <a:xfrm>
            <a:off x="4434840" y="2560320"/>
            <a:ext cx="7132320" cy="365760"/>
          </a:xfrm>
          <a:prstGeom prst="rect">
            <a:avLst/>
          </a:prstGeom>
          <a:noFill/>
        </p:spPr>
        <p:txBody>
          <a:bodyPr wrap="square" anchor="t" lIns="0" rIns="0" tIns="0" bIns="0">
            <a:spAutoFit/>
          </a:bodyPr>
          <a:lstStyle/>
          <a:p>
            <a:pPr algn="l">
              <a:spcAft>
                <a:spcPts val="400"/>
              </a:spcAft>
            </a:pPr>
            <a:r>
              <a:rPr sz="1350" b="0">
                <a:solidFill>
                  <a:srgbClr val="F5F4ED"/>
                </a:solidFill>
                <a:latin typeface="Arial"/>
              </a:rPr>
              <a:t>Constraint planning · 17,856-candidate independent bounded certificate</a:t>
            </a:r>
          </a:p>
        </p:txBody>
      </p:sp>
      <p:sp>
        <p:nvSpPr>
          <p:cNvPr id="10" name="Rectangle 9"/>
          <p:cNvSpPr/>
          <p:nvPr/>
        </p:nvSpPr>
        <p:spPr>
          <a:xfrm>
            <a:off x="640080" y="3182112"/>
            <a:ext cx="3520440" cy="6217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328416"/>
            <a:ext cx="3200400" cy="365760"/>
          </a:xfrm>
          <a:prstGeom prst="rect">
            <a:avLst/>
          </a:prstGeom>
          <a:noFill/>
        </p:spPr>
        <p:txBody>
          <a:bodyPr wrap="square" anchor="t" lIns="0" rIns="0" tIns="0" bIns="0">
            <a:spAutoFit/>
          </a:bodyPr>
          <a:lstStyle/>
          <a:p>
            <a:pPr algn="l">
              <a:spcAft>
                <a:spcPts val="400"/>
              </a:spcAft>
            </a:pPr>
            <a:r>
              <a:rPr sz="1350" b="1">
                <a:solidFill>
                  <a:srgbClr val="F5F4ED"/>
                </a:solidFill>
                <a:latin typeface="Arial"/>
              </a:rPr>
              <a:t>20% · Working prototype</a:t>
            </a:r>
          </a:p>
        </p:txBody>
      </p:sp>
      <p:sp>
        <p:nvSpPr>
          <p:cNvPr id="12" name="TextBox 11"/>
          <p:cNvSpPr txBox="1"/>
          <p:nvPr/>
        </p:nvSpPr>
        <p:spPr>
          <a:xfrm>
            <a:off x="4434840" y="3328416"/>
            <a:ext cx="7132320" cy="365760"/>
          </a:xfrm>
          <a:prstGeom prst="rect">
            <a:avLst/>
          </a:prstGeom>
          <a:noFill/>
        </p:spPr>
        <p:txBody>
          <a:bodyPr wrap="square" anchor="t" lIns="0" rIns="0" tIns="0" bIns="0">
            <a:spAutoFit/>
          </a:bodyPr>
          <a:lstStyle/>
          <a:p>
            <a:pPr algn="l">
              <a:spcAft>
                <a:spcPts val="400"/>
              </a:spcAft>
            </a:pPr>
            <a:r>
              <a:rPr sz="1350" b="0">
                <a:solidFill>
                  <a:srgbClr val="F5F4ED"/>
                </a:solidFill>
                <a:latin typeface="Arial"/>
              </a:rPr>
              <a:t>Offline incident → routes → Gantt → approval → audit → reset · 9/9 checks</a:t>
            </a:r>
          </a:p>
        </p:txBody>
      </p:sp>
      <p:sp>
        <p:nvSpPr>
          <p:cNvPr id="13" name="Rectangle 12"/>
          <p:cNvSpPr/>
          <p:nvPr/>
        </p:nvSpPr>
        <p:spPr>
          <a:xfrm>
            <a:off x="640080" y="3950208"/>
            <a:ext cx="3520440" cy="6217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096512"/>
            <a:ext cx="3200400" cy="365760"/>
          </a:xfrm>
          <a:prstGeom prst="rect">
            <a:avLst/>
          </a:prstGeom>
          <a:noFill/>
        </p:spPr>
        <p:txBody>
          <a:bodyPr wrap="square" anchor="t" lIns="0" rIns="0" tIns="0" bIns="0">
            <a:spAutoFit/>
          </a:bodyPr>
          <a:lstStyle/>
          <a:p>
            <a:pPr algn="l">
              <a:spcAft>
                <a:spcPts val="400"/>
              </a:spcAft>
            </a:pPr>
            <a:r>
              <a:rPr sz="1350" b="1">
                <a:solidFill>
                  <a:srgbClr val="F5F4ED"/>
                </a:solidFill>
                <a:latin typeface="Arial"/>
              </a:rPr>
              <a:t>20% · Business viability</a:t>
            </a:r>
          </a:p>
        </p:txBody>
      </p:sp>
      <p:sp>
        <p:nvSpPr>
          <p:cNvPr id="15" name="TextBox 14"/>
          <p:cNvSpPr txBox="1"/>
          <p:nvPr/>
        </p:nvSpPr>
        <p:spPr>
          <a:xfrm>
            <a:off x="4434840" y="4096512"/>
            <a:ext cx="7132320" cy="365760"/>
          </a:xfrm>
          <a:prstGeom prst="rect">
            <a:avLst/>
          </a:prstGeom>
          <a:noFill/>
        </p:spPr>
        <p:txBody>
          <a:bodyPr wrap="square" anchor="t" lIns="0" rIns="0" tIns="0" bIns="0">
            <a:spAutoFit/>
          </a:bodyPr>
          <a:lstStyle/>
          <a:p>
            <a:pPr algn="l">
              <a:spcAft>
                <a:spcPts val="400"/>
              </a:spcAft>
            </a:pPr>
            <a:r>
              <a:rPr sz="1350" b="0">
                <a:solidFill>
                  <a:srgbClr val="F5F4ED"/>
                </a:solidFill>
                <a:latin typeface="Arial"/>
              </a:rPr>
              <a:t>Named user and buyer · 4–6-week read-only pilot · go/no-go gates</a:t>
            </a:r>
          </a:p>
        </p:txBody>
      </p:sp>
      <p:sp>
        <p:nvSpPr>
          <p:cNvPr id="16" name="Rectangle 15"/>
          <p:cNvSpPr/>
          <p:nvPr/>
        </p:nvSpPr>
        <p:spPr>
          <a:xfrm>
            <a:off x="640080" y="4718304"/>
            <a:ext cx="3520440" cy="6217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64608"/>
            <a:ext cx="3200400" cy="365760"/>
          </a:xfrm>
          <a:prstGeom prst="rect">
            <a:avLst/>
          </a:prstGeom>
          <a:noFill/>
        </p:spPr>
        <p:txBody>
          <a:bodyPr wrap="square" anchor="t" lIns="0" rIns="0" tIns="0" bIns="0">
            <a:spAutoFit/>
          </a:bodyPr>
          <a:lstStyle/>
          <a:p>
            <a:pPr algn="l">
              <a:spcAft>
                <a:spcPts val="400"/>
              </a:spcAft>
            </a:pPr>
            <a:r>
              <a:rPr sz="1350" b="1">
                <a:solidFill>
                  <a:srgbClr val="F5F4ED"/>
                </a:solidFill>
                <a:latin typeface="Arial"/>
              </a:rPr>
              <a:t>15% · Pitch &amp; clarity</a:t>
            </a:r>
          </a:p>
        </p:txBody>
      </p:sp>
      <p:sp>
        <p:nvSpPr>
          <p:cNvPr id="18" name="TextBox 17"/>
          <p:cNvSpPr txBox="1"/>
          <p:nvPr/>
        </p:nvSpPr>
        <p:spPr>
          <a:xfrm>
            <a:off x="4434840" y="4864608"/>
            <a:ext cx="7132320" cy="365760"/>
          </a:xfrm>
          <a:prstGeom prst="rect">
            <a:avLst/>
          </a:prstGeom>
          <a:noFill/>
        </p:spPr>
        <p:txBody>
          <a:bodyPr wrap="square" anchor="t" lIns="0" rIns="0" tIns="0" bIns="0">
            <a:spAutoFit/>
          </a:bodyPr>
          <a:lstStyle/>
          <a:p>
            <a:pPr algn="l">
              <a:spcAft>
                <a:spcPts val="400"/>
              </a:spcAft>
            </a:pPr>
            <a:r>
              <a:rPr sz="1350" b="0">
                <a:solidFill>
                  <a:srgbClr val="F5F4ED"/>
                </a:solidFill>
                <a:latin typeface="Arial"/>
              </a:rPr>
              <a:t>One Waze metaphor · three routes · one human decision</a:t>
            </a:r>
          </a:p>
        </p:txBody>
      </p:sp>
      <p:sp>
        <p:nvSpPr>
          <p:cNvPr id="19" name="Rectangle 18"/>
          <p:cNvSpPr/>
          <p:nvPr/>
        </p:nvSpPr>
        <p:spPr>
          <a:xfrm>
            <a:off x="640080" y="5669280"/>
            <a:ext cx="10881360" cy="658368"/>
          </a:xfrm>
          <a:prstGeom prst="rect">
            <a:avLst/>
          </a:prstGeom>
          <a:solidFill>
            <a:srgbClr val="C9F3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5815584"/>
            <a:ext cx="10424160" cy="365760"/>
          </a:xfrm>
          <a:prstGeom prst="rect">
            <a:avLst/>
          </a:prstGeom>
          <a:noFill/>
        </p:spPr>
        <p:txBody>
          <a:bodyPr wrap="square" anchor="t" lIns="0" rIns="0" tIns="0" bIns="0">
            <a:spAutoFit/>
          </a:bodyPr>
          <a:lstStyle/>
          <a:p>
            <a:pPr algn="l">
              <a:spcAft>
                <a:spcPts val="400"/>
              </a:spcAft>
            </a:pPr>
            <a:r>
              <a:rPr sz="1600" b="1">
                <a:solidFill>
                  <a:srgbClr val="092925"/>
                </a:solidFill>
                <a:latin typeface="Arial"/>
              </a:rPr>
              <a:t>Select CableTwin for the final pitch and see the complete live decision in 90 seconds.</a:t>
            </a:r>
          </a:p>
        </p:txBody>
      </p:sp>
      <p:sp>
        <p:nvSpPr>
          <p:cNvPr id="21" name="TextBox 20"/>
          <p:cNvSpPr txBox="1"/>
          <p:nvPr/>
        </p:nvSpPr>
        <p:spPr>
          <a:xfrm>
            <a:off x="640080" y="6473952"/>
            <a:ext cx="8229600" cy="274320"/>
          </a:xfrm>
          <a:prstGeom prst="rect">
            <a:avLst/>
          </a:prstGeom>
          <a:noFill/>
        </p:spPr>
        <p:txBody>
          <a:bodyPr wrap="square" anchor="t" lIns="0" rIns="0" tIns="0" bIns="0">
            <a:spAutoFit/>
          </a:bodyPr>
          <a:lstStyle/>
          <a:p>
            <a:pPr algn="l">
              <a:spcAft>
                <a:spcPts val="400"/>
              </a:spcAft>
            </a:pPr>
            <a:r>
              <a:rPr sz="1000" b="0">
                <a:solidFill>
                  <a:srgbClr val="8FA8A2"/>
                </a:solidFill>
                <a:latin typeface="Arial"/>
              </a:rPr>
              <a:t>CableTwin · SUPCOM · Oussama Akir · Fully synthetic data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