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5317c7dab794cce" Type="http://schemas.openxmlformats.org/package/2006/relationships/metadata/core-properties" Target="docProps/core.xml"/><Relationship Id="R561c195ca55443ba" Type="http://schemas.openxmlformats.org/officeDocument/2006/relationships/officeDocument" Target="ppt/presentation.xml"/><Relationship Id="Rc8eea00c64334e7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bccad272bd546fb"/>
  </p:sldMasterIdLst>
  <p:notesMasterIdLst>
    <p:notesMasterId xmlns:r="http://schemas.openxmlformats.org/officeDocument/2006/relationships" r:id="R99dccbe48b034556"/>
  </p:notesMasterIdLst>
  <p:sldIdLst>
    <p:sldId xmlns:r="http://schemas.openxmlformats.org/officeDocument/2006/relationships" id="256" r:id="Rf07fcdf779a34aa6"/>
    <p:sldId xmlns:r="http://schemas.openxmlformats.org/officeDocument/2006/relationships" id="257" r:id="R56b8f4f74d1e4914"/>
    <p:sldId xmlns:r="http://schemas.openxmlformats.org/officeDocument/2006/relationships" id="258" r:id="Rb341158b71bd4d4d"/>
    <p:sldId xmlns:r="http://schemas.openxmlformats.org/officeDocument/2006/relationships" id="259" r:id="R826c35c3e1594d27"/>
    <p:sldId xmlns:r="http://schemas.openxmlformats.org/officeDocument/2006/relationships" id="260" r:id="R9de729e0981d49b3"/>
    <p:sldId xmlns:r="http://schemas.openxmlformats.org/officeDocument/2006/relationships" id="261" r:id="R8bdd575d69e648c6"/>
    <p:sldId xmlns:r="http://schemas.openxmlformats.org/officeDocument/2006/relationships" id="262" r:id="Rd4cb0a7691344d26"/>
    <p:sldId xmlns:r="http://schemas.openxmlformats.org/officeDocument/2006/relationships" id="263" r:id="R7024f7217735483b"/>
    <p:sldId xmlns:r="http://schemas.openxmlformats.org/officeDocument/2006/relationships" id="264" r:id="R6731a1feb5e44473"/>
    <p:sldId xmlns:r="http://schemas.openxmlformats.org/officeDocument/2006/relationships" id="265" r:id="Rcc5fb7b1f6b34b4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40ae68b60044100" Type="http://schemas.openxmlformats.org/officeDocument/2006/relationships/presProps" Target="presProps.xml"/><Relationship Id="R496d84bef4a442e9" Type="http://schemas.openxmlformats.org/officeDocument/2006/relationships/tableStyles" Target="tableStyles.xml"/><Relationship Id="R56b8f4f74d1e4914" Type="http://schemas.openxmlformats.org/officeDocument/2006/relationships/slide" Target="slides/slide2.xml"/><Relationship Id="R62c90888ecdd4ff5" Type="http://schemas.openxmlformats.org/officeDocument/2006/relationships/theme" Target="theme/theme1.xml"/><Relationship Id="R6731a1feb5e44473" Type="http://schemas.openxmlformats.org/officeDocument/2006/relationships/slide" Target="slides/slide9.xml"/><Relationship Id="R7024f7217735483b" Type="http://schemas.openxmlformats.org/officeDocument/2006/relationships/slide" Target="slides/slide8.xml"/><Relationship Id="R7bccad272bd546fb" Type="http://schemas.openxmlformats.org/officeDocument/2006/relationships/slideMaster" Target="slideMasters/slideMaster1.xml"/><Relationship Id="R826c35c3e1594d27" Type="http://schemas.openxmlformats.org/officeDocument/2006/relationships/slide" Target="slides/slide4.xml"/><Relationship Id="R8bdd575d69e648c6" Type="http://schemas.openxmlformats.org/officeDocument/2006/relationships/slide" Target="slides/slide6.xml"/><Relationship Id="R99dccbe48b034556" Type="http://schemas.openxmlformats.org/officeDocument/2006/relationships/notesMaster" Target="notesMasters/notesMaster1.xml"/><Relationship Id="R9de729e0981d49b3" Type="http://schemas.openxmlformats.org/officeDocument/2006/relationships/slide" Target="slides/slide5.xml"/><Relationship Id="Rb341158b71bd4d4d" Type="http://schemas.openxmlformats.org/officeDocument/2006/relationships/slide" Target="slides/slide3.xml"/><Relationship Id="Rcc5fb7b1f6b34b49" Type="http://schemas.openxmlformats.org/officeDocument/2006/relationships/slide" Target="slides/slide10.xml"/><Relationship Id="Rd4cb0a7691344d26" Type="http://schemas.openxmlformats.org/officeDocument/2006/relationships/slide" Target="slides/slide7.xml"/><Relationship Id="Rf07fcdf779a34aa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0d7bd4a36a17496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ff7a468830243f4" Type="http://schemas.openxmlformats.org/officeDocument/2006/relationships/notesMaster" Target="../notesMasters/notesMaster1.xml"/><Relationship Id="Rf7534d74c26646e9"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b02d8d416854cc8" Type="http://schemas.openxmlformats.org/officeDocument/2006/relationships/notesMaster" Target="../notesMasters/notesMaster1.xml"/><Relationship Id="Rb0a4501648244535"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be9b0171a9f40e8" Type="http://schemas.openxmlformats.org/officeDocument/2006/relationships/slide" Target="../slides/slide3.xml"/><Relationship Id="R966fb8ad185249c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4b4c2c54c384f77" Type="http://schemas.openxmlformats.org/officeDocument/2006/relationships/notesMaster" Target="../notesMasters/notesMaster1.xml"/><Relationship Id="Rbe7bc209a1ac43c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8ded0af05bf4059" Type="http://schemas.openxmlformats.org/officeDocument/2006/relationships/notesMaster" Target="../notesMasters/notesMaster1.xml"/><Relationship Id="R14c8b60401a04cf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8386fe141b734b96" Type="http://schemas.openxmlformats.org/officeDocument/2006/relationships/slide" Target="../slides/slide6.xml"/><Relationship Id="Rdacc0523fcf44f03"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31c4e2b4d9d4eba" Type="http://schemas.openxmlformats.org/officeDocument/2006/relationships/slide" Target="../slides/slide7.xml"/><Relationship Id="R9faa760742eb45a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147bab3dbd3495e" Type="http://schemas.openxmlformats.org/officeDocument/2006/relationships/notesMaster" Target="../notesMasters/notesMaster1.xml"/><Relationship Id="R7b3da681c7bb4074"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6f034fa7dd5a4dbb" Type="http://schemas.openxmlformats.org/officeDocument/2006/relationships/notesMaster" Target="../notesMasters/notesMaster1.xml"/><Relationship Id="Rc510725b0f614c9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867a634d591847c9" Type="http://schemas.openxmlformats.org/officeDocument/2006/relationships/notesMaster" Target="../notesMasters/notesMaster1.xml"/><Relationship Id="Rc714fc0acf7540fd"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Good afternoon. In our synthetic Tunisian cable-factory scenario, grid power disappears for 58 minutes while a medium-voltage cable order is in production. Electricity returns; certainty does not. CableTwin compares recovery options before the plant commits equipment, quality resources, people and the customer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 The line sees the stop. Energy sees a restart envelope. Quality sees incomplete process history. Logistics sees a truck at 06:30. One 24-kilometre order now has three truths: drums one to six remain outside the incident, drum seven is entirely on hold, and drum eight is not started and must be replanned. Restarting the line is not the same as recovering the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0:50–1:20 — CableTwin is a local, read-only decision layer. Explainable ML retrieves comparable synthetic cases and shows distance, differences and out-of-distribution warning. The deterministic twin tests recovery futures across energy, process, material, people, quality and delivery. Hard rules reject impossible sequences. CableTwin never commands a PLC and never releases cable: Quality, the laboratory and accountable humans keep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1:20–1:50 — LIVE ONLY AFTER ACCEPT: Here is the same scenario in Jury mode. I inject the 58-minute outage: drum seven stays on hold and the system retrieves comparable cases. I reduce available restart power: no plan is feasible. I restore the operator-entered limit: staged Plan C returns under visible assumptions. The laboratory gate remains closed. Same engine, same rules, faster replay—not a scripted shortcut. PRE-ACCEPT FALLBACK: describe this as the acceptance contract, not a live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1:50–2:15 — We enter commercially in four disciplined steps: a paid data-and-decision diagnostic, a read-only shadow pilot, a license per line or site with configuration and support, then replication only after measured pilot evidence. Pricing and ROI are pilot questions. We sell decision speed, constraint visibility and traceability—not guaranteed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2:15–2:40 — The first pilot is one cable line for four to six weeks. We map the data contract and hard rules, replay historical incidents plus synthetic stress cases, compare CableTwin options with actual plant decisions, then go, revise or stop. Success measures are evaluation time, violations caught before action, stability, usability and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2:40–3:05 — We complement existing systems; we replace none. SCADA and PLC control. MES executes and records. APS plans capacity. QMS and laboratories test and release product. CableTwin is the cross-domain, read-only decision layer that makes incident alternatives, hard constraints, provenance and human gates visible before the plant 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3:05–3:25 — I am Oussama Akir, a solo SUP'COM participant. During this hackathon I built the public CableTwin demonstrator, its bounded planner, local ML guidance, digital-twin views, verification and evidence package. I also kept the product's limits visible. The next team extension is not a fictional org chart; it is one real cable plant and its Quality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3:25–3:40 — Today the honest numbers are zero signed pilots, zero revenue and zero ROI claims. What is proven is a public working product, nine planner and workflow checks, five ML checks, and a local, offline, read-only posture. Synthetic evidence is not customer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3:40–4:00 — Our ask is precise: select CableTwin and connect one Tunisian cable-plant design partner for a read-only shadow pilot. A power interruption lasts 58 minutes; industrial uncertainty can last for hours. CableTwin retrieves the past, compares futures, blocks the impossible—and leaves authorization to humans and the laboratory.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6a34c34cc334c8b"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8ef69993e0947c4" Type="http://schemas.openxmlformats.org/officeDocument/2006/relationships/slideLayout" Target="../slideLayouts/slideLayout1.xml"/><Relationship Id="R1cd87416b154410c"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ef69993e0947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072e649883e4550" Type="http://schemas.openxmlformats.org/officeDocument/2006/relationships/image" Target="../media/image.png"/><Relationship Id="R6f027030f7474b9a" Type="http://schemas.openxmlformats.org/officeDocument/2006/relationships/image" Target="../media/image2.png"/><Relationship Id="Rd53bfe1d09ee40a2" Type="http://schemas.openxmlformats.org/officeDocument/2006/relationships/notesSlide" Target="../notesSlides/notesSlide1.xml"/><Relationship Id="Rdf6bc2a3c068473e"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304f9f8984de4847" Type="http://schemas.openxmlformats.org/officeDocument/2006/relationships/slideLayout" Target="../slideLayouts/slideLayout1.xml"/><Relationship Id="R41996b93511e4e31" Type="http://schemas.openxmlformats.org/officeDocument/2006/relationships/image" Target="../media/image3.png"/><Relationship Id="Rfe25468207e44ea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0e0244424f545e1" Type="http://schemas.openxmlformats.org/officeDocument/2006/relationships/notesSlide" Target="../notesSlides/notesSlide3.xml"/><Relationship Id="R23c05c5f2d3141fb"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a5adb89da6264043" Type="http://schemas.openxmlformats.org/officeDocument/2006/relationships/image" Target="../media/image4.png"/><Relationship Id="Rbf66011e79b14cb3" Type="http://schemas.openxmlformats.org/officeDocument/2006/relationships/notesSlide" Target="../notesSlides/notesSlide4.xml"/><Relationship Id="Rc27a17a126c6414d"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5d19623cdaa248b1" Type="http://schemas.openxmlformats.org/officeDocument/2006/relationships/slideLayout" Target="../slideLayouts/slideLayout1.xml"/><Relationship Id="R7247b73b6035447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df4792c214e43f3" Type="http://schemas.openxmlformats.org/officeDocument/2006/relationships/notesSlide" Target="../notesSlides/notesSlide6.xml"/><Relationship Id="R8f06b4d49cee420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135cf4e6e5744012" Type="http://schemas.openxmlformats.org/officeDocument/2006/relationships/slideLayout" Target="../slideLayouts/slideLayout1.xml"/><Relationship Id="R6ce71501a0c54ee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af67b2d5c7f4e56" Type="http://schemas.openxmlformats.org/officeDocument/2006/relationships/notesSlide" Target="../notesSlides/notesSlide8.xml"/><Relationship Id="Rb6d04cb0195c46eb" Type="http://schemas.openxmlformats.org/officeDocument/2006/relationships/slideLayout" Target="../slideLayouts/slideLayout1.xml"/><Relationship Id="Rf5fe70b8469e48e8" Type="http://schemas.openxmlformats.org/officeDocument/2006/relationships/image" Target="../media/image5.png"/></Relationships>
</file>

<file path=ppt/slides/_rels/slide9.xml.rels><?xml version='1.0' encoding='UTF-8' standalone='yes'?>
<Relationships xmlns="http://schemas.openxmlformats.org/package/2006/relationships"><Relationship Id="R4d9666490d38430a" Type="http://schemas.openxmlformats.org/officeDocument/2006/relationships/notesSlide" Target="../notesSlides/notesSlide9.xml"/><Relationship Id="R63a1cdb01d844bf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5625740b8c54130" Type="http://schemas.openxmlformats.org/officeDocument/2006/relationships/image" Target="../media/image6.png"/><Relationship Id="R14180021ca05434b" Type="http://schemas.openxmlformats.org/officeDocument/2006/relationships/slideLayout" Target="../slideLayouts/slideLayout1.xml"/><Relationship Id="Ra5e7ac33f050444c" Type="http://schemas.openxmlformats.org/officeDocument/2006/relationships/notesSlide" Target="../notesSlides/notesSlide10.xml"/></Relationships>
</file>

<file path=ppt/slides/slide1.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072e649883e4550"/>
          <a:srcRect xmlns:a="http://schemas.openxmlformats.org/drawingml/2006/main" l="26953" t="0" r="26953"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C72FAD-F198-4CDB-A2DB-B0C7F69BBDAD}"/>
              </a:ext>
            </a:extLst>
          </p:cNvPr>
          <p:cNvSpPr>
            <a:spLocks xmlns:a="http://schemas.openxmlformats.org/drawingml/2006/main" noGrp="1"/>
          </p:cNvSpPr>
          <p:nvPr/>
        </p:nvSpPr>
        <p:spPr>
          <a:xfrm xmlns:a="http://schemas.openxmlformats.org/drawingml/2006/main">
            <a:off x="6400800" y="0"/>
            <a:ext cx="285750" cy="6858000"/>
          </a:xfrm>
          <a:prstGeom xmlns:a="http://schemas.openxmlformats.org/drawingml/2006/main" prst="rect">
            <a:avLst/>
          </a:prstGeom>
          <a:solidFill xmlns:a="http://schemas.openxmlformats.org/drawingml/2006/main">
            <a:srgbClr val="092925"/>
          </a:solidFill>
          <a:ln xmlns:a="http://schemas.openxmlformats.org/drawingml/2006/main" w="0">
            <a:no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f027030f7474b9a"/>
          <a:stretch xmlns:a="http://schemas.openxmlformats.org/drawingml/2006/main"/>
        </p:blipFill>
        <p:spPr>
          <a:xfrm xmlns:a="http://schemas.openxmlformats.org/drawingml/2006/main">
            <a:off x="685800" y="495300"/>
            <a:ext cx="552450" cy="552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6E0F44-DA9E-496A-A57F-D19D520361CB}"/>
              </a:ext>
            </a:extLst>
          </p:cNvPr>
          <p:cNvSpPr>
            <a:spLocks xmlns:a="http://schemas.openxmlformats.org/drawingml/2006/main" noGrp="1"/>
          </p:cNvSpPr>
          <p:nvPr/>
        </p:nvSpPr>
        <p:spPr>
          <a:xfrm xmlns:a="http://schemas.openxmlformats.org/drawingml/2006/main">
            <a:off x="1428750" y="5810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AUTOMATE OR DIE 2026 · INDUSTRY · ROOM 206</a:t>
            </a:r>
          </a:p>
        </p:txBody>
      </p:sp>
      <p:sp>
        <p:nvSpPr>
          <p:cNvPr id="5" name="">
            <a:extLst xmlns:a="http://schemas.openxmlformats.org/drawingml/2006/main">
              <a:ext uri="{FF2B5EF4-FFF2-40B4-BE49-F238E27FC236}">
                <a16:creationId xmlns:a16="http://schemas.microsoft.com/office/drawing/2014/main" id="{9EAADD86-901B-4BEB-8C6B-1A153FA41F10}"/>
              </a:ext>
            </a:extLst>
          </p:cNvPr>
          <p:cNvSpPr>
            <a:spLocks xmlns:a="http://schemas.openxmlformats.org/drawingml/2006/main" noGrp="1"/>
          </p:cNvSpPr>
          <p:nvPr/>
        </p:nvSpPr>
        <p:spPr>
          <a:xfrm xmlns:a="http://schemas.openxmlformats.org/drawingml/2006/main">
            <a:off x="685800" y="158115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56"/>
          </a:bodyPr>
          <a:lstStyle xmlns:a="http://schemas.openxmlformats.org/drawingml/2006/main"/>
          <a:p xmlns:a="http://schemas.openxmlformats.org/drawingml/2006/main">
            <a:pPr algn="l">
              <a:lnSpc>
                <a:spcPct val="92000"/>
              </a:lnSpc>
              <a:buNone/>
              <a:defRPr sz="4200" b="1">
                <a:solidFill>
                  <a:srgbClr val="F5F4ED"/>
                </a:solidFill>
                <a:latin typeface="Arial"/>
                <a:ea typeface="Arial"/>
                <a:cs typeface="Arial"/>
              </a:defRPr>
            </a:pPr>
            <a:r>
              <a:rPr sz="4200" b="1">
                <a:solidFill>
                  <a:srgbClr val="F5F4ED"/>
                </a:solidFill>
                <a:latin typeface="Arial"/>
                <a:ea typeface="Arial"/>
                <a:cs typeface="Arial"/>
              </a:rPr>
              <a:t>58-minute power loss.</a:t>
            </a:r>
          </a:p>
        </p:txBody>
      </p:sp>
      <p:sp>
        <p:nvSpPr>
          <p:cNvPr id="6" name="">
            <a:extLst xmlns:a="http://schemas.openxmlformats.org/drawingml/2006/main">
              <a:ext uri="{FF2B5EF4-FFF2-40B4-BE49-F238E27FC236}">
                <a16:creationId xmlns:a16="http://schemas.microsoft.com/office/drawing/2014/main" id="{0871044F-754D-4EB1-AA96-90A6ACFD1C1B}"/>
              </a:ext>
            </a:extLst>
          </p:cNvPr>
          <p:cNvSpPr>
            <a:spLocks xmlns:a="http://schemas.openxmlformats.org/drawingml/2006/main" noGrp="1"/>
          </p:cNvSpPr>
          <p:nvPr/>
        </p:nvSpPr>
        <p:spPr>
          <a:xfrm xmlns:a="http://schemas.openxmlformats.org/drawingml/2006/main">
            <a:off x="685800" y="2266950"/>
            <a:ext cx="5810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1000"/>
              </a:lnSpc>
              <a:buNone/>
              <a:defRPr sz="3900" b="1">
                <a:solidFill>
                  <a:srgbClr val="C9F36B"/>
                </a:solidFill>
                <a:latin typeface="Arial"/>
                <a:ea typeface="Arial"/>
                <a:cs typeface="Arial"/>
              </a:defRPr>
            </a:pPr>
            <a:r>
              <a:rPr sz="3900" b="1">
                <a:solidFill>
                  <a:srgbClr val="C9F36B"/>
                </a:solidFill>
                <a:latin typeface="Arial"/>
                <a:ea typeface="Arial"/>
                <a:cs typeface="Arial"/>
              </a:rPr>
              <a:t>24 km of customer commitment.</a:t>
            </a:r>
          </a:p>
        </p:txBody>
      </p:sp>
      <p:sp>
        <p:nvSpPr>
          <p:cNvPr id="7" name="">
            <a:extLst xmlns:a="http://schemas.openxmlformats.org/drawingml/2006/main">
              <a:ext uri="{FF2B5EF4-FFF2-40B4-BE49-F238E27FC236}">
                <a16:creationId xmlns:a16="http://schemas.microsoft.com/office/drawing/2014/main" id="{3C8F68F2-4E32-4BD9-9205-53FC7D9137CB}"/>
              </a:ext>
            </a:extLst>
          </p:cNvPr>
          <p:cNvSpPr>
            <a:spLocks xmlns:a="http://schemas.openxmlformats.org/drawingml/2006/main" noGrp="1"/>
          </p:cNvSpPr>
          <p:nvPr/>
        </p:nvSpPr>
        <p:spPr>
          <a:xfrm xmlns:a="http://schemas.openxmlformats.org/drawingml/2006/main">
            <a:off x="685800" y="3333750"/>
            <a:ext cx="561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F5F4ED"/>
                </a:solidFill>
                <a:latin typeface="Arial"/>
                <a:ea typeface="Arial"/>
                <a:cs typeface="Arial"/>
              </a:defRPr>
            </a:pPr>
            <a:r>
              <a:rPr sz="2850" b="1">
                <a:solidFill>
                  <a:srgbClr val="F5F4ED"/>
                </a:solidFill>
                <a:latin typeface="Arial"/>
                <a:ea typeface="Arial"/>
                <a:cs typeface="Arial"/>
              </a:rPr>
              <a:t>One governed recovery.</a:t>
            </a:r>
          </a:p>
        </p:txBody>
      </p:sp>
      <p:sp>
        <p:nvSpPr>
          <p:cNvPr id="8" name="">
            <a:extLst xmlns:a="http://schemas.openxmlformats.org/drawingml/2006/main">
              <a:ext uri="{FF2B5EF4-FFF2-40B4-BE49-F238E27FC236}">
                <a16:creationId xmlns:a16="http://schemas.microsoft.com/office/drawing/2014/main" id="{734FF584-CB03-4BF9-808D-5F6064E9DECC}"/>
              </a:ext>
            </a:extLst>
          </p:cNvPr>
          <p:cNvSpPr>
            <a:spLocks xmlns:a="http://schemas.openxmlformats.org/drawingml/2006/main" noGrp="1"/>
          </p:cNvSpPr>
          <p:nvPr/>
        </p:nvSpPr>
        <p:spPr>
          <a:xfrm xmlns:a="http://schemas.openxmlformats.org/drawingml/2006/main">
            <a:off x="685800" y="4238625"/>
            <a:ext cx="48577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7863C618-5412-421E-92BE-07BF093FE6F9}"/>
              </a:ext>
            </a:extLst>
          </p:cNvPr>
          <p:cNvSpPr>
            <a:spLocks xmlns:a="http://schemas.openxmlformats.org/drawingml/2006/main" noGrp="1"/>
          </p:cNvSpPr>
          <p:nvPr/>
        </p:nvSpPr>
        <p:spPr>
          <a:xfrm xmlns:a="http://schemas.openxmlformats.org/drawingml/2006/main">
            <a:off x="685800" y="4438650"/>
            <a:ext cx="5381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DFE8E4"/>
                </a:solidFill>
                <a:latin typeface="Arial"/>
                <a:ea typeface="Arial"/>
                <a:cs typeface="Arial"/>
              </a:defRPr>
            </a:pPr>
            <a:r>
              <a:rPr sz="1725" b="0">
                <a:solidFill>
                  <a:srgbClr val="DFE8E4"/>
                </a:solidFill>
                <a:latin typeface="Arial"/>
                <a:ea typeface="Arial"/>
                <a:cs typeface="Arial"/>
              </a:rPr>
              <a:t>Six constraints. Three recovery branches. One accountable human decision.</a:t>
            </a:r>
          </a:p>
        </p:txBody>
      </p:sp>
      <p:sp>
        <p:nvSpPr>
          <p:cNvPr id="10" name="">
            <a:extLst xmlns:a="http://schemas.openxmlformats.org/drawingml/2006/main">
              <a:ext uri="{FF2B5EF4-FFF2-40B4-BE49-F238E27FC236}">
                <a16:creationId xmlns:a16="http://schemas.microsoft.com/office/drawing/2014/main" id="{495716C3-2AF1-4A21-BED7-568DFA996190}"/>
              </a:ext>
            </a:extLst>
          </p:cNvPr>
          <p:cNvSpPr>
            <a:spLocks xmlns:a="http://schemas.openxmlformats.org/drawingml/2006/main" noGrp="1"/>
          </p:cNvSpPr>
          <p:nvPr/>
        </p:nvSpPr>
        <p:spPr>
          <a:xfrm xmlns:a="http://schemas.openxmlformats.org/drawingml/2006/main">
            <a:off x="685800" y="54102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109"/>
          </a:bodyPr>
          <a:lstStyle xmlns:a="http://schemas.openxmlformats.org/drawingml/2006/main"/>
          <a:p xmlns:a="http://schemas.openxmlformats.org/drawingml/2006/main">
            <a:pPr algn="l">
              <a:lnSpc>
                <a:spcPct val="90000"/>
              </a:lnSpc>
              <a:buNone/>
              <a:defRPr sz="2850" b="1">
                <a:solidFill>
                  <a:srgbClr val="C9F36B"/>
                </a:solidFill>
                <a:latin typeface="Arial"/>
                <a:ea typeface="Arial"/>
                <a:cs typeface="Arial"/>
              </a:defRPr>
            </a:pPr>
            <a:r>
              <a:rPr sz="2850" b="1">
                <a:solidFill>
                  <a:srgbClr val="C9F36B"/>
                </a:solidFill>
                <a:latin typeface="Arial"/>
                <a:ea typeface="Arial"/>
                <a:cs typeface="Arial"/>
              </a:rPr>
              <a:t>17:42 → 18:40</a:t>
            </a:r>
          </a:p>
        </p:txBody>
      </p:sp>
      <p:sp>
        <p:nvSpPr>
          <p:cNvPr id="11" name="">
            <a:extLst xmlns:a="http://schemas.openxmlformats.org/drawingml/2006/main">
              <a:ext uri="{FF2B5EF4-FFF2-40B4-BE49-F238E27FC236}">
                <a16:creationId xmlns:a16="http://schemas.microsoft.com/office/drawing/2014/main" id="{6D18BB48-FCA6-4654-A1B9-6567A60A0DAC}"/>
              </a:ext>
            </a:extLst>
          </p:cNvPr>
          <p:cNvSpPr>
            <a:spLocks xmlns:a="http://schemas.openxmlformats.org/drawingml/2006/main" noGrp="1"/>
          </p:cNvSpPr>
          <p:nvPr/>
        </p:nvSpPr>
        <p:spPr>
          <a:xfrm xmlns:a="http://schemas.openxmlformats.org/drawingml/2006/main">
            <a:off x="685800" y="5867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LOCAL OUTAGE WINDOW</a:t>
            </a:r>
          </a:p>
        </p:txBody>
      </p:sp>
      <p:sp>
        <p:nvSpPr>
          <p:cNvPr id="12" name="">
            <a:extLst xmlns:a="http://schemas.openxmlformats.org/drawingml/2006/main">
              <a:ext uri="{FF2B5EF4-FFF2-40B4-BE49-F238E27FC236}">
                <a16:creationId xmlns:a16="http://schemas.microsoft.com/office/drawing/2014/main" id="{73EF768A-4614-479D-B832-25B82172989B}"/>
              </a:ext>
            </a:extLst>
          </p:cNvPr>
          <p:cNvSpPr>
            <a:spLocks xmlns:a="http://schemas.openxmlformats.org/drawingml/2006/main" noGrp="1"/>
          </p:cNvSpPr>
          <p:nvPr/>
        </p:nvSpPr>
        <p:spPr>
          <a:xfrm xmlns:a="http://schemas.openxmlformats.org/drawingml/2006/main">
            <a:off x="2667000" y="54102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250" b="1">
                <a:solidFill>
                  <a:srgbClr val="C9F36B"/>
                </a:solidFill>
                <a:latin typeface="Arial"/>
                <a:ea typeface="Arial"/>
                <a:cs typeface="Arial"/>
              </a:defRPr>
            </a:pPr>
            <a:r>
              <a:rPr sz="2250" b="1">
                <a:solidFill>
                  <a:srgbClr val="C9F36B"/>
                </a:solidFill>
                <a:latin typeface="Arial"/>
                <a:ea typeface="Arial"/>
                <a:cs typeface="Arial"/>
              </a:rPr>
              <a:t>8 × 3 km</a:t>
            </a:r>
          </a:p>
        </p:txBody>
      </p:sp>
      <p:sp>
        <p:nvSpPr>
          <p:cNvPr id="13" name="">
            <a:extLst xmlns:a="http://schemas.openxmlformats.org/drawingml/2006/main">
              <a:ext uri="{FF2B5EF4-FFF2-40B4-BE49-F238E27FC236}">
                <a16:creationId xmlns:a16="http://schemas.microsoft.com/office/drawing/2014/main" id="{4D6EC87D-10A3-4F0B-8D06-D438AB15E89A}"/>
              </a:ext>
            </a:extLst>
          </p:cNvPr>
          <p:cNvSpPr>
            <a:spLocks xmlns:a="http://schemas.openxmlformats.org/drawingml/2006/main" noGrp="1"/>
          </p:cNvSpPr>
          <p:nvPr/>
        </p:nvSpPr>
        <p:spPr>
          <a:xfrm xmlns:a="http://schemas.openxmlformats.org/drawingml/2006/main">
            <a:off x="2667000" y="5867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SYNTHETIC ORDER · 8 DRUMS</a:t>
            </a:r>
          </a:p>
        </p:txBody>
      </p:sp>
      <p:sp>
        <p:nvSpPr>
          <p:cNvPr id="14" name="">
            <a:extLst xmlns:a="http://schemas.openxmlformats.org/drawingml/2006/main">
              <a:ext uri="{FF2B5EF4-FFF2-40B4-BE49-F238E27FC236}">
                <a16:creationId xmlns:a16="http://schemas.microsoft.com/office/drawing/2014/main" id="{23052D5F-0790-4495-B2A5-4C2655830B04}"/>
              </a:ext>
            </a:extLst>
          </p:cNvPr>
          <p:cNvSpPr>
            <a:spLocks xmlns:a="http://schemas.openxmlformats.org/drawingml/2006/main" noGrp="1"/>
          </p:cNvSpPr>
          <p:nvPr/>
        </p:nvSpPr>
        <p:spPr>
          <a:xfrm xmlns:a="http://schemas.openxmlformats.org/drawingml/2006/main">
            <a:off x="685800" y="62388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Oussama Akir · SUPCOM</a:t>
            </a:r>
          </a:p>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akir.oussama@gmail.com</a:t>
            </a:r>
          </a:p>
        </p:txBody>
      </p:sp>
    </p:spTree>
    <p:extLst>
      <p:ext uri="{BB962C8B-B14F-4D97-AF65-F5344CB8AC3E}">
        <p14:creationId xmlns:p14="http://schemas.microsoft.com/office/powerpoint/2010/main" val="658313335"/>
      </p:ext>
    </p:extLst>
  </p:cSld>
</p:sld>
</file>

<file path=ppt/slides/slide2.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3301A1-77D9-4DAA-A780-696EEB7D956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PROBLEM / OPPORTUNITY</a:t>
            </a:r>
          </a:p>
        </p:txBody>
      </p:sp>
      <p:sp>
        <p:nvSpPr>
          <p:cNvPr id="2" name="">
            <a:extLst xmlns:a="http://schemas.openxmlformats.org/drawingml/2006/main">
              <a:ext uri="{FF2B5EF4-FFF2-40B4-BE49-F238E27FC236}">
                <a16:creationId xmlns:a16="http://schemas.microsoft.com/office/drawing/2014/main" id="{E5FF1103-0EB3-4903-8307-F13871C1E18B}"/>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E9F25B1-50D0-4AE2-8F72-89905D4AD07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0BB3C853-590F-4C91-88AA-966AF3D320B7}"/>
              </a:ext>
            </a:extLst>
          </p:cNvPr>
          <p:cNvSpPr>
            <a:spLocks xmlns:a="http://schemas.openxmlformats.org/drawingml/2006/main" noGrp="1"/>
          </p:cNvSpPr>
          <p:nvPr/>
        </p:nvSpPr>
        <p:spPr>
          <a:xfrm xmlns:a="http://schemas.openxmlformats.org/drawingml/2006/main">
            <a:off x="685800" y="89535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10221F"/>
                </a:solidFill>
                <a:latin typeface="Arial"/>
                <a:ea typeface="Arial"/>
                <a:cs typeface="Arial"/>
              </a:defRPr>
            </a:pPr>
            <a:r>
              <a:rPr sz="3000" b="1">
                <a:solidFill>
                  <a:srgbClr val="10221F"/>
                </a:solidFill>
                <a:latin typeface="Arial"/>
                <a:ea typeface="Arial"/>
                <a:cs typeface="Arial"/>
              </a:rPr>
              <a:t>The grid returns. Decision uncertainty does not.</a:t>
            </a:r>
          </a:p>
        </p:txBody>
      </p:sp>
      <p:sp>
        <p:nvSpPr>
          <p:cNvPr id="5" name="">
            <a:extLst xmlns:a="http://schemas.openxmlformats.org/drawingml/2006/main">
              <a:ext uri="{FF2B5EF4-FFF2-40B4-BE49-F238E27FC236}">
                <a16:creationId xmlns:a16="http://schemas.microsoft.com/office/drawing/2014/main" id="{6AD06F30-7905-4909-98FF-E5CF1DE1D10E}"/>
              </a:ext>
            </a:extLst>
          </p:cNvPr>
          <p:cNvSpPr>
            <a:spLocks xmlns:a="http://schemas.openxmlformats.org/drawingml/2006/main" noGrp="1"/>
          </p:cNvSpPr>
          <p:nvPr/>
        </p:nvSpPr>
        <p:spPr>
          <a:xfrm xmlns:a="http://schemas.openxmlformats.org/drawingml/2006/main">
            <a:off x="685800" y="197167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17:42</a:t>
            </a:r>
          </a:p>
        </p:txBody>
      </p:sp>
      <p:sp>
        <p:nvSpPr>
          <p:cNvPr id="6" name="">
            <a:extLst xmlns:a="http://schemas.openxmlformats.org/drawingml/2006/main">
              <a:ext uri="{FF2B5EF4-FFF2-40B4-BE49-F238E27FC236}">
                <a16:creationId xmlns:a16="http://schemas.microsoft.com/office/drawing/2014/main" id="{DEEDD0AA-8673-4AF6-8F13-093DFEAE3640}"/>
              </a:ext>
            </a:extLst>
          </p:cNvPr>
          <p:cNvSpPr>
            <a:spLocks xmlns:a="http://schemas.openxmlformats.org/drawingml/2006/main" noGrp="1"/>
          </p:cNvSpPr>
          <p:nvPr/>
        </p:nvSpPr>
        <p:spPr>
          <a:xfrm xmlns:a="http://schemas.openxmlformats.org/drawingml/2006/main">
            <a:off x="685800" y="2428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LOCAL OUTAGE START</a:t>
            </a:r>
          </a:p>
        </p:txBody>
      </p:sp>
      <p:sp>
        <p:nvSpPr>
          <p:cNvPr id="7" name="">
            <a:extLst xmlns:a="http://schemas.openxmlformats.org/drawingml/2006/main">
              <a:ext uri="{FF2B5EF4-FFF2-40B4-BE49-F238E27FC236}">
                <a16:creationId xmlns:a16="http://schemas.microsoft.com/office/drawing/2014/main" id="{7C1AF792-5D85-4445-A1B6-954BBB6FB059}"/>
              </a:ext>
            </a:extLst>
          </p:cNvPr>
          <p:cNvSpPr>
            <a:spLocks xmlns:a="http://schemas.openxmlformats.org/drawingml/2006/main" noGrp="1"/>
          </p:cNvSpPr>
          <p:nvPr/>
        </p:nvSpPr>
        <p:spPr>
          <a:xfrm xmlns:a="http://schemas.openxmlformats.org/drawingml/2006/main">
            <a:off x="3429000" y="1971675"/>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58 min</a:t>
            </a:r>
          </a:p>
        </p:txBody>
      </p:sp>
      <p:sp>
        <p:nvSpPr>
          <p:cNvPr id="8" name="">
            <a:extLst xmlns:a="http://schemas.openxmlformats.org/drawingml/2006/main">
              <a:ext uri="{FF2B5EF4-FFF2-40B4-BE49-F238E27FC236}">
                <a16:creationId xmlns:a16="http://schemas.microsoft.com/office/drawing/2014/main" id="{1EC4A882-14AC-42F8-91C4-4B18A3BBB1ED}"/>
              </a:ext>
            </a:extLst>
          </p:cNvPr>
          <p:cNvSpPr>
            <a:spLocks xmlns:a="http://schemas.openxmlformats.org/drawingml/2006/main" noGrp="1"/>
          </p:cNvSpPr>
          <p:nvPr/>
        </p:nvSpPr>
        <p:spPr>
          <a:xfrm xmlns:a="http://schemas.openxmlformats.org/drawingml/2006/main">
            <a:off x="3429000" y="242887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OPERATOR-ENTERED WINDOW</a:t>
            </a:r>
          </a:p>
        </p:txBody>
      </p:sp>
      <p:sp>
        <p:nvSpPr>
          <p:cNvPr id="9" name="">
            <a:extLst xmlns:a="http://schemas.openxmlformats.org/drawingml/2006/main">
              <a:ext uri="{FF2B5EF4-FFF2-40B4-BE49-F238E27FC236}">
                <a16:creationId xmlns:a16="http://schemas.microsoft.com/office/drawing/2014/main" id="{66C865C6-1DC0-452E-A73D-9C5D4783E11E}"/>
              </a:ext>
            </a:extLst>
          </p:cNvPr>
          <p:cNvSpPr>
            <a:spLocks xmlns:a="http://schemas.openxmlformats.org/drawingml/2006/main" noGrp="1"/>
          </p:cNvSpPr>
          <p:nvPr/>
        </p:nvSpPr>
        <p:spPr>
          <a:xfrm xmlns:a="http://schemas.openxmlformats.org/drawingml/2006/main">
            <a:off x="685800" y="30861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T7 HOLD</a:t>
            </a:r>
          </a:p>
        </p:txBody>
      </p:sp>
      <p:sp>
        <p:nvSpPr>
          <p:cNvPr id="10" name="">
            <a:extLst xmlns:a="http://schemas.openxmlformats.org/drawingml/2006/main">
              <a:ext uri="{FF2B5EF4-FFF2-40B4-BE49-F238E27FC236}">
                <a16:creationId xmlns:a16="http://schemas.microsoft.com/office/drawing/2014/main" id="{E6CBF7B8-71AE-451B-8126-43473CA8C52C}"/>
              </a:ext>
            </a:extLst>
          </p:cNvPr>
          <p:cNvSpPr>
            <a:spLocks xmlns:a="http://schemas.openxmlformats.org/drawingml/2006/main" noGrp="1"/>
          </p:cNvSpPr>
          <p:nvPr/>
        </p:nvSpPr>
        <p:spPr>
          <a:xfrm xmlns:a="http://schemas.openxmlformats.org/drawingml/2006/main">
            <a:off x="685800" y="3543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T8 NOT STARTED · REPLANNED</a:t>
            </a:r>
          </a:p>
        </p:txBody>
      </p:sp>
      <p:sp>
        <p:nvSpPr>
          <p:cNvPr id="11" name="">
            <a:extLst xmlns:a="http://schemas.openxmlformats.org/drawingml/2006/main">
              <a:ext uri="{FF2B5EF4-FFF2-40B4-BE49-F238E27FC236}">
                <a16:creationId xmlns:a16="http://schemas.microsoft.com/office/drawing/2014/main" id="{53BFC5D8-198B-4C59-96D5-FBEF8070FADB}"/>
              </a:ext>
            </a:extLst>
          </p:cNvPr>
          <p:cNvSpPr>
            <a:spLocks xmlns:a="http://schemas.openxmlformats.org/drawingml/2006/main" noGrp="1"/>
          </p:cNvSpPr>
          <p:nvPr/>
        </p:nvSpPr>
        <p:spPr>
          <a:xfrm xmlns:a="http://schemas.openxmlformats.org/drawingml/2006/main">
            <a:off x="685800" y="4143375"/>
            <a:ext cx="4667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30"/>
          </a:bodyPr>
          <a:lstStyle xmlns:a="http://schemas.openxmlformats.org/drawingml/2006/main"/>
          <a:p xmlns:a="http://schemas.openxmlformats.org/drawingml/2006/main">
            <a:pPr algn="l">
              <a:lnSpc>
                <a:spcPct val="103000"/>
              </a:lnSpc>
              <a:buNone/>
              <a:defRPr sz="1875" b="1">
                <a:solidFill>
                  <a:srgbClr val="10221F"/>
                </a:solidFill>
                <a:latin typeface="Arial"/>
                <a:ea typeface="Arial"/>
                <a:cs typeface="Arial"/>
              </a:defRPr>
            </a:pPr>
            <a:r>
              <a:rPr sz="1875" b="1">
                <a:solidFill>
                  <a:srgbClr val="10221F"/>
                </a:solidFill>
                <a:latin typeface="Arial"/>
                <a:ea typeface="Arial"/>
                <a:cs typeface="Arial"/>
              </a:rPr>
              <a:t>Restart too fast and Quality loses evidence. Wait blindly and the customer schedule loses time.</a:t>
            </a:r>
          </a:p>
        </p:txBody>
      </p:sp>
      <p:sp>
        <p:nvSpPr>
          <p:cNvPr id="12" name="">
            <a:extLst xmlns:a="http://schemas.openxmlformats.org/drawingml/2006/main">
              <a:ext uri="{FF2B5EF4-FFF2-40B4-BE49-F238E27FC236}">
                <a16:creationId xmlns:a16="http://schemas.microsoft.com/office/drawing/2014/main" id="{208FB2AC-D47B-4349-B048-9EA2CBAD607E}"/>
              </a:ext>
            </a:extLst>
          </p:cNvPr>
          <p:cNvSpPr>
            <a:spLocks xmlns:a="http://schemas.openxmlformats.org/drawingml/2006/main" noGrp="1"/>
          </p:cNvSpPr>
          <p:nvPr/>
        </p:nvSpPr>
        <p:spPr>
          <a:xfrm xmlns:a="http://schemas.openxmlformats.org/drawingml/2006/main">
            <a:off x="5657850" y="1790700"/>
            <a:ext cx="5848350" cy="3924300"/>
          </a:xfrm>
          <a:prstGeom xmlns:a="http://schemas.openxmlformats.org/drawingml/2006/main" prst="roundRect">
            <a:avLst>
              <a:gd name="adj" fmla="val 4369"/>
            </a:avLst>
          </a:prstGeom>
          <a:solidFill xmlns:a="http://schemas.openxmlformats.org/drawingml/2006/main">
            <a:srgbClr val="092925"/>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1996b93511e4e31"/>
          <a:srcRect xmlns:a="http://schemas.openxmlformats.org/drawingml/2006/main" l="6924" t="0" r="6924" b="0"/>
          <a:stretch xmlns:a="http://schemas.openxmlformats.org/drawingml/2006/main">
            <a:fillRect l="0" t="0" r="0" b="0"/>
          </a:stretch>
        </p:blipFill>
        <p:spPr>
          <a:xfrm xmlns:a="http://schemas.openxmlformats.org/drawingml/2006/main">
            <a:off x="5810250" y="1943100"/>
            <a:ext cx="5543550" cy="3619500"/>
          </a:xfrm>
          <a:prstGeom xmlns:a="http://schemas.openxmlformats.org/drawingml/2006/main" prst="roundRect">
            <a:avLst>
              <a:gd name="adj" fmla="val 3684"/>
            </a:avLst>
          </a:prstGeom>
        </p:spPr>
      </p:pic>
      <p:sp>
        <p:nvSpPr>
          <p:cNvPr id="14" name="">
            <a:extLst xmlns:a="http://schemas.openxmlformats.org/drawingml/2006/main">
              <a:ext uri="{FF2B5EF4-FFF2-40B4-BE49-F238E27FC236}">
                <a16:creationId xmlns:a16="http://schemas.microsoft.com/office/drawing/2014/main" id="{E3F9028F-7951-4D1B-82F4-B3F5468905AF}"/>
              </a:ext>
            </a:extLst>
          </p:cNvPr>
          <p:cNvSpPr>
            <a:spLocks xmlns:a="http://schemas.openxmlformats.org/drawingml/2006/main" noGrp="1"/>
          </p:cNvSpPr>
          <p:nvPr/>
        </p:nvSpPr>
        <p:spPr>
          <a:xfrm xmlns:a="http://schemas.openxmlformats.org/drawingml/2006/main">
            <a:off x="5962650" y="4762500"/>
            <a:ext cx="5219700" cy="590550"/>
          </a:xfrm>
          <a:prstGeom xmlns:a="http://schemas.openxmlformats.org/drawingml/2006/main" prst="roundRect">
            <a:avLst>
              <a:gd name="adj" fmla="val 19355"/>
            </a:avLst>
          </a:prstGeom>
          <a:solidFill xmlns:a="http://schemas.openxmlformats.org/drawingml/2006/main">
            <a:srgbClr val="061E1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ED7DCC-B91E-493B-B46A-662AB5368F68}"/>
              </a:ext>
            </a:extLst>
          </p:cNvPr>
          <p:cNvSpPr>
            <a:spLocks xmlns:a="http://schemas.openxmlformats.org/drawingml/2006/main" noGrp="1"/>
          </p:cNvSpPr>
          <p:nvPr/>
        </p:nvSpPr>
        <p:spPr>
          <a:xfrm xmlns:a="http://schemas.openxmlformats.org/drawingml/2006/main">
            <a:off x="6153150" y="49244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92"/>
          </a:bodyPr>
          <a:lstStyle xmlns:a="http://schemas.openxmlformats.org/drawingml/2006/main"/>
          <a:p xmlns:a="http://schemas.openxmlformats.org/drawingml/2006/main">
            <a:pPr algn="l">
              <a:lnSpc>
                <a:spcPct val="100000"/>
              </a:lnSpc>
              <a:buNone/>
              <a:defRPr sz="1425" b="1">
                <a:solidFill>
                  <a:srgbClr val="E9763B"/>
                </a:solidFill>
                <a:latin typeface="Arial"/>
                <a:ea typeface="Arial"/>
                <a:cs typeface="Arial"/>
              </a:defRPr>
            </a:pPr>
            <a:r>
              <a:rPr sz="1425" b="1">
                <a:solidFill>
                  <a:srgbClr val="E9763B"/>
                </a:solidFill>
                <a:latin typeface="Arial"/>
                <a:ea typeface="Arial"/>
                <a:cs typeface="Arial"/>
              </a:rPr>
              <a:t>T7 IN CCV · T1–T6 OUTSIDE INCIDENT · T8 REPLANNED</a:t>
            </a:r>
          </a:p>
        </p:txBody>
      </p:sp>
      <p:sp>
        <p:nvSpPr>
          <p:cNvPr id="16" name="">
            <a:extLst xmlns:a="http://schemas.openxmlformats.org/drawingml/2006/main">
              <a:ext uri="{FF2B5EF4-FFF2-40B4-BE49-F238E27FC236}">
                <a16:creationId xmlns:a16="http://schemas.microsoft.com/office/drawing/2014/main" id="{2DDEA2B5-A249-495B-8120-91080CD643DB}"/>
              </a:ext>
            </a:extLst>
          </p:cNvPr>
          <p:cNvSpPr>
            <a:spLocks xmlns:a="http://schemas.openxmlformats.org/drawingml/2006/main" noGrp="1"/>
          </p:cNvSpPr>
          <p:nvPr/>
        </p:nvSpPr>
        <p:spPr>
          <a:xfrm xmlns:a="http://schemas.openxmlformats.org/drawingml/2006/main">
            <a:off x="685800" y="5429250"/>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53645F"/>
                </a:solidFill>
                <a:latin typeface="Arial"/>
                <a:ea typeface="Arial"/>
                <a:cs typeface="Arial"/>
              </a:defRPr>
            </a:pPr>
            <a:r>
              <a:rPr sz="1275" b="0">
                <a:solidFill>
                  <a:srgbClr val="53645F"/>
                </a:solidFill>
                <a:latin typeface="Arial"/>
                <a:ea typeface="Arial"/>
                <a:cs typeface="Arial"/>
              </a:rPr>
              <a:t>Factory, order and constraints are synthetic. CableTwin does not predict the outage.</a:t>
            </a:r>
          </a:p>
        </p:txBody>
      </p:sp>
      <p:sp>
        <p:nvSpPr>
          <p:cNvPr id="17" name="">
            <a:extLst xmlns:a="http://schemas.openxmlformats.org/drawingml/2006/main">
              <a:ext uri="{FF2B5EF4-FFF2-40B4-BE49-F238E27FC236}">
                <a16:creationId xmlns:a16="http://schemas.microsoft.com/office/drawing/2014/main" id="{81AE966C-9CC2-45C3-8660-513DECB4B2F5}"/>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Fully synthetic factory scenario</a:t>
            </a:r>
          </a:p>
        </p:txBody>
      </p:sp>
      <p:sp>
        <p:nvSpPr>
          <p:cNvPr id="18" name="">
            <a:extLst xmlns:a="http://schemas.openxmlformats.org/drawingml/2006/main">
              <a:ext uri="{FF2B5EF4-FFF2-40B4-BE49-F238E27FC236}">
                <a16:creationId xmlns:a16="http://schemas.microsoft.com/office/drawing/2014/main" id="{F31B0F64-791E-4120-BEF2-384BFC2EE8AF}"/>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Context: TAP / La Presse · 17–18 July 2026</a:t>
            </a:r>
          </a:p>
        </p:txBody>
      </p:sp>
    </p:spTree>
    <p:extLst>
      <p:ext uri="{BB962C8B-B14F-4D97-AF65-F5344CB8AC3E}">
        <p14:creationId xmlns:p14="http://schemas.microsoft.com/office/powerpoint/2010/main" val="425557380"/>
      </p:ext>
    </p:extLst>
  </p:cSld>
</p:sld>
</file>

<file path=ppt/slides/slide3.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270E138-B934-4A09-B0F9-686DC6E78739}"/>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VALUE PROPOSITION</a:t>
            </a:r>
          </a:p>
        </p:txBody>
      </p:sp>
      <p:sp>
        <p:nvSpPr>
          <p:cNvPr id="2" name="">
            <a:extLst xmlns:a="http://schemas.openxmlformats.org/drawingml/2006/main">
              <a:ext uri="{FF2B5EF4-FFF2-40B4-BE49-F238E27FC236}">
                <a16:creationId xmlns:a16="http://schemas.microsoft.com/office/drawing/2014/main" id="{A5A66EFB-64EC-4FDD-97F3-0493E0B4941E}"/>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B350EA1-8837-40A6-952F-DE6951A08DA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64333EF5-DEC3-4932-9834-24E2EE5274B1}"/>
              </a:ext>
            </a:extLst>
          </p:cNvPr>
          <p:cNvSpPr>
            <a:spLocks xmlns:a="http://schemas.openxmlformats.org/drawingml/2006/main" noGrp="1"/>
          </p:cNvSpPr>
          <p:nvPr/>
        </p:nvSpPr>
        <p:spPr>
          <a:xfrm xmlns:a="http://schemas.openxmlformats.org/drawingml/2006/main">
            <a:off x="685800" y="857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a:solidFill>
                  <a:srgbClr val="F5F4ED"/>
                </a:solidFill>
                <a:latin typeface="Arial"/>
                <a:ea typeface="Arial"/>
                <a:cs typeface="Arial"/>
              </a:defRPr>
            </a:pPr>
            <a:r>
              <a:rPr sz="2925" b="1">
                <a:solidFill>
                  <a:srgbClr val="F5F4ED"/>
                </a:solidFill>
                <a:latin typeface="Arial"/>
                <a:ea typeface="Arial"/>
                <a:cs typeface="Arial"/>
              </a:rPr>
              <a:t>ML retrieves. The twin tests. Humans authorize.</a:t>
            </a:r>
          </a:p>
        </p:txBody>
      </p:sp>
      <p:sp>
        <p:nvSpPr>
          <p:cNvPr id="5" name="">
            <a:extLst xmlns:a="http://schemas.openxmlformats.org/drawingml/2006/main">
              <a:ext uri="{FF2B5EF4-FFF2-40B4-BE49-F238E27FC236}">
                <a16:creationId xmlns:a16="http://schemas.microsoft.com/office/drawing/2014/main" id="{26E1C5D9-5AAA-40EB-A9AC-242BD66CA9B2}"/>
              </a:ext>
            </a:extLst>
          </p:cNvPr>
          <p:cNvSpPr>
            <a:spLocks xmlns:a="http://schemas.openxmlformats.org/drawingml/2006/main" noGrp="1"/>
          </p:cNvSpPr>
          <p:nvPr/>
        </p:nvSpPr>
        <p:spPr>
          <a:xfrm xmlns:a="http://schemas.openxmlformats.org/drawingml/2006/main">
            <a:off x="685800" y="14954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One decision layer across energy, process, quality, people, material and delivery.</a:t>
            </a:r>
          </a:p>
        </p:txBody>
      </p:sp>
      <p:sp>
        <p:nvSpPr>
          <p:cNvPr id="6" name="">
            <a:extLst xmlns:a="http://schemas.openxmlformats.org/drawingml/2006/main">
              <a:ext uri="{FF2B5EF4-FFF2-40B4-BE49-F238E27FC236}">
                <a16:creationId xmlns:a16="http://schemas.microsoft.com/office/drawing/2014/main" id="{38AB767C-7E35-476A-B729-5315DBDA32E4}"/>
              </a:ext>
            </a:extLst>
          </p:cNvPr>
          <p:cNvSpPr>
            <a:spLocks xmlns:a="http://schemas.openxmlformats.org/drawingml/2006/main" noGrp="1"/>
          </p:cNvSpPr>
          <p:nvPr/>
        </p:nvSpPr>
        <p:spPr>
          <a:xfrm xmlns:a="http://schemas.openxmlformats.org/drawingml/2006/main">
            <a:off x="685800" y="2057400"/>
            <a:ext cx="2190750" cy="2857500"/>
          </a:xfrm>
          <a:prstGeom xmlns:a="http://schemas.openxmlformats.org/drawingml/2006/main" prst="roundRect">
            <a:avLst>
              <a:gd name="adj" fmla="val 7826"/>
            </a:avLst>
          </a:prstGeom>
          <a:solidFill xmlns:a="http://schemas.openxmlformats.org/drawingml/2006/main">
            <a:srgbClr val="061E1B"/>
          </a:solidFill>
          <a:ln xmlns:a="http://schemas.openxmlformats.org/drawingml/2006/main" w="9525">
            <a:solidFill>
              <a:srgbClr val="E9763B"/>
            </a:solidFill>
            <a:prstDash val="solid"/>
          </a:ln>
        </p:spPr>
      </p:sp>
      <p:sp>
        <p:nvSpPr>
          <p:cNvPr id="7" name="">
            <a:extLst xmlns:a="http://schemas.openxmlformats.org/drawingml/2006/main">
              <a:ext uri="{FF2B5EF4-FFF2-40B4-BE49-F238E27FC236}">
                <a16:creationId xmlns:a16="http://schemas.microsoft.com/office/drawing/2014/main" id="{3F4E6148-5D6D-44B4-9224-FEF7A0129D63}"/>
              </a:ext>
            </a:extLst>
          </p:cNvPr>
          <p:cNvSpPr>
            <a:spLocks xmlns:a="http://schemas.openxmlformats.org/drawingml/2006/main" noGrp="1"/>
          </p:cNvSpPr>
          <p:nvPr/>
        </p:nvSpPr>
        <p:spPr>
          <a:xfrm xmlns:a="http://schemas.openxmlformats.org/drawingml/2006/main">
            <a:off x="685800" y="2057400"/>
            <a:ext cx="2190750" cy="57150"/>
          </a:xfrm>
          <a:prstGeom xmlns:a="http://schemas.openxmlformats.org/drawingml/2006/main" prst="roundRect">
            <a:avLst>
              <a:gd name="adj" fmla="val 50000"/>
            </a:avLst>
          </a:prstGeom>
          <a:solidFill xmlns:a="http://schemas.openxmlformats.org/drawingml/2006/main">
            <a:srgbClr val="E976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F96E94-18C4-4D05-BF68-1BE3D9CE25BC}"/>
              </a:ext>
            </a:extLst>
          </p:cNvPr>
          <p:cNvSpPr>
            <a:spLocks xmlns:a="http://schemas.openxmlformats.org/drawingml/2006/main" noGrp="1"/>
          </p:cNvSpPr>
          <p:nvPr/>
        </p:nvSpPr>
        <p:spPr>
          <a:xfrm xmlns:a="http://schemas.openxmlformats.org/drawingml/2006/main">
            <a:off x="876300" y="23241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01 · INCIDENT</a:t>
            </a:r>
          </a:p>
        </p:txBody>
      </p:sp>
      <p:sp>
        <p:nvSpPr>
          <p:cNvPr id="9" name="">
            <a:extLst xmlns:a="http://schemas.openxmlformats.org/drawingml/2006/main">
              <a:ext uri="{FF2B5EF4-FFF2-40B4-BE49-F238E27FC236}">
                <a16:creationId xmlns:a16="http://schemas.microsoft.com/office/drawing/2014/main" id="{39423FDB-D682-47B1-A97F-D20E812D41DF}"/>
              </a:ext>
            </a:extLst>
          </p:cNvPr>
          <p:cNvSpPr>
            <a:spLocks xmlns:a="http://schemas.openxmlformats.org/drawingml/2006/main" noGrp="1"/>
          </p:cNvSpPr>
          <p:nvPr/>
        </p:nvSpPr>
        <p:spPr>
          <a:xfrm xmlns:a="http://schemas.openxmlformats.org/drawingml/2006/main">
            <a:off x="876300" y="2686050"/>
            <a:ext cx="180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Synthetic plant state</a:t>
            </a:r>
          </a:p>
        </p:txBody>
      </p:sp>
      <p:sp>
        <p:nvSpPr>
          <p:cNvPr id="10" name="">
            <a:extLst xmlns:a="http://schemas.openxmlformats.org/drawingml/2006/main">
              <a:ext uri="{FF2B5EF4-FFF2-40B4-BE49-F238E27FC236}">
                <a16:creationId xmlns:a16="http://schemas.microsoft.com/office/drawing/2014/main" id="{A2F4B193-B834-4380-A194-F2B0F1BCC5D3}"/>
              </a:ext>
            </a:extLst>
          </p:cNvPr>
          <p:cNvSpPr>
            <a:spLocks xmlns:a="http://schemas.openxmlformats.org/drawingml/2006/main" noGrp="1"/>
          </p:cNvSpPr>
          <p:nvPr/>
        </p:nvSpPr>
        <p:spPr>
          <a:xfrm xmlns:a="http://schemas.openxmlformats.org/drawingml/2006/main">
            <a:off x="876300" y="3467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58-min outage</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T7 HOLD · T8 replanned</a:t>
            </a:r>
          </a:p>
        </p:txBody>
      </p:sp>
      <p:sp>
        <p:nvSpPr>
          <p:cNvPr id="11" name="">
            <a:extLst xmlns:a="http://schemas.openxmlformats.org/drawingml/2006/main">
              <a:ext uri="{FF2B5EF4-FFF2-40B4-BE49-F238E27FC236}">
                <a16:creationId xmlns:a16="http://schemas.microsoft.com/office/drawing/2014/main" id="{E096F9A8-0B2E-4203-AF54-A663A957AE8B}"/>
              </a:ext>
            </a:extLst>
          </p:cNvPr>
          <p:cNvSpPr>
            <a:spLocks xmlns:a="http://schemas.openxmlformats.org/drawingml/2006/main" noGrp="1"/>
          </p:cNvSpPr>
          <p:nvPr/>
        </p:nvSpPr>
        <p:spPr>
          <a:xfrm xmlns:a="http://schemas.openxmlformats.org/drawingml/2006/main">
            <a:off x="876300" y="4324350"/>
            <a:ext cx="18097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2" name="">
            <a:extLst xmlns:a="http://schemas.openxmlformats.org/drawingml/2006/main">
              <a:ext uri="{FF2B5EF4-FFF2-40B4-BE49-F238E27FC236}">
                <a16:creationId xmlns:a16="http://schemas.microsoft.com/office/drawing/2014/main" id="{BBA0E5EA-F450-4DDA-ABE4-675DEBE635C3}"/>
              </a:ext>
            </a:extLst>
          </p:cNvPr>
          <p:cNvSpPr>
            <a:spLocks xmlns:a="http://schemas.openxmlformats.org/drawingml/2006/main" noGrp="1"/>
          </p:cNvSpPr>
          <p:nvPr/>
        </p:nvSpPr>
        <p:spPr>
          <a:xfrm xmlns:a="http://schemas.openxmlformats.org/drawingml/2006/main">
            <a:off x="876300" y="44577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Operator-entered event</a:t>
            </a:r>
          </a:p>
        </p:txBody>
      </p:sp>
      <p:sp>
        <p:nvSpPr>
          <p:cNvPr id="13" name="">
            <a:extLst xmlns:a="http://schemas.openxmlformats.org/drawingml/2006/main">
              <a:ext uri="{FF2B5EF4-FFF2-40B4-BE49-F238E27FC236}">
                <a16:creationId xmlns:a16="http://schemas.microsoft.com/office/drawing/2014/main" id="{D1864CC2-3DDF-4FA7-B728-5071CACEBB9B}"/>
              </a:ext>
            </a:extLst>
          </p:cNvPr>
          <p:cNvSpPr>
            <a:spLocks xmlns:a="http://schemas.openxmlformats.org/drawingml/2006/main" noGrp="1"/>
          </p:cNvSpPr>
          <p:nvPr/>
        </p:nvSpPr>
        <p:spPr>
          <a:xfrm xmlns:a="http://schemas.openxmlformats.org/drawingml/2006/main">
            <a:off x="32194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C9F36B"/>
            </a:solidFill>
            <a:prstDash val="solid"/>
          </a:ln>
        </p:spPr>
      </p:sp>
      <p:sp>
        <p:nvSpPr>
          <p:cNvPr id="14" name="">
            <a:extLst xmlns:a="http://schemas.openxmlformats.org/drawingml/2006/main">
              <a:ext uri="{FF2B5EF4-FFF2-40B4-BE49-F238E27FC236}">
                <a16:creationId xmlns:a16="http://schemas.microsoft.com/office/drawing/2014/main" id="{7233F9F3-9DF8-4561-B27C-4C637CBB1859}"/>
              </a:ext>
            </a:extLst>
          </p:cNvPr>
          <p:cNvSpPr>
            <a:spLocks xmlns:a="http://schemas.openxmlformats.org/drawingml/2006/main" noGrp="1"/>
          </p:cNvSpPr>
          <p:nvPr/>
        </p:nvSpPr>
        <p:spPr>
          <a:xfrm xmlns:a="http://schemas.openxmlformats.org/drawingml/2006/main">
            <a:off x="3219450" y="2057400"/>
            <a:ext cx="247650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6491678-8BFF-437D-B6E0-F91A84CCD72C}"/>
              </a:ext>
            </a:extLst>
          </p:cNvPr>
          <p:cNvSpPr>
            <a:spLocks xmlns:a="http://schemas.openxmlformats.org/drawingml/2006/main" noGrp="1"/>
          </p:cNvSpPr>
          <p:nvPr/>
        </p:nvSpPr>
        <p:spPr>
          <a:xfrm xmlns:a="http://schemas.openxmlformats.org/drawingml/2006/main">
            <a:off x="34099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02 · RETRIEVE</a:t>
            </a:r>
          </a:p>
        </p:txBody>
      </p:sp>
      <p:sp>
        <p:nvSpPr>
          <p:cNvPr id="16" name="">
            <a:extLst xmlns:a="http://schemas.openxmlformats.org/drawingml/2006/main">
              <a:ext uri="{FF2B5EF4-FFF2-40B4-BE49-F238E27FC236}">
                <a16:creationId xmlns:a16="http://schemas.microsoft.com/office/drawing/2014/main" id="{41D307DB-0A05-463C-99D2-9E3130B16F69}"/>
              </a:ext>
            </a:extLst>
          </p:cNvPr>
          <p:cNvSpPr>
            <a:spLocks xmlns:a="http://schemas.openxmlformats.org/drawingml/2006/main" noGrp="1"/>
          </p:cNvSpPr>
          <p:nvPr/>
        </p:nvSpPr>
        <p:spPr>
          <a:xfrm xmlns:a="http://schemas.openxmlformats.org/drawingml/2006/main">
            <a:off x="34099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Local case retrieval</a:t>
            </a:r>
          </a:p>
        </p:txBody>
      </p:sp>
      <p:sp>
        <p:nvSpPr>
          <p:cNvPr id="17" name="">
            <a:extLst xmlns:a="http://schemas.openxmlformats.org/drawingml/2006/main">
              <a:ext uri="{FF2B5EF4-FFF2-40B4-BE49-F238E27FC236}">
                <a16:creationId xmlns:a16="http://schemas.microsoft.com/office/drawing/2014/main" id="{FDBA36A2-EE0E-48FD-B902-D36B51FCC202}"/>
              </a:ext>
            </a:extLst>
          </p:cNvPr>
          <p:cNvSpPr>
            <a:spLocks xmlns:a="http://schemas.openxmlformats.org/drawingml/2006/main" noGrp="1"/>
          </p:cNvSpPr>
          <p:nvPr/>
        </p:nvSpPr>
        <p:spPr>
          <a:xfrm xmlns:a="http://schemas.openxmlformats.org/drawingml/2006/main">
            <a:off x="34099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Comparable cases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Distance · differences · OOD</a:t>
            </a:r>
          </a:p>
        </p:txBody>
      </p:sp>
      <p:sp>
        <p:nvSpPr>
          <p:cNvPr id="18" name="">
            <a:extLst xmlns:a="http://schemas.openxmlformats.org/drawingml/2006/main">
              <a:ext uri="{FF2B5EF4-FFF2-40B4-BE49-F238E27FC236}">
                <a16:creationId xmlns:a16="http://schemas.microsoft.com/office/drawing/2014/main" id="{A4C8147D-E229-4E6A-A324-9CEFF399910A}"/>
              </a:ext>
            </a:extLst>
          </p:cNvPr>
          <p:cNvSpPr>
            <a:spLocks xmlns:a="http://schemas.openxmlformats.org/drawingml/2006/main" noGrp="1"/>
          </p:cNvSpPr>
          <p:nvPr/>
        </p:nvSpPr>
        <p:spPr>
          <a:xfrm xmlns:a="http://schemas.openxmlformats.org/drawingml/2006/main">
            <a:off x="34099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9" name="">
            <a:extLst xmlns:a="http://schemas.openxmlformats.org/drawingml/2006/main">
              <a:ext uri="{FF2B5EF4-FFF2-40B4-BE49-F238E27FC236}">
                <a16:creationId xmlns:a16="http://schemas.microsoft.com/office/drawing/2014/main" id="{04EAA770-4E94-4E98-A331-B2BA6C4D0F96}"/>
              </a:ext>
            </a:extLst>
          </p:cNvPr>
          <p:cNvSpPr>
            <a:spLocks xmlns:a="http://schemas.openxmlformats.org/drawingml/2006/main" noGrp="1"/>
          </p:cNvSpPr>
          <p:nvPr/>
        </p:nvSpPr>
        <p:spPr>
          <a:xfrm xmlns:a="http://schemas.openxmlformats.org/drawingml/2006/main">
            <a:off x="34099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Advisory ML only</a:t>
            </a:r>
          </a:p>
        </p:txBody>
      </p:sp>
      <p:sp>
        <p:nvSpPr>
          <p:cNvPr id="20" name="">
            <a:extLst xmlns:a="http://schemas.openxmlformats.org/drawingml/2006/main">
              <a:ext uri="{FF2B5EF4-FFF2-40B4-BE49-F238E27FC236}">
                <a16:creationId xmlns:a16="http://schemas.microsoft.com/office/drawing/2014/main" id="{B208C886-FCEF-4DCD-8F59-6878E4AA0167}"/>
              </a:ext>
            </a:extLst>
          </p:cNvPr>
          <p:cNvSpPr>
            <a:spLocks xmlns:a="http://schemas.openxmlformats.org/drawingml/2006/main" noGrp="1"/>
          </p:cNvSpPr>
          <p:nvPr/>
        </p:nvSpPr>
        <p:spPr>
          <a:xfrm xmlns:a="http://schemas.openxmlformats.org/drawingml/2006/main">
            <a:off x="60388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4EC5BC"/>
            </a:solidFill>
            <a:prstDash val="solid"/>
          </a:ln>
        </p:spPr>
      </p:sp>
      <p:sp>
        <p:nvSpPr>
          <p:cNvPr id="21" name="">
            <a:extLst xmlns:a="http://schemas.openxmlformats.org/drawingml/2006/main">
              <a:ext uri="{FF2B5EF4-FFF2-40B4-BE49-F238E27FC236}">
                <a16:creationId xmlns:a16="http://schemas.microsoft.com/office/drawing/2014/main" id="{21AD9CB3-1D8E-468A-9746-B367AD5B8D9C}"/>
              </a:ext>
            </a:extLst>
          </p:cNvPr>
          <p:cNvSpPr>
            <a:spLocks xmlns:a="http://schemas.openxmlformats.org/drawingml/2006/main" noGrp="1"/>
          </p:cNvSpPr>
          <p:nvPr/>
        </p:nvSpPr>
        <p:spPr>
          <a:xfrm xmlns:a="http://schemas.openxmlformats.org/drawingml/2006/main">
            <a:off x="6038850" y="2057400"/>
            <a:ext cx="2476500" cy="57150"/>
          </a:xfrm>
          <a:prstGeom xmlns:a="http://schemas.openxmlformats.org/drawingml/2006/main" prst="roundRect">
            <a:avLst>
              <a:gd name="adj" fmla="val 50000"/>
            </a:avLst>
          </a:prstGeom>
          <a:solidFill xmlns:a="http://schemas.openxmlformats.org/drawingml/2006/main">
            <a:srgbClr val="4EC5B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5B5096-B1D9-4E6A-B9C6-810636429C54}"/>
              </a:ext>
            </a:extLst>
          </p:cNvPr>
          <p:cNvSpPr>
            <a:spLocks xmlns:a="http://schemas.openxmlformats.org/drawingml/2006/main" noGrp="1"/>
          </p:cNvSpPr>
          <p:nvPr/>
        </p:nvSpPr>
        <p:spPr>
          <a:xfrm xmlns:a="http://schemas.openxmlformats.org/drawingml/2006/main">
            <a:off x="62293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4EC5BC"/>
                </a:solidFill>
                <a:latin typeface="Arial"/>
                <a:ea typeface="Arial"/>
                <a:cs typeface="Arial"/>
              </a:defRPr>
            </a:pPr>
            <a:r>
              <a:rPr sz="900" b="1">
                <a:solidFill>
                  <a:srgbClr val="4EC5BC"/>
                </a:solidFill>
                <a:latin typeface="Arial"/>
                <a:ea typeface="Arial"/>
                <a:cs typeface="Arial"/>
              </a:rPr>
              <a:t>03 · SIMULATE</a:t>
            </a:r>
          </a:p>
        </p:txBody>
      </p:sp>
      <p:sp>
        <p:nvSpPr>
          <p:cNvPr id="23" name="">
            <a:extLst xmlns:a="http://schemas.openxmlformats.org/drawingml/2006/main">
              <a:ext uri="{FF2B5EF4-FFF2-40B4-BE49-F238E27FC236}">
                <a16:creationId xmlns:a16="http://schemas.microsoft.com/office/drawing/2014/main" id="{277B8170-8A6A-4C12-BDAF-5449EE82B1FB}"/>
              </a:ext>
            </a:extLst>
          </p:cNvPr>
          <p:cNvSpPr>
            <a:spLocks xmlns:a="http://schemas.openxmlformats.org/drawingml/2006/main" noGrp="1"/>
          </p:cNvSpPr>
          <p:nvPr/>
        </p:nvSpPr>
        <p:spPr>
          <a:xfrm xmlns:a="http://schemas.openxmlformats.org/drawingml/2006/main">
            <a:off x="62293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Bounded digital twin</a:t>
            </a:r>
          </a:p>
        </p:txBody>
      </p:sp>
      <p:sp>
        <p:nvSpPr>
          <p:cNvPr id="24" name="">
            <a:extLst xmlns:a="http://schemas.openxmlformats.org/drawingml/2006/main">
              <a:ext uri="{FF2B5EF4-FFF2-40B4-BE49-F238E27FC236}">
                <a16:creationId xmlns:a16="http://schemas.microsoft.com/office/drawing/2014/main" id="{D597AE7E-E975-4FAB-8B8C-342ED2C0E436}"/>
              </a:ext>
            </a:extLst>
          </p:cNvPr>
          <p:cNvSpPr>
            <a:spLocks xmlns:a="http://schemas.openxmlformats.org/drawingml/2006/main" noGrp="1"/>
          </p:cNvSpPr>
          <p:nvPr/>
        </p:nvSpPr>
        <p:spPr>
          <a:xfrm xmlns:a="http://schemas.openxmlformats.org/drawingml/2006/main">
            <a:off x="62293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Tests restart futures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Hard rules reject impossible</a:t>
            </a:r>
          </a:p>
        </p:txBody>
      </p:sp>
      <p:sp>
        <p:nvSpPr>
          <p:cNvPr id="25" name="">
            <a:extLst xmlns:a="http://schemas.openxmlformats.org/drawingml/2006/main">
              <a:ext uri="{FF2B5EF4-FFF2-40B4-BE49-F238E27FC236}">
                <a16:creationId xmlns:a16="http://schemas.microsoft.com/office/drawing/2014/main" id="{4248F9AB-815F-43E5-8947-DFFED410A7D5}"/>
              </a:ext>
            </a:extLst>
          </p:cNvPr>
          <p:cNvSpPr>
            <a:spLocks xmlns:a="http://schemas.openxmlformats.org/drawingml/2006/main" noGrp="1"/>
          </p:cNvSpPr>
          <p:nvPr/>
        </p:nvSpPr>
        <p:spPr>
          <a:xfrm xmlns:a="http://schemas.openxmlformats.org/drawingml/2006/main">
            <a:off x="62293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26" name="">
            <a:extLst xmlns:a="http://schemas.openxmlformats.org/drawingml/2006/main">
              <a:ext uri="{FF2B5EF4-FFF2-40B4-BE49-F238E27FC236}">
                <a16:creationId xmlns:a16="http://schemas.microsoft.com/office/drawing/2014/main" id="{EF75479D-A4A7-4586-8F99-20CB70D3ABEC}"/>
              </a:ext>
            </a:extLst>
          </p:cNvPr>
          <p:cNvSpPr>
            <a:spLocks xmlns:a="http://schemas.openxmlformats.org/drawingml/2006/main" noGrp="1"/>
          </p:cNvSpPr>
          <p:nvPr/>
        </p:nvSpPr>
        <p:spPr>
          <a:xfrm xmlns:a="http://schemas.openxmlformats.org/drawingml/2006/main">
            <a:off x="62293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Deterministic what-if</a:t>
            </a:r>
          </a:p>
        </p:txBody>
      </p:sp>
      <p:sp>
        <p:nvSpPr>
          <p:cNvPr id="27" name="">
            <a:extLst xmlns:a="http://schemas.openxmlformats.org/drawingml/2006/main">
              <a:ext uri="{FF2B5EF4-FFF2-40B4-BE49-F238E27FC236}">
                <a16:creationId xmlns:a16="http://schemas.microsoft.com/office/drawing/2014/main" id="{D4B6241A-0B31-4E2B-9FFC-0ED5BBC15EBB}"/>
              </a:ext>
            </a:extLst>
          </p:cNvPr>
          <p:cNvSpPr>
            <a:spLocks xmlns:a="http://schemas.openxmlformats.org/drawingml/2006/main" noGrp="1"/>
          </p:cNvSpPr>
          <p:nvPr/>
        </p:nvSpPr>
        <p:spPr>
          <a:xfrm xmlns:a="http://schemas.openxmlformats.org/drawingml/2006/main">
            <a:off x="8858250" y="2057400"/>
            <a:ext cx="2647950" cy="2857500"/>
          </a:xfrm>
          <a:prstGeom xmlns:a="http://schemas.openxmlformats.org/drawingml/2006/main" prst="roundRect">
            <a:avLst>
              <a:gd name="adj" fmla="val 6475"/>
            </a:avLst>
          </a:prstGeom>
          <a:solidFill xmlns:a="http://schemas.openxmlformats.org/drawingml/2006/main">
            <a:srgbClr val="061E1B"/>
          </a:solidFill>
          <a:ln xmlns:a="http://schemas.openxmlformats.org/drawingml/2006/main" w="9525">
            <a:solidFill>
              <a:srgbClr val="C9F36B"/>
            </a:solidFill>
            <a:prstDash val="solid"/>
          </a:ln>
        </p:spPr>
      </p:sp>
      <p:sp>
        <p:nvSpPr>
          <p:cNvPr id="28" name="">
            <a:extLst xmlns:a="http://schemas.openxmlformats.org/drawingml/2006/main">
              <a:ext uri="{FF2B5EF4-FFF2-40B4-BE49-F238E27FC236}">
                <a16:creationId xmlns:a16="http://schemas.microsoft.com/office/drawing/2014/main" id="{B0D9ADCB-3CA6-4CC2-BDB3-9082CE9AB65F}"/>
              </a:ext>
            </a:extLst>
          </p:cNvPr>
          <p:cNvSpPr>
            <a:spLocks xmlns:a="http://schemas.openxmlformats.org/drawingml/2006/main" noGrp="1"/>
          </p:cNvSpPr>
          <p:nvPr/>
        </p:nvSpPr>
        <p:spPr>
          <a:xfrm xmlns:a="http://schemas.openxmlformats.org/drawingml/2006/main">
            <a:off x="8858250" y="2057400"/>
            <a:ext cx="264795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965895B-BE09-4BCC-A493-3F2131DCAF2D}"/>
              </a:ext>
            </a:extLst>
          </p:cNvPr>
          <p:cNvSpPr>
            <a:spLocks xmlns:a="http://schemas.openxmlformats.org/drawingml/2006/main" noGrp="1"/>
          </p:cNvSpPr>
          <p:nvPr/>
        </p:nvSpPr>
        <p:spPr>
          <a:xfrm xmlns:a="http://schemas.openxmlformats.org/drawingml/2006/main">
            <a:off x="9048750" y="23241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04 · AUTHORITY</a:t>
            </a:r>
          </a:p>
        </p:txBody>
      </p:sp>
      <p:sp>
        <p:nvSpPr>
          <p:cNvPr id="30" name="">
            <a:extLst xmlns:a="http://schemas.openxmlformats.org/drawingml/2006/main">
              <a:ext uri="{FF2B5EF4-FFF2-40B4-BE49-F238E27FC236}">
                <a16:creationId xmlns:a16="http://schemas.microsoft.com/office/drawing/2014/main" id="{ED74D21A-7A2A-4788-A0E6-4CD025B3A97B}"/>
              </a:ext>
            </a:extLst>
          </p:cNvPr>
          <p:cNvSpPr>
            <a:spLocks xmlns:a="http://schemas.openxmlformats.org/drawingml/2006/main" noGrp="1"/>
          </p:cNvSpPr>
          <p:nvPr/>
        </p:nvSpPr>
        <p:spPr>
          <a:xfrm xmlns:a="http://schemas.openxmlformats.org/drawingml/2006/main">
            <a:off x="9048750" y="2686050"/>
            <a:ext cx="2266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Humans + laboratory</a:t>
            </a:r>
          </a:p>
        </p:txBody>
      </p:sp>
      <p:sp>
        <p:nvSpPr>
          <p:cNvPr id="31" name="">
            <a:extLst xmlns:a="http://schemas.openxmlformats.org/drawingml/2006/main">
              <a:ext uri="{FF2B5EF4-FFF2-40B4-BE49-F238E27FC236}">
                <a16:creationId xmlns:a16="http://schemas.microsoft.com/office/drawing/2014/main" id="{1ADCA634-E52A-4A88-A182-30327D94C680}"/>
              </a:ext>
            </a:extLst>
          </p:cNvPr>
          <p:cNvSpPr>
            <a:spLocks xmlns:a="http://schemas.openxmlformats.org/drawingml/2006/main" noGrp="1"/>
          </p:cNvSpPr>
          <p:nvPr/>
        </p:nvSpPr>
        <p:spPr>
          <a:xfrm xmlns:a="http://schemas.openxmlformats.org/drawingml/2006/main">
            <a:off x="9048750" y="346710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Energy · Quality · Logistics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approve, hold or stop</a:t>
            </a:r>
          </a:p>
        </p:txBody>
      </p:sp>
      <p:sp>
        <p:nvSpPr>
          <p:cNvPr id="32" name="">
            <a:extLst xmlns:a="http://schemas.openxmlformats.org/drawingml/2006/main">
              <a:ext uri="{FF2B5EF4-FFF2-40B4-BE49-F238E27FC236}">
                <a16:creationId xmlns:a16="http://schemas.microsoft.com/office/drawing/2014/main" id="{751DB65C-AB1F-453F-9F21-10A6BBB8BE81}"/>
              </a:ext>
            </a:extLst>
          </p:cNvPr>
          <p:cNvSpPr>
            <a:spLocks xmlns:a="http://schemas.openxmlformats.org/drawingml/2006/main" noGrp="1"/>
          </p:cNvSpPr>
          <p:nvPr/>
        </p:nvSpPr>
        <p:spPr>
          <a:xfrm xmlns:a="http://schemas.openxmlformats.org/drawingml/2006/main">
            <a:off x="9048750" y="4324350"/>
            <a:ext cx="22669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33" name="">
            <a:extLst xmlns:a="http://schemas.openxmlformats.org/drawingml/2006/main">
              <a:ext uri="{FF2B5EF4-FFF2-40B4-BE49-F238E27FC236}">
                <a16:creationId xmlns:a16="http://schemas.microsoft.com/office/drawing/2014/main" id="{20330CB3-ACC5-402A-AA6D-2B5581A9DCA4}"/>
              </a:ext>
            </a:extLst>
          </p:cNvPr>
          <p:cNvSpPr>
            <a:spLocks xmlns:a="http://schemas.openxmlformats.org/drawingml/2006/main" noGrp="1"/>
          </p:cNvSpPr>
          <p:nvPr/>
        </p:nvSpPr>
        <p:spPr>
          <a:xfrm xmlns:a="http://schemas.openxmlformats.org/drawingml/2006/main">
            <a:off x="9048750" y="44577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No machine command</a:t>
            </a:r>
          </a:p>
        </p:txBody>
      </p:sp>
      <p:sp>
        <p:nvSpPr>
          <p:cNvPr id="34" name="">
            <a:extLst xmlns:a="http://schemas.openxmlformats.org/drawingml/2006/main">
              <a:ext uri="{FF2B5EF4-FFF2-40B4-BE49-F238E27FC236}">
                <a16:creationId xmlns:a16="http://schemas.microsoft.com/office/drawing/2014/main" id="{57251D35-55AB-4E23-8BEE-B3145C90B411}"/>
              </a:ext>
            </a:extLst>
          </p:cNvPr>
          <p:cNvSpPr>
            <a:spLocks xmlns:a="http://schemas.openxmlformats.org/drawingml/2006/main" noGrp="1"/>
          </p:cNvSpPr>
          <p:nvPr/>
        </p:nvSpPr>
        <p:spPr>
          <a:xfrm xmlns:a="http://schemas.openxmlformats.org/drawingml/2006/main">
            <a:off x="29146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C4D067BF-5660-4E20-8F42-B3CB96937E98}"/>
              </a:ext>
            </a:extLst>
          </p:cNvPr>
          <p:cNvSpPr>
            <a:spLocks xmlns:a="http://schemas.openxmlformats.org/drawingml/2006/main" noGrp="1"/>
          </p:cNvSpPr>
          <p:nvPr/>
        </p:nvSpPr>
        <p:spPr>
          <a:xfrm xmlns:a="http://schemas.openxmlformats.org/drawingml/2006/main">
            <a:off x="57340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21B09136-2BF8-49D5-8D0F-D08B2BF4ACBD}"/>
              </a:ext>
            </a:extLst>
          </p:cNvPr>
          <p:cNvSpPr>
            <a:spLocks xmlns:a="http://schemas.openxmlformats.org/drawingml/2006/main" noGrp="1"/>
          </p:cNvSpPr>
          <p:nvPr/>
        </p:nvSpPr>
        <p:spPr>
          <a:xfrm xmlns:a="http://schemas.openxmlformats.org/drawingml/2006/main">
            <a:off x="85534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9FAAF926-3F2F-4AB5-9EB4-F705271F92E5}"/>
              </a:ext>
            </a:extLst>
          </p:cNvPr>
          <p:cNvSpPr>
            <a:spLocks xmlns:a="http://schemas.openxmlformats.org/drawingml/2006/main" noGrp="1"/>
          </p:cNvSpPr>
          <p:nvPr/>
        </p:nvSpPr>
        <p:spPr>
          <a:xfrm xmlns:a="http://schemas.openxmlformats.org/drawingml/2006/main">
            <a:off x="685800" y="5181600"/>
            <a:ext cx="10820400" cy="933450"/>
          </a:xfrm>
          <a:prstGeom xmlns:a="http://schemas.openxmlformats.org/drawingml/2006/main" prst="roundRect">
            <a:avLst>
              <a:gd name="adj" fmla="val 18367"/>
            </a:avLst>
          </a:prstGeom>
          <a:solidFill xmlns:a="http://schemas.openxmlformats.org/drawingml/2006/main">
            <a:srgbClr val="0C302C"/>
          </a:solidFill>
          <a:ln xmlns:a="http://schemas.openxmlformats.org/drawingml/2006/main" w="9525">
            <a:solidFill>
              <a:srgbClr val="0F766E"/>
            </a:solidFill>
            <a:prstDash val="solid"/>
          </a:ln>
        </p:spPr>
      </p:sp>
      <p:sp>
        <p:nvSpPr>
          <p:cNvPr id="38" name="">
            <a:extLst xmlns:a="http://schemas.openxmlformats.org/drawingml/2006/main">
              <a:ext uri="{FF2B5EF4-FFF2-40B4-BE49-F238E27FC236}">
                <a16:creationId xmlns:a16="http://schemas.microsoft.com/office/drawing/2014/main" id="{47A9F039-AE32-46DB-8AC6-73FBDC3A7426}"/>
              </a:ext>
            </a:extLst>
          </p:cNvPr>
          <p:cNvSpPr>
            <a:spLocks xmlns:a="http://schemas.openxmlformats.org/drawingml/2006/main" noGrp="1"/>
          </p:cNvSpPr>
          <p:nvPr/>
        </p:nvSpPr>
        <p:spPr>
          <a:xfrm xmlns:a="http://schemas.openxmlformats.org/drawingml/2006/main">
            <a:off x="91440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01</a:t>
            </a:r>
          </a:p>
        </p:txBody>
      </p:sp>
      <p:sp>
        <p:nvSpPr>
          <p:cNvPr id="39" name="">
            <a:extLst xmlns:a="http://schemas.openxmlformats.org/drawingml/2006/main">
              <a:ext uri="{FF2B5EF4-FFF2-40B4-BE49-F238E27FC236}">
                <a16:creationId xmlns:a16="http://schemas.microsoft.com/office/drawing/2014/main" id="{C7F51836-3AD0-42BB-A257-BE3B6BB25736}"/>
              </a:ext>
            </a:extLst>
          </p:cNvPr>
          <p:cNvSpPr>
            <a:spLocks xmlns:a="http://schemas.openxmlformats.org/drawingml/2006/main" noGrp="1"/>
          </p:cNvSpPr>
          <p:nvPr/>
        </p:nvSpPr>
        <p:spPr>
          <a:xfrm xmlns:a="http://schemas.openxmlformats.org/drawingml/2006/main">
            <a:off x="91440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energy</a:t>
            </a:r>
          </a:p>
        </p:txBody>
      </p:sp>
      <p:sp>
        <p:nvSpPr>
          <p:cNvPr id="40" name="">
            <a:extLst xmlns:a="http://schemas.openxmlformats.org/drawingml/2006/main">
              <a:ext uri="{FF2B5EF4-FFF2-40B4-BE49-F238E27FC236}">
                <a16:creationId xmlns:a16="http://schemas.microsoft.com/office/drawing/2014/main" id="{F4FBB5E5-4589-469E-A4BC-92726A81B779}"/>
              </a:ext>
            </a:extLst>
          </p:cNvPr>
          <p:cNvSpPr>
            <a:spLocks xmlns:a="http://schemas.openxmlformats.org/drawingml/2006/main" noGrp="1"/>
          </p:cNvSpPr>
          <p:nvPr/>
        </p:nvSpPr>
        <p:spPr>
          <a:xfrm xmlns:a="http://schemas.openxmlformats.org/drawingml/2006/main">
            <a:off x="219075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02</a:t>
            </a:r>
          </a:p>
        </p:txBody>
      </p:sp>
      <p:sp>
        <p:nvSpPr>
          <p:cNvPr id="41" name="">
            <a:extLst xmlns:a="http://schemas.openxmlformats.org/drawingml/2006/main">
              <a:ext uri="{FF2B5EF4-FFF2-40B4-BE49-F238E27FC236}">
                <a16:creationId xmlns:a16="http://schemas.microsoft.com/office/drawing/2014/main" id="{AC98473F-C7F7-4871-9029-03E52FA0004C}"/>
              </a:ext>
            </a:extLst>
          </p:cNvPr>
          <p:cNvSpPr>
            <a:spLocks xmlns:a="http://schemas.openxmlformats.org/drawingml/2006/main" noGrp="1"/>
          </p:cNvSpPr>
          <p:nvPr/>
        </p:nvSpPr>
        <p:spPr>
          <a:xfrm xmlns:a="http://schemas.openxmlformats.org/drawingml/2006/main">
            <a:off x="219075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process</a:t>
            </a:r>
          </a:p>
        </p:txBody>
      </p:sp>
      <p:sp>
        <p:nvSpPr>
          <p:cNvPr id="42" name="">
            <a:extLst xmlns:a="http://schemas.openxmlformats.org/drawingml/2006/main">
              <a:ext uri="{FF2B5EF4-FFF2-40B4-BE49-F238E27FC236}">
                <a16:creationId xmlns:a16="http://schemas.microsoft.com/office/drawing/2014/main" id="{F6ADC0B0-B88D-4716-AEF4-6C192EE0A13B}"/>
              </a:ext>
            </a:extLst>
          </p:cNvPr>
          <p:cNvSpPr>
            <a:spLocks xmlns:a="http://schemas.openxmlformats.org/drawingml/2006/main" noGrp="1"/>
          </p:cNvSpPr>
          <p:nvPr/>
        </p:nvSpPr>
        <p:spPr>
          <a:xfrm xmlns:a="http://schemas.openxmlformats.org/drawingml/2006/main">
            <a:off x="3467100" y="53625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03</a:t>
            </a:r>
          </a:p>
        </p:txBody>
      </p:sp>
      <p:sp>
        <p:nvSpPr>
          <p:cNvPr id="43" name="">
            <a:extLst xmlns:a="http://schemas.openxmlformats.org/drawingml/2006/main">
              <a:ext uri="{FF2B5EF4-FFF2-40B4-BE49-F238E27FC236}">
                <a16:creationId xmlns:a16="http://schemas.microsoft.com/office/drawing/2014/main" id="{734D61DF-A9C6-4B97-8846-0EDD8EBD64AC}"/>
              </a:ext>
            </a:extLst>
          </p:cNvPr>
          <p:cNvSpPr>
            <a:spLocks xmlns:a="http://schemas.openxmlformats.org/drawingml/2006/main" noGrp="1"/>
          </p:cNvSpPr>
          <p:nvPr/>
        </p:nvSpPr>
        <p:spPr>
          <a:xfrm xmlns:a="http://schemas.openxmlformats.org/drawingml/2006/main">
            <a:off x="3333750" y="5705475"/>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quality</a:t>
            </a:r>
          </a:p>
        </p:txBody>
      </p:sp>
      <p:sp>
        <p:nvSpPr>
          <p:cNvPr id="44" name="">
            <a:extLst xmlns:a="http://schemas.openxmlformats.org/drawingml/2006/main">
              <a:ext uri="{FF2B5EF4-FFF2-40B4-BE49-F238E27FC236}">
                <a16:creationId xmlns:a16="http://schemas.microsoft.com/office/drawing/2014/main" id="{001E1F24-07A3-46B0-BC3B-B5249F4434A4}"/>
              </a:ext>
            </a:extLst>
          </p:cNvPr>
          <p:cNvSpPr>
            <a:spLocks xmlns:a="http://schemas.openxmlformats.org/drawingml/2006/main" noGrp="1"/>
          </p:cNvSpPr>
          <p:nvPr/>
        </p:nvSpPr>
        <p:spPr>
          <a:xfrm xmlns:a="http://schemas.openxmlformats.org/drawingml/2006/main">
            <a:off x="449580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45" name="">
            <a:extLst xmlns:a="http://schemas.openxmlformats.org/drawingml/2006/main">
              <a:ext uri="{FF2B5EF4-FFF2-40B4-BE49-F238E27FC236}">
                <a16:creationId xmlns:a16="http://schemas.microsoft.com/office/drawing/2014/main" id="{385DC800-993D-47E9-A30C-500ED9CBFD9D}"/>
              </a:ext>
            </a:extLst>
          </p:cNvPr>
          <p:cNvSpPr>
            <a:spLocks xmlns:a="http://schemas.openxmlformats.org/drawingml/2006/main" noGrp="1"/>
          </p:cNvSpPr>
          <p:nvPr/>
        </p:nvSpPr>
        <p:spPr>
          <a:xfrm xmlns:a="http://schemas.openxmlformats.org/drawingml/2006/main">
            <a:off x="4762500" y="5362575"/>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04</a:t>
            </a:r>
          </a:p>
        </p:txBody>
      </p:sp>
      <p:sp>
        <p:nvSpPr>
          <p:cNvPr id="46" name="">
            <a:extLst xmlns:a="http://schemas.openxmlformats.org/drawingml/2006/main">
              <a:ext uri="{FF2B5EF4-FFF2-40B4-BE49-F238E27FC236}">
                <a16:creationId xmlns:a16="http://schemas.microsoft.com/office/drawing/2014/main" id="{3359B624-A1BB-4BF8-A98E-42600D2C6856}"/>
              </a:ext>
            </a:extLst>
          </p:cNvPr>
          <p:cNvSpPr>
            <a:spLocks xmlns:a="http://schemas.openxmlformats.org/drawingml/2006/main" noGrp="1"/>
          </p:cNvSpPr>
          <p:nvPr/>
        </p:nvSpPr>
        <p:spPr>
          <a:xfrm xmlns:a="http://schemas.openxmlformats.org/drawingml/2006/main">
            <a:off x="4514850" y="57054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people</a:t>
            </a:r>
          </a:p>
        </p:txBody>
      </p:sp>
      <p:sp>
        <p:nvSpPr>
          <p:cNvPr id="47" name="">
            <a:extLst xmlns:a="http://schemas.openxmlformats.org/drawingml/2006/main">
              <a:ext uri="{FF2B5EF4-FFF2-40B4-BE49-F238E27FC236}">
                <a16:creationId xmlns:a16="http://schemas.microsoft.com/office/drawing/2014/main" id="{F219B764-11B9-4552-BBDA-21E1CBD72985}"/>
              </a:ext>
            </a:extLst>
          </p:cNvPr>
          <p:cNvSpPr>
            <a:spLocks xmlns:a="http://schemas.openxmlformats.org/drawingml/2006/main" noGrp="1"/>
          </p:cNvSpPr>
          <p:nvPr/>
        </p:nvSpPr>
        <p:spPr>
          <a:xfrm xmlns:a="http://schemas.openxmlformats.org/drawingml/2006/main">
            <a:off x="5943600" y="536257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05</a:t>
            </a:r>
          </a:p>
        </p:txBody>
      </p:sp>
      <p:sp>
        <p:nvSpPr>
          <p:cNvPr id="48" name="">
            <a:extLst xmlns:a="http://schemas.openxmlformats.org/drawingml/2006/main">
              <a:ext uri="{FF2B5EF4-FFF2-40B4-BE49-F238E27FC236}">
                <a16:creationId xmlns:a16="http://schemas.microsoft.com/office/drawing/2014/main" id="{721D64DB-F17E-4B4D-85BC-F19D562A82FE}"/>
              </a:ext>
            </a:extLst>
          </p:cNvPr>
          <p:cNvSpPr>
            <a:spLocks xmlns:a="http://schemas.openxmlformats.org/drawingml/2006/main" noGrp="1"/>
          </p:cNvSpPr>
          <p:nvPr/>
        </p:nvSpPr>
        <p:spPr>
          <a:xfrm xmlns:a="http://schemas.openxmlformats.org/drawingml/2006/main">
            <a:off x="5772150" y="57054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logistics</a:t>
            </a:r>
          </a:p>
        </p:txBody>
      </p:sp>
      <p:sp>
        <p:nvSpPr>
          <p:cNvPr id="49" name="">
            <a:extLst xmlns:a="http://schemas.openxmlformats.org/drawingml/2006/main">
              <a:ext uri="{FF2B5EF4-FFF2-40B4-BE49-F238E27FC236}">
                <a16:creationId xmlns:a16="http://schemas.microsoft.com/office/drawing/2014/main" id="{D813747D-8D8A-4B61-BB10-939948F01C0F}"/>
              </a:ext>
            </a:extLst>
          </p:cNvPr>
          <p:cNvSpPr>
            <a:spLocks xmlns:a="http://schemas.openxmlformats.org/drawingml/2006/main" noGrp="1"/>
          </p:cNvSpPr>
          <p:nvPr/>
        </p:nvSpPr>
        <p:spPr>
          <a:xfrm xmlns:a="http://schemas.openxmlformats.org/drawingml/2006/main">
            <a:off x="838200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50" name="">
            <a:extLst xmlns:a="http://schemas.openxmlformats.org/drawingml/2006/main">
              <a:ext uri="{FF2B5EF4-FFF2-40B4-BE49-F238E27FC236}">
                <a16:creationId xmlns:a16="http://schemas.microsoft.com/office/drawing/2014/main" id="{14FCB73F-B046-4168-80E0-5C2C30AB5115}"/>
              </a:ext>
            </a:extLst>
          </p:cNvPr>
          <p:cNvSpPr>
            <a:spLocks xmlns:a="http://schemas.openxmlformats.org/drawingml/2006/main" noGrp="1"/>
          </p:cNvSpPr>
          <p:nvPr/>
        </p:nvSpPr>
        <p:spPr>
          <a:xfrm xmlns:a="http://schemas.openxmlformats.org/drawingml/2006/main">
            <a:off x="8572500" y="5381625"/>
            <a:ext cx="271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5F4ED"/>
                </a:solidFill>
                <a:latin typeface="Arial"/>
                <a:ea typeface="Arial"/>
                <a:cs typeface="Arial"/>
              </a:defRPr>
            </a:pPr>
            <a:r>
              <a:rPr sz="1200" b="1">
                <a:solidFill>
                  <a:srgbClr val="F5F4ED"/>
                </a:solidFill>
                <a:latin typeface="Arial"/>
                <a:ea typeface="Arial"/>
                <a:cs typeface="Arial"/>
              </a:rPr>
              <a:t>LOCAL · OFFLINE · READ-ONLY</a:t>
            </a:r>
          </a:p>
        </p:txBody>
      </p:sp>
      <p:sp>
        <p:nvSpPr>
          <p:cNvPr id="51" name="">
            <a:extLst xmlns:a="http://schemas.openxmlformats.org/drawingml/2006/main">
              <a:ext uri="{FF2B5EF4-FFF2-40B4-BE49-F238E27FC236}">
                <a16:creationId xmlns:a16="http://schemas.microsoft.com/office/drawing/2014/main" id="{B55C9B57-EBD2-4986-A768-A8A1DA0C64F9}"/>
              </a:ext>
            </a:extLst>
          </p:cNvPr>
          <p:cNvSpPr>
            <a:spLocks xmlns:a="http://schemas.openxmlformats.org/drawingml/2006/main" noGrp="1"/>
          </p:cNvSpPr>
          <p:nvPr/>
        </p:nvSpPr>
        <p:spPr>
          <a:xfrm xmlns:a="http://schemas.openxmlformats.org/drawingml/2006/main">
            <a:off x="8572500" y="5705475"/>
            <a:ext cx="2717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hard constraints · human authority</a:t>
            </a:r>
          </a:p>
        </p:txBody>
      </p:sp>
      <p:sp>
        <p:nvSpPr>
          <p:cNvPr id="52" name="">
            <a:extLst xmlns:a="http://schemas.openxmlformats.org/drawingml/2006/main">
              <a:ext uri="{FF2B5EF4-FFF2-40B4-BE49-F238E27FC236}">
                <a16:creationId xmlns:a16="http://schemas.microsoft.com/office/drawing/2014/main" id="{84E4AACF-3951-4E10-BB9D-08D1BF981B6B}"/>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53" name="">
            <a:extLst xmlns:a="http://schemas.openxmlformats.org/drawingml/2006/main">
              <a:ext uri="{FF2B5EF4-FFF2-40B4-BE49-F238E27FC236}">
                <a16:creationId xmlns:a16="http://schemas.microsoft.com/office/drawing/2014/main" id="{85267777-4AFD-4790-AEA9-1C73AD4970A0}"/>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Synthetic scenario · no conformity, savings or plant-performance claim</a:t>
            </a:r>
          </a:p>
        </p:txBody>
      </p:sp>
      <p:sp>
        <p:nvSpPr>
          <p:cNvPr id="900" name="">
            <a:extLst xmlns:a="http://schemas.openxmlformats.org/drawingml/2006/main">
              <a:ext uri="{FF2B5EF4-FFF2-40B4-BE49-F238E27FC236}">
                <a16:creationId xmlns:a16="http://schemas.microsoft.com/office/drawing/2014/main" id="{F219B764-11B9-4552-BBDA-21E1CBD72985}"/>
              </a:ext>
            </a:extLst>
          </p:cNvPr>
          <p:cNvSpPr>
            <a:spLocks xmlns:a="http://schemas.openxmlformats.org/drawingml/2006/main" noGrp="1"/>
          </p:cNvSpPr>
          <p:nvPr/>
        </p:nvSpPr>
        <p:spPr>
          <a:xfrm xmlns:a="http://schemas.openxmlformats.org/drawingml/2006/main">
            <a:off x="7226300" y="5359400"/>
            <a:ext cx="9906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06</a:t>
            </a:r>
          </a:p>
        </p:txBody>
      </p:sp>
      <p:sp>
        <p:nvSpPr>
          <p:cNvPr id="901" name="">
            <a:extLst xmlns:a="http://schemas.openxmlformats.org/drawingml/2006/main">
              <a:ext uri="{FF2B5EF4-FFF2-40B4-BE49-F238E27FC236}">
                <a16:creationId xmlns:a16="http://schemas.microsoft.com/office/drawing/2014/main" id="{721D64DB-F17E-4B4D-85BC-F19D562A82FE}"/>
              </a:ext>
            </a:extLst>
          </p:cNvPr>
          <p:cNvSpPr>
            <a:spLocks xmlns:a="http://schemas.openxmlformats.org/drawingml/2006/main" noGrp="1"/>
          </p:cNvSpPr>
          <p:nvPr/>
        </p:nvSpPr>
        <p:spPr>
          <a:xfrm xmlns:a="http://schemas.openxmlformats.org/drawingml/2006/main">
            <a:off x="7048500" y="57023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material</a:t>
            </a:r>
          </a:p>
        </p:txBody>
      </p:sp>
    </p:spTree>
    <p:extLst>
      <p:ext uri="{BB962C8B-B14F-4D97-AF65-F5344CB8AC3E}">
        <p14:creationId xmlns:p14="http://schemas.microsoft.com/office/powerpoint/2010/main" val="1572703943"/>
      </p:ext>
    </p:extLst>
  </p:cSld>
</p:sld>
</file>

<file path=ppt/slides/slide4.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284B64-F9D0-4E6A-B7C0-8EA2A75D5FD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SECRET SAUCE / WORKING DEMO</a:t>
            </a:r>
          </a:p>
        </p:txBody>
      </p:sp>
      <p:sp>
        <p:nvSpPr>
          <p:cNvPr id="2" name="">
            <a:extLst xmlns:a="http://schemas.openxmlformats.org/drawingml/2006/main">
              <a:ext uri="{FF2B5EF4-FFF2-40B4-BE49-F238E27FC236}">
                <a16:creationId xmlns:a16="http://schemas.microsoft.com/office/drawing/2014/main" id="{9AA6B0F7-6722-4182-A5F3-21FFA3ABEE63}"/>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19E8B0C-23C8-475B-9519-4368B752F0F7}"/>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03A557E6-5CCD-4381-BBAC-F164362D74C7}"/>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Change one energy limit. Every feasible plan must update.</a:t>
            </a:r>
          </a:p>
        </p:txBody>
      </p:sp>
      <p:sp>
        <p:nvSpPr>
          <p:cNvPr id="5" name="">
            <a:extLst xmlns:a="http://schemas.openxmlformats.org/drawingml/2006/main">
              <a:ext uri="{FF2B5EF4-FFF2-40B4-BE49-F238E27FC236}">
                <a16:creationId xmlns:a16="http://schemas.microsoft.com/office/drawing/2014/main" id="{7C998945-C93B-458B-A8AD-A7D3BDCFCD6F}"/>
              </a:ext>
            </a:extLst>
          </p:cNvPr>
          <p:cNvSpPr>
            <a:spLocks xmlns:a="http://schemas.openxmlformats.org/drawingml/2006/main" noGrp="1"/>
          </p:cNvSpPr>
          <p:nvPr/>
        </p:nvSpPr>
        <p:spPr>
          <a:xfrm xmlns:a="http://schemas.openxmlformats.org/drawingml/2006/main">
            <a:off x="685800" y="1695450"/>
            <a:ext cx="7886700" cy="4324350"/>
          </a:xfrm>
          <a:prstGeom xmlns:a="http://schemas.openxmlformats.org/drawingml/2006/main" prst="roundRect">
            <a:avLst>
              <a:gd name="adj" fmla="val 3965"/>
            </a:avLst>
          </a:prstGeom>
          <a:solidFill xmlns:a="http://schemas.openxmlformats.org/drawingml/2006/main">
            <a:srgbClr val="061E1B"/>
          </a:solidFill>
          <a:ln xmlns:a="http://schemas.openxmlformats.org/drawingml/2006/main" w="9525">
            <a:solidFill>
              <a:srgbClr val="0F766E"/>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5adb89da6264043"/>
          <a:srcRect xmlns:a="http://schemas.openxmlformats.org/drawingml/2006/main" l="0" t="2460" r="0" b="2460"/>
          <a:stretch xmlns:a="http://schemas.openxmlformats.org/drawingml/2006/main">
            <a:fillRect l="0" t="0" r="0" b="0"/>
          </a:stretch>
        </p:blipFill>
        <p:spPr>
          <a:xfrm xmlns:a="http://schemas.openxmlformats.org/drawingml/2006/main">
            <a:off x="800100" y="1809750"/>
            <a:ext cx="7658100" cy="4095750"/>
          </a:xfrm>
          <a:prstGeom xmlns:a="http://schemas.openxmlformats.org/drawingml/2006/main" prst="roundRect">
            <a:avLst>
              <a:gd name="adj" fmla="val 3256"/>
            </a:avLst>
          </a:prstGeom>
        </p:spPr>
      </p:pic>
      <p:sp>
        <p:nvSpPr>
          <p:cNvPr id="7" name="">
            <a:extLst xmlns:a="http://schemas.openxmlformats.org/drawingml/2006/main">
              <a:ext uri="{FF2B5EF4-FFF2-40B4-BE49-F238E27FC236}">
                <a16:creationId xmlns:a16="http://schemas.microsoft.com/office/drawing/2014/main" id="{1C155826-1CCC-4BDE-9BC5-14F95B36C1B4}"/>
              </a:ext>
            </a:extLst>
          </p:cNvPr>
          <p:cNvSpPr>
            <a:spLocks xmlns:a="http://schemas.openxmlformats.org/drawingml/2006/main" noGrp="1"/>
          </p:cNvSpPr>
          <p:nvPr/>
        </p:nvSpPr>
        <p:spPr>
          <a:xfrm xmlns:a="http://schemas.openxmlformats.org/drawingml/2006/main">
            <a:off x="8877300" y="1695450"/>
            <a:ext cx="2628900" cy="4324350"/>
          </a:xfrm>
          <a:prstGeom xmlns:a="http://schemas.openxmlformats.org/drawingml/2006/main" prst="roundRect">
            <a:avLst>
              <a:gd name="adj" fmla="val 6522"/>
            </a:avLst>
          </a:prstGeom>
          <a:solidFill xmlns:a="http://schemas.openxmlformats.org/drawingml/2006/main">
            <a:srgbClr val="061E1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EA886C-6E26-485E-8D64-46A040E301B2}"/>
              </a:ext>
            </a:extLst>
          </p:cNvPr>
          <p:cNvSpPr>
            <a:spLocks xmlns:a="http://schemas.openxmlformats.org/drawingml/2006/main" noGrp="1"/>
          </p:cNvSpPr>
          <p:nvPr/>
        </p:nvSpPr>
        <p:spPr>
          <a:xfrm xmlns:a="http://schemas.openxmlformats.org/drawingml/2006/main">
            <a:off x="9144000" y="19716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30-SECOND STORYBOARD</a:t>
            </a:r>
          </a:p>
        </p:txBody>
      </p:sp>
      <p:sp>
        <p:nvSpPr>
          <p:cNvPr id="9" name="">
            <a:extLst xmlns:a="http://schemas.openxmlformats.org/drawingml/2006/main">
              <a:ext uri="{FF2B5EF4-FFF2-40B4-BE49-F238E27FC236}">
                <a16:creationId xmlns:a16="http://schemas.microsoft.com/office/drawing/2014/main" id="{A0F2A72C-E9B7-4D7F-A6DF-8FDF8DDAC6F7}"/>
              </a:ext>
            </a:extLst>
          </p:cNvPr>
          <p:cNvSpPr>
            <a:spLocks xmlns:a="http://schemas.openxmlformats.org/drawingml/2006/main" noGrp="1"/>
          </p:cNvSpPr>
          <p:nvPr/>
        </p:nvSpPr>
        <p:spPr>
          <a:xfrm xmlns:a="http://schemas.openxmlformats.org/drawingml/2006/main">
            <a:off x="9124950" y="23622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E9763B"/>
                </a:solidFill>
                <a:latin typeface="Arial"/>
                <a:ea typeface="Arial"/>
                <a:cs typeface="Arial"/>
              </a:defRPr>
            </a:pPr>
            <a:r>
              <a:rPr sz="1950" b="1">
                <a:solidFill>
                  <a:srgbClr val="E9763B"/>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361D8C3-8F87-4A17-B5EE-B55CCD5C208C}"/>
              </a:ext>
            </a:extLst>
          </p:cNvPr>
          <p:cNvSpPr>
            <a:spLocks xmlns:a="http://schemas.openxmlformats.org/drawingml/2006/main" noGrp="1"/>
          </p:cNvSpPr>
          <p:nvPr/>
        </p:nvSpPr>
        <p:spPr>
          <a:xfrm xmlns:a="http://schemas.openxmlformats.org/drawingml/2006/main">
            <a:off x="9563100" y="23749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Inject 58-min outage</a:t>
            </a:r>
          </a:p>
        </p:txBody>
      </p:sp>
      <p:sp>
        <p:nvSpPr>
          <p:cNvPr id="11" name="">
            <a:extLst xmlns:a="http://schemas.openxmlformats.org/drawingml/2006/main">
              <a:ext uri="{FF2B5EF4-FFF2-40B4-BE49-F238E27FC236}">
                <a16:creationId xmlns:a16="http://schemas.microsoft.com/office/drawing/2014/main" id="{7D559F5B-521A-4480-9509-84ECB695DB92}"/>
              </a:ext>
            </a:extLst>
          </p:cNvPr>
          <p:cNvSpPr>
            <a:spLocks xmlns:a="http://schemas.openxmlformats.org/drawingml/2006/main" noGrp="1"/>
          </p:cNvSpPr>
          <p:nvPr/>
        </p:nvSpPr>
        <p:spPr>
          <a:xfrm xmlns:a="http://schemas.openxmlformats.org/drawingml/2006/main">
            <a:off x="9124950" y="28956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79FFF898-E453-4718-9911-6A6328B99245}"/>
              </a:ext>
            </a:extLst>
          </p:cNvPr>
          <p:cNvSpPr>
            <a:spLocks xmlns:a="http://schemas.openxmlformats.org/drawingml/2006/main" noGrp="1"/>
          </p:cNvSpPr>
          <p:nvPr/>
        </p:nvSpPr>
        <p:spPr>
          <a:xfrm xmlns:a="http://schemas.openxmlformats.org/drawingml/2006/main">
            <a:off x="9563100" y="288290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T7 HOLD + retrieve analogs</a:t>
            </a:r>
          </a:p>
        </p:txBody>
      </p:sp>
      <p:sp>
        <p:nvSpPr>
          <p:cNvPr id="13" name="">
            <a:extLst xmlns:a="http://schemas.openxmlformats.org/drawingml/2006/main">
              <a:ext uri="{FF2B5EF4-FFF2-40B4-BE49-F238E27FC236}">
                <a16:creationId xmlns:a16="http://schemas.microsoft.com/office/drawing/2014/main" id="{4FB4252B-4607-4588-9C57-2BCC424C8618}"/>
              </a:ext>
            </a:extLst>
          </p:cNvPr>
          <p:cNvSpPr>
            <a:spLocks xmlns:a="http://schemas.openxmlformats.org/drawingml/2006/main" noGrp="1"/>
          </p:cNvSpPr>
          <p:nvPr/>
        </p:nvSpPr>
        <p:spPr>
          <a:xfrm xmlns:a="http://schemas.openxmlformats.org/drawingml/2006/main">
            <a:off x="9124950" y="34290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AD0C0A8A-2C9B-4735-A708-C46C0F20B21C}"/>
              </a:ext>
            </a:extLst>
          </p:cNvPr>
          <p:cNvSpPr>
            <a:spLocks xmlns:a="http://schemas.openxmlformats.org/drawingml/2006/main" noGrp="1"/>
          </p:cNvSpPr>
          <p:nvPr/>
        </p:nvSpPr>
        <p:spPr>
          <a:xfrm xmlns:a="http://schemas.openxmlformats.org/drawingml/2006/main">
            <a:off x="9563100" y="341630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Reject restart-all &amp; emergency</a:t>
            </a:r>
          </a:p>
        </p:txBody>
      </p:sp>
      <p:sp>
        <p:nvSpPr>
          <p:cNvPr id="15" name="">
            <a:extLst xmlns:a="http://schemas.openxmlformats.org/drawingml/2006/main">
              <a:ext uri="{FF2B5EF4-FFF2-40B4-BE49-F238E27FC236}">
                <a16:creationId xmlns:a16="http://schemas.microsoft.com/office/drawing/2014/main" id="{E3C80E89-5407-4CEC-A597-3367CDA86125}"/>
              </a:ext>
            </a:extLst>
          </p:cNvPr>
          <p:cNvSpPr>
            <a:spLocks xmlns:a="http://schemas.openxmlformats.org/drawingml/2006/main" noGrp="1"/>
          </p:cNvSpPr>
          <p:nvPr/>
        </p:nvSpPr>
        <p:spPr>
          <a:xfrm xmlns:a="http://schemas.openxmlformats.org/drawingml/2006/main">
            <a:off x="9124950" y="39624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66D790D4-C76A-4F9E-B8D1-2D0429DD632C}"/>
              </a:ext>
            </a:extLst>
          </p:cNvPr>
          <p:cNvSpPr>
            <a:spLocks xmlns:a="http://schemas.openxmlformats.org/drawingml/2006/main" noGrp="1"/>
          </p:cNvSpPr>
          <p:nvPr/>
        </p:nvSpPr>
        <p:spPr>
          <a:xfrm xmlns:a="http://schemas.openxmlformats.org/drawingml/2006/main">
            <a:off x="9563100" y="394970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Drop power → no feasible plan</a:t>
            </a:r>
          </a:p>
        </p:txBody>
      </p:sp>
      <p:sp>
        <p:nvSpPr>
          <p:cNvPr id="17" name="">
            <a:extLst xmlns:a="http://schemas.openxmlformats.org/drawingml/2006/main">
              <a:ext uri="{FF2B5EF4-FFF2-40B4-BE49-F238E27FC236}">
                <a16:creationId xmlns:a16="http://schemas.microsoft.com/office/drawing/2014/main" id="{68693414-B7B1-431B-91F9-C1B327B2AA3B}"/>
              </a:ext>
            </a:extLst>
          </p:cNvPr>
          <p:cNvSpPr>
            <a:spLocks xmlns:a="http://schemas.openxmlformats.org/drawingml/2006/main" noGrp="1"/>
          </p:cNvSpPr>
          <p:nvPr/>
        </p:nvSpPr>
        <p:spPr>
          <a:xfrm xmlns:a="http://schemas.openxmlformats.org/drawingml/2006/main">
            <a:off x="9144000" y="5010150"/>
            <a:ext cx="2095500" cy="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18" name="">
            <a:extLst xmlns:a="http://schemas.openxmlformats.org/drawingml/2006/main">
              <a:ext uri="{FF2B5EF4-FFF2-40B4-BE49-F238E27FC236}">
                <a16:creationId xmlns:a16="http://schemas.microsoft.com/office/drawing/2014/main" id="{8044DEBA-D668-46D4-A44E-90769103ECB5}"/>
              </a:ext>
            </a:extLst>
          </p:cNvPr>
          <p:cNvSpPr>
            <a:spLocks xmlns:a="http://schemas.openxmlformats.org/drawingml/2006/main" noGrp="1"/>
          </p:cNvSpPr>
          <p:nvPr/>
        </p:nvSpPr>
        <p:spPr>
          <a:xfrm xmlns:a="http://schemas.openxmlformats.org/drawingml/2006/main">
            <a:off x="9144000" y="5200650"/>
            <a:ext cx="97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30 s</a:t>
            </a:r>
          </a:p>
        </p:txBody>
      </p:sp>
      <p:sp>
        <p:nvSpPr>
          <p:cNvPr id="19" name="">
            <a:extLst xmlns:a="http://schemas.openxmlformats.org/drawingml/2006/main">
              <a:ext uri="{FF2B5EF4-FFF2-40B4-BE49-F238E27FC236}">
                <a16:creationId xmlns:a16="http://schemas.microsoft.com/office/drawing/2014/main" id="{B4339A38-E9C6-41A5-B601-D4CDBF503EDD}"/>
              </a:ext>
            </a:extLst>
          </p:cNvPr>
          <p:cNvSpPr>
            <a:spLocks xmlns:a="http://schemas.openxmlformats.org/drawingml/2006/main" noGrp="1"/>
          </p:cNvSpPr>
          <p:nvPr/>
        </p:nvSpPr>
        <p:spPr>
          <a:xfrm xmlns:a="http://schemas.openxmlformats.org/drawingml/2006/main">
            <a:off x="9144000" y="5543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JURY MODE</a:t>
            </a:r>
          </a:p>
        </p:txBody>
      </p:sp>
      <p:sp>
        <p:nvSpPr>
          <p:cNvPr id="20" name="">
            <a:extLst xmlns:a="http://schemas.openxmlformats.org/drawingml/2006/main">
              <a:ext uri="{FF2B5EF4-FFF2-40B4-BE49-F238E27FC236}">
                <a16:creationId xmlns:a16="http://schemas.microsoft.com/office/drawing/2014/main" id="{1FFCF7AF-F6BC-4DEB-AC95-9F3257EC874E}"/>
              </a:ext>
            </a:extLst>
          </p:cNvPr>
          <p:cNvSpPr>
            <a:spLocks xmlns:a="http://schemas.openxmlformats.org/drawingml/2006/main" noGrp="1"/>
          </p:cNvSpPr>
          <p:nvPr/>
        </p:nvSpPr>
        <p:spPr>
          <a:xfrm xmlns:a="http://schemas.openxmlformats.org/drawingml/2006/main">
            <a:off x="10191750" y="52006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5 beats</a:t>
            </a:r>
          </a:p>
        </p:txBody>
      </p:sp>
      <p:sp>
        <p:nvSpPr>
          <p:cNvPr id="21" name="">
            <a:extLst xmlns:a="http://schemas.openxmlformats.org/drawingml/2006/main">
              <a:ext uri="{FF2B5EF4-FFF2-40B4-BE49-F238E27FC236}">
                <a16:creationId xmlns:a16="http://schemas.microsoft.com/office/drawing/2014/main" id="{B9AF6E59-0B31-4CF7-B7E3-1FE748CE0E73}"/>
              </a:ext>
            </a:extLst>
          </p:cNvPr>
          <p:cNvSpPr>
            <a:spLocks xmlns:a="http://schemas.openxmlformats.org/drawingml/2006/main" noGrp="1"/>
          </p:cNvSpPr>
          <p:nvPr/>
        </p:nvSpPr>
        <p:spPr>
          <a:xfrm xmlns:a="http://schemas.openxmlformats.org/drawingml/2006/main">
            <a:off x="10191750" y="554355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586"/>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ACCEPTANCE CONTRACT</a:t>
            </a:r>
          </a:p>
        </p:txBody>
      </p:sp>
      <p:sp>
        <p:nvSpPr>
          <p:cNvPr id="22" name="">
            <a:extLst xmlns:a="http://schemas.openxmlformats.org/drawingml/2006/main">
              <a:ext uri="{FF2B5EF4-FFF2-40B4-BE49-F238E27FC236}">
                <a16:creationId xmlns:a16="http://schemas.microsoft.com/office/drawing/2014/main" id="{2A26CA22-DDC4-46FD-AB0E-2FD205F74FD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23" name="">
            <a:extLst xmlns:a="http://schemas.openxmlformats.org/drawingml/2006/main">
              <a:ext uri="{FF2B5EF4-FFF2-40B4-BE49-F238E27FC236}">
                <a16:creationId xmlns:a16="http://schemas.microsoft.com/office/drawing/2014/main" id="{ECB2CDF1-187F-4976-870D-BA28A5DC7B23}"/>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Public decision twin · flagship factory case synthetic</a:t>
            </a:r>
          </a:p>
        </p:txBody>
      </p:sp>
      <p:sp>
        <p:nvSpPr>
          <p:cNvPr id="902" name="">
            <a:extLst xmlns:a="http://schemas.openxmlformats.org/drawingml/2006/main">
              <a:ext uri="{FF2B5EF4-FFF2-40B4-BE49-F238E27FC236}">
                <a16:creationId xmlns:a16="http://schemas.microsoft.com/office/drawing/2014/main" id="{E3C80E89-5407-4CEC-A597-3367CDA86125}"/>
              </a:ext>
            </a:extLst>
          </p:cNvPr>
          <p:cNvSpPr>
            <a:spLocks xmlns:a="http://schemas.openxmlformats.org/drawingml/2006/main" noGrp="1"/>
          </p:cNvSpPr>
          <p:nvPr/>
        </p:nvSpPr>
        <p:spPr>
          <a:xfrm xmlns:a="http://schemas.openxmlformats.org/drawingml/2006/main">
            <a:off x="9124950" y="44958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5</a:t>
            </a:r>
          </a:p>
        </p:txBody>
      </p:sp>
      <p:sp>
        <p:nvSpPr>
          <p:cNvPr id="903" name="">
            <a:extLst xmlns:a="http://schemas.openxmlformats.org/drawingml/2006/main">
              <a:ext uri="{FF2B5EF4-FFF2-40B4-BE49-F238E27FC236}">
                <a16:creationId xmlns:a16="http://schemas.microsoft.com/office/drawing/2014/main" id="{66D790D4-C76A-4F9E-B8D1-2D0429DD632C}"/>
              </a:ext>
            </a:extLst>
          </p:cNvPr>
          <p:cNvSpPr>
            <a:spLocks xmlns:a="http://schemas.openxmlformats.org/drawingml/2006/main" noGrp="1"/>
          </p:cNvSpPr>
          <p:nvPr/>
        </p:nvSpPr>
        <p:spPr>
          <a:xfrm xmlns:a="http://schemas.openxmlformats.org/drawingml/2006/main">
            <a:off x="9563100" y="448310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Restore Plan C · lab gate stays closed</a:t>
            </a:r>
          </a:p>
        </p:txBody>
      </p:sp>
    </p:spTree>
    <p:extLst>
      <p:ext uri="{BB962C8B-B14F-4D97-AF65-F5344CB8AC3E}">
        <p14:creationId xmlns:p14="http://schemas.microsoft.com/office/powerpoint/2010/main" val="1931074159"/>
      </p:ext>
    </p:extLst>
  </p:cSld>
</p:sld>
</file>

<file path=ppt/slides/slide5.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37D1A77-7D76-48F3-BEB5-3CDDE1F2157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6B0D89C-F7D9-4AA9-B5AB-FE37C2D8D1C7}"/>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1C34828-76DB-4661-B179-1C47393E0B23}"/>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65E94876-FF6F-43CD-828D-A1224B7F56F0}"/>
              </a:ext>
            </a:extLst>
          </p:cNvPr>
          <p:cNvSpPr>
            <a:spLocks xmlns:a="http://schemas.openxmlformats.org/drawingml/2006/main" noGrp="1"/>
          </p:cNvSpPr>
          <p:nvPr/>
        </p:nvSpPr>
        <p:spPr>
          <a:xfrm xmlns:a="http://schemas.openxmlformats.org/drawingml/2006/main">
            <a:off x="685800" y="8953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0221F"/>
                </a:solidFill>
                <a:latin typeface="Arial"/>
                <a:ea typeface="Arial"/>
                <a:cs typeface="Arial"/>
              </a:defRPr>
            </a:pPr>
            <a:r>
              <a:rPr sz="3150" b="1">
                <a:solidFill>
                  <a:srgbClr val="10221F"/>
                </a:solidFill>
                <a:latin typeface="Arial"/>
                <a:ea typeface="Arial"/>
                <a:cs typeface="Arial"/>
              </a:rPr>
              <a:t>Revenue follows measured evidence—not a demo.</a:t>
            </a:r>
          </a:p>
        </p:txBody>
      </p:sp>
      <p:sp>
        <p:nvSpPr>
          <p:cNvPr id="5" name="">
            <a:extLst xmlns:a="http://schemas.openxmlformats.org/drawingml/2006/main">
              <a:ext uri="{FF2B5EF4-FFF2-40B4-BE49-F238E27FC236}">
                <a16:creationId xmlns:a16="http://schemas.microsoft.com/office/drawing/2014/main" id="{A440FA58-0E32-46DA-9B35-7E741C7EFF55}"/>
              </a:ext>
            </a:extLst>
          </p:cNvPr>
          <p:cNvSpPr>
            <a:spLocks xmlns:a="http://schemas.openxmlformats.org/drawingml/2006/main" noGrp="1"/>
          </p:cNvSpPr>
          <p:nvPr/>
        </p:nvSpPr>
        <p:spPr>
          <a:xfrm xmlns:a="http://schemas.openxmlformats.org/drawingml/2006/main">
            <a:off x="6858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USER</a:t>
            </a:r>
          </a:p>
        </p:txBody>
      </p:sp>
      <p:sp>
        <p:nvSpPr>
          <p:cNvPr id="6" name="">
            <a:extLst xmlns:a="http://schemas.openxmlformats.org/drawingml/2006/main">
              <a:ext uri="{FF2B5EF4-FFF2-40B4-BE49-F238E27FC236}">
                <a16:creationId xmlns:a16="http://schemas.microsoft.com/office/drawing/2014/main" id="{944C1829-CFC7-4076-869F-F5DBF4186C1E}"/>
              </a:ext>
            </a:extLst>
          </p:cNvPr>
          <p:cNvSpPr>
            <a:spLocks xmlns:a="http://schemas.openxmlformats.org/drawingml/2006/main" noGrp="1"/>
          </p:cNvSpPr>
          <p:nvPr/>
        </p:nvSpPr>
        <p:spPr>
          <a:xfrm xmlns:a="http://schemas.openxmlformats.org/drawingml/2006/main">
            <a:off x="685800" y="2057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783"/>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Production · Quality · Reliability</a:t>
            </a:r>
          </a:p>
        </p:txBody>
      </p:sp>
      <p:sp>
        <p:nvSpPr>
          <p:cNvPr id="7" name="">
            <a:extLst xmlns:a="http://schemas.openxmlformats.org/drawingml/2006/main">
              <a:ext uri="{FF2B5EF4-FFF2-40B4-BE49-F238E27FC236}">
                <a16:creationId xmlns:a16="http://schemas.microsoft.com/office/drawing/2014/main" id="{B50FB03A-5C7F-4E8E-9597-4BE598117ABE}"/>
              </a:ext>
            </a:extLst>
          </p:cNvPr>
          <p:cNvSpPr>
            <a:spLocks xmlns:a="http://schemas.openxmlformats.org/drawingml/2006/main" noGrp="1"/>
          </p:cNvSpPr>
          <p:nvPr/>
        </p:nvSpPr>
        <p:spPr>
          <a:xfrm xmlns:a="http://schemas.openxmlformats.org/drawingml/2006/main">
            <a:off x="39624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BUYER</a:t>
            </a:r>
          </a:p>
        </p:txBody>
      </p:sp>
      <p:sp>
        <p:nvSpPr>
          <p:cNvPr id="8" name="">
            <a:extLst xmlns:a="http://schemas.openxmlformats.org/drawingml/2006/main">
              <a:ext uri="{FF2B5EF4-FFF2-40B4-BE49-F238E27FC236}">
                <a16:creationId xmlns:a16="http://schemas.microsoft.com/office/drawing/2014/main" id="{DCD3058F-399E-4FEC-85DD-265FACA8024A}"/>
              </a:ext>
            </a:extLst>
          </p:cNvPr>
          <p:cNvSpPr>
            <a:spLocks xmlns:a="http://schemas.openxmlformats.org/drawingml/2006/main" noGrp="1"/>
          </p:cNvSpPr>
          <p:nvPr/>
        </p:nvSpPr>
        <p:spPr>
          <a:xfrm xmlns:a="http://schemas.openxmlformats.org/drawingml/2006/main">
            <a:off x="3962400" y="20574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54"/>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Plant or operations director</a:t>
            </a:r>
          </a:p>
        </p:txBody>
      </p:sp>
      <p:sp>
        <p:nvSpPr>
          <p:cNvPr id="9" name="">
            <a:extLst xmlns:a="http://schemas.openxmlformats.org/drawingml/2006/main">
              <a:ext uri="{FF2B5EF4-FFF2-40B4-BE49-F238E27FC236}">
                <a16:creationId xmlns:a16="http://schemas.microsoft.com/office/drawing/2014/main" id="{28FCEC27-D9C0-49AB-AD28-26FD74E863C1}"/>
              </a:ext>
            </a:extLst>
          </p:cNvPr>
          <p:cNvSpPr>
            <a:spLocks xmlns:a="http://schemas.openxmlformats.org/drawingml/2006/main" noGrp="1"/>
          </p:cNvSpPr>
          <p:nvPr/>
        </p:nvSpPr>
        <p:spPr>
          <a:xfrm xmlns:a="http://schemas.openxmlformats.org/drawingml/2006/main">
            <a:off x="7524750" y="18192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BEACHHEAD</a:t>
            </a:r>
          </a:p>
        </p:txBody>
      </p:sp>
      <p:sp>
        <p:nvSpPr>
          <p:cNvPr id="10" name="">
            <a:extLst xmlns:a="http://schemas.openxmlformats.org/drawingml/2006/main">
              <a:ext uri="{FF2B5EF4-FFF2-40B4-BE49-F238E27FC236}">
                <a16:creationId xmlns:a16="http://schemas.microsoft.com/office/drawing/2014/main" id="{6BCBE91D-D86A-46F6-9E96-2F7B86C98619}"/>
              </a:ext>
            </a:extLst>
          </p:cNvPr>
          <p:cNvSpPr>
            <a:spLocks xmlns:a="http://schemas.openxmlformats.org/drawingml/2006/main" noGrp="1"/>
          </p:cNvSpPr>
          <p:nvPr/>
        </p:nvSpPr>
        <p:spPr>
          <a:xfrm xmlns:a="http://schemas.openxmlformats.org/drawingml/2006/main">
            <a:off x="7524750" y="2057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20"/>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Tunisian cable plants · one line first</a:t>
            </a:r>
          </a:p>
        </p:txBody>
      </p:sp>
      <p:sp>
        <p:nvSpPr>
          <p:cNvPr id="11" name="">
            <a:extLst xmlns:a="http://schemas.openxmlformats.org/drawingml/2006/main">
              <a:ext uri="{FF2B5EF4-FFF2-40B4-BE49-F238E27FC236}">
                <a16:creationId xmlns:a16="http://schemas.microsoft.com/office/drawing/2014/main" id="{3728B5C3-31D0-405D-BBB2-F1A68EC72C8D}"/>
              </a:ext>
            </a:extLst>
          </p:cNvPr>
          <p:cNvSpPr>
            <a:spLocks xmlns:a="http://schemas.openxmlformats.org/drawingml/2006/main" noGrp="1"/>
          </p:cNvSpPr>
          <p:nvPr/>
        </p:nvSpPr>
        <p:spPr>
          <a:xfrm xmlns:a="http://schemas.openxmlformats.org/drawingml/2006/main">
            <a:off x="1314450" y="3638550"/>
            <a:ext cx="95250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12" name="">
            <a:extLst xmlns:a="http://schemas.openxmlformats.org/drawingml/2006/main">
              <a:ext uri="{FF2B5EF4-FFF2-40B4-BE49-F238E27FC236}">
                <a16:creationId xmlns:a16="http://schemas.microsoft.com/office/drawing/2014/main" id="{F15A693F-86F1-40F5-B6AC-9AF2CF9DFCEC}"/>
              </a:ext>
            </a:extLst>
          </p:cNvPr>
          <p:cNvSpPr>
            <a:spLocks xmlns:a="http://schemas.openxmlformats.org/drawingml/2006/main" noGrp="1"/>
          </p:cNvSpPr>
          <p:nvPr/>
        </p:nvSpPr>
        <p:spPr>
          <a:xfrm xmlns:a="http://schemas.openxmlformats.org/drawingml/2006/main">
            <a:off x="1181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5C1350-7551-4618-B26D-83499C3A24B9}"/>
              </a:ext>
            </a:extLst>
          </p:cNvPr>
          <p:cNvSpPr>
            <a:spLocks xmlns:a="http://schemas.openxmlformats.org/drawingml/2006/main" noGrp="1"/>
          </p:cNvSpPr>
          <p:nvPr/>
        </p:nvSpPr>
        <p:spPr>
          <a:xfrm xmlns:a="http://schemas.openxmlformats.org/drawingml/2006/main">
            <a:off x="1181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D9878B5-9B79-4F4E-9AAD-201CCBAADFCD}"/>
              </a:ext>
            </a:extLst>
          </p:cNvPr>
          <p:cNvSpPr>
            <a:spLocks xmlns:a="http://schemas.openxmlformats.org/drawingml/2006/main" noGrp="1"/>
          </p:cNvSpPr>
          <p:nvPr/>
        </p:nvSpPr>
        <p:spPr>
          <a:xfrm xmlns:a="http://schemas.openxmlformats.org/drawingml/2006/main">
            <a:off x="857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Paid diagnostic</a:t>
            </a:r>
          </a:p>
        </p:txBody>
      </p:sp>
      <p:sp>
        <p:nvSpPr>
          <p:cNvPr id="15" name="">
            <a:extLst xmlns:a="http://schemas.openxmlformats.org/drawingml/2006/main">
              <a:ext uri="{FF2B5EF4-FFF2-40B4-BE49-F238E27FC236}">
                <a16:creationId xmlns:a16="http://schemas.microsoft.com/office/drawing/2014/main" id="{DB1ACC8E-313E-4FB2-93BC-B22C5B372E52}"/>
              </a:ext>
            </a:extLst>
          </p:cNvPr>
          <p:cNvSpPr>
            <a:spLocks xmlns:a="http://schemas.openxmlformats.org/drawingml/2006/main" noGrp="1"/>
          </p:cNvSpPr>
          <p:nvPr/>
        </p:nvSpPr>
        <p:spPr>
          <a:xfrm xmlns:a="http://schemas.openxmlformats.org/drawingml/2006/main">
            <a:off x="857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Map data, rules, roles and evidence gaps</a:t>
            </a:r>
          </a:p>
        </p:txBody>
      </p:sp>
      <p:sp>
        <p:nvSpPr>
          <p:cNvPr id="16" name="">
            <a:extLst xmlns:a="http://schemas.openxmlformats.org/drawingml/2006/main">
              <a:ext uri="{FF2B5EF4-FFF2-40B4-BE49-F238E27FC236}">
                <a16:creationId xmlns:a16="http://schemas.microsoft.com/office/drawing/2014/main" id="{82E9F288-CCE3-4787-AE21-7CF8628737A2}"/>
              </a:ext>
            </a:extLst>
          </p:cNvPr>
          <p:cNvSpPr>
            <a:spLocks xmlns:a="http://schemas.openxmlformats.org/drawingml/2006/main" noGrp="1"/>
          </p:cNvSpPr>
          <p:nvPr/>
        </p:nvSpPr>
        <p:spPr>
          <a:xfrm xmlns:a="http://schemas.openxmlformats.org/drawingml/2006/main">
            <a:off x="3848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1E6EE7-7331-4A81-B0E9-D8ED3BEB2D5A}"/>
              </a:ext>
            </a:extLst>
          </p:cNvPr>
          <p:cNvSpPr>
            <a:spLocks xmlns:a="http://schemas.openxmlformats.org/drawingml/2006/main" noGrp="1"/>
          </p:cNvSpPr>
          <p:nvPr/>
        </p:nvSpPr>
        <p:spPr>
          <a:xfrm xmlns:a="http://schemas.openxmlformats.org/drawingml/2006/main">
            <a:off x="3848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DE4D6756-1D0E-4FC6-9FAF-1E52A7D6EADB}"/>
              </a:ext>
            </a:extLst>
          </p:cNvPr>
          <p:cNvSpPr>
            <a:spLocks xmlns:a="http://schemas.openxmlformats.org/drawingml/2006/main" noGrp="1"/>
          </p:cNvSpPr>
          <p:nvPr/>
        </p:nvSpPr>
        <p:spPr>
          <a:xfrm xmlns:a="http://schemas.openxmlformats.org/drawingml/2006/main">
            <a:off x="3524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Read-only shadow pilot</a:t>
            </a:r>
          </a:p>
        </p:txBody>
      </p:sp>
      <p:sp>
        <p:nvSpPr>
          <p:cNvPr id="19" name="">
            <a:extLst xmlns:a="http://schemas.openxmlformats.org/drawingml/2006/main">
              <a:ext uri="{FF2B5EF4-FFF2-40B4-BE49-F238E27FC236}">
                <a16:creationId xmlns:a16="http://schemas.microsoft.com/office/drawing/2014/main" id="{18D7B167-29A1-42A4-9063-5243F321526F}"/>
              </a:ext>
            </a:extLst>
          </p:cNvPr>
          <p:cNvSpPr>
            <a:spLocks xmlns:a="http://schemas.openxmlformats.org/drawingml/2006/main" noGrp="1"/>
          </p:cNvSpPr>
          <p:nvPr/>
        </p:nvSpPr>
        <p:spPr>
          <a:xfrm xmlns:a="http://schemas.openxmlformats.org/drawingml/2006/main">
            <a:off x="3524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Replay incidents + synthetic stress cases</a:t>
            </a:r>
          </a:p>
        </p:txBody>
      </p:sp>
      <p:sp>
        <p:nvSpPr>
          <p:cNvPr id="20" name="">
            <a:extLst xmlns:a="http://schemas.openxmlformats.org/drawingml/2006/main">
              <a:ext uri="{FF2B5EF4-FFF2-40B4-BE49-F238E27FC236}">
                <a16:creationId xmlns:a16="http://schemas.microsoft.com/office/drawing/2014/main" id="{B3771177-FC21-4485-8267-B31327E3EE27}"/>
              </a:ext>
            </a:extLst>
          </p:cNvPr>
          <p:cNvSpPr>
            <a:spLocks xmlns:a="http://schemas.openxmlformats.org/drawingml/2006/main" noGrp="1"/>
          </p:cNvSpPr>
          <p:nvPr/>
        </p:nvSpPr>
        <p:spPr>
          <a:xfrm xmlns:a="http://schemas.openxmlformats.org/drawingml/2006/main">
            <a:off x="6515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09BA4B-A484-4963-8B39-60EE400FF7FB}"/>
              </a:ext>
            </a:extLst>
          </p:cNvPr>
          <p:cNvSpPr>
            <a:spLocks xmlns:a="http://schemas.openxmlformats.org/drawingml/2006/main" noGrp="1"/>
          </p:cNvSpPr>
          <p:nvPr/>
        </p:nvSpPr>
        <p:spPr>
          <a:xfrm xmlns:a="http://schemas.openxmlformats.org/drawingml/2006/main">
            <a:off x="6515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4C6CB12B-A4BF-40B4-AF48-122E90872074}"/>
              </a:ext>
            </a:extLst>
          </p:cNvPr>
          <p:cNvSpPr>
            <a:spLocks xmlns:a="http://schemas.openxmlformats.org/drawingml/2006/main" noGrp="1"/>
          </p:cNvSpPr>
          <p:nvPr/>
        </p:nvSpPr>
        <p:spPr>
          <a:xfrm xmlns:a="http://schemas.openxmlformats.org/drawingml/2006/main">
            <a:off x="6191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Per-line or site license</a:t>
            </a:r>
          </a:p>
        </p:txBody>
      </p:sp>
      <p:sp>
        <p:nvSpPr>
          <p:cNvPr id="23" name="">
            <a:extLst xmlns:a="http://schemas.openxmlformats.org/drawingml/2006/main">
              <a:ext uri="{FF2B5EF4-FFF2-40B4-BE49-F238E27FC236}">
                <a16:creationId xmlns:a16="http://schemas.microsoft.com/office/drawing/2014/main" id="{80A099D0-B799-404A-A107-E07683049042}"/>
              </a:ext>
            </a:extLst>
          </p:cNvPr>
          <p:cNvSpPr>
            <a:spLocks xmlns:a="http://schemas.openxmlformats.org/drawingml/2006/main" noGrp="1"/>
          </p:cNvSpPr>
          <p:nvPr/>
        </p:nvSpPr>
        <p:spPr>
          <a:xfrm xmlns:a="http://schemas.openxmlformats.org/drawingml/2006/main">
            <a:off x="6191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Configuration, calibration and support</a:t>
            </a:r>
          </a:p>
        </p:txBody>
      </p:sp>
      <p:sp>
        <p:nvSpPr>
          <p:cNvPr id="24" name="">
            <a:extLst xmlns:a="http://schemas.openxmlformats.org/drawingml/2006/main">
              <a:ext uri="{FF2B5EF4-FFF2-40B4-BE49-F238E27FC236}">
                <a16:creationId xmlns:a16="http://schemas.microsoft.com/office/drawing/2014/main" id="{E7CC0A31-23EA-434C-A414-1083978F6C92}"/>
              </a:ext>
            </a:extLst>
          </p:cNvPr>
          <p:cNvSpPr>
            <a:spLocks xmlns:a="http://schemas.openxmlformats.org/drawingml/2006/main" noGrp="1"/>
          </p:cNvSpPr>
          <p:nvPr/>
        </p:nvSpPr>
        <p:spPr>
          <a:xfrm xmlns:a="http://schemas.openxmlformats.org/drawingml/2006/main">
            <a:off x="9182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F453318-8644-4964-B1DB-CF5D7964584F}"/>
              </a:ext>
            </a:extLst>
          </p:cNvPr>
          <p:cNvSpPr>
            <a:spLocks xmlns:a="http://schemas.openxmlformats.org/drawingml/2006/main" noGrp="1"/>
          </p:cNvSpPr>
          <p:nvPr/>
        </p:nvSpPr>
        <p:spPr>
          <a:xfrm xmlns:a="http://schemas.openxmlformats.org/drawingml/2006/main">
            <a:off x="9182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07B48702-9F2C-4E99-A087-C3F981211AEE}"/>
              </a:ext>
            </a:extLst>
          </p:cNvPr>
          <p:cNvSpPr>
            <a:spLocks xmlns:a="http://schemas.openxmlformats.org/drawingml/2006/main" noGrp="1"/>
          </p:cNvSpPr>
          <p:nvPr/>
        </p:nvSpPr>
        <p:spPr>
          <a:xfrm xmlns:a="http://schemas.openxmlformats.org/drawingml/2006/main">
            <a:off x="8858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Scale after proof</a:t>
            </a:r>
          </a:p>
        </p:txBody>
      </p:sp>
      <p:sp>
        <p:nvSpPr>
          <p:cNvPr id="27" name="">
            <a:extLst xmlns:a="http://schemas.openxmlformats.org/drawingml/2006/main">
              <a:ext uri="{FF2B5EF4-FFF2-40B4-BE49-F238E27FC236}">
                <a16:creationId xmlns:a16="http://schemas.microsoft.com/office/drawing/2014/main" id="{B8F418BC-6B91-42A5-9BE8-B87D2AB60EA4}"/>
              </a:ext>
            </a:extLst>
          </p:cNvPr>
          <p:cNvSpPr>
            <a:spLocks xmlns:a="http://schemas.openxmlformats.org/drawingml/2006/main" noGrp="1"/>
          </p:cNvSpPr>
          <p:nvPr/>
        </p:nvSpPr>
        <p:spPr>
          <a:xfrm xmlns:a="http://schemas.openxmlformats.org/drawingml/2006/main">
            <a:off x="8858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Only after measured pilot evidence</a:t>
            </a:r>
          </a:p>
        </p:txBody>
      </p:sp>
      <p:sp>
        <p:nvSpPr>
          <p:cNvPr id="28" name="">
            <a:extLst xmlns:a="http://schemas.openxmlformats.org/drawingml/2006/main">
              <a:ext uri="{FF2B5EF4-FFF2-40B4-BE49-F238E27FC236}">
                <a16:creationId xmlns:a16="http://schemas.microsoft.com/office/drawing/2014/main" id="{4B8DDDFC-F8DB-42B9-BF9B-B0F8C4C6B095}"/>
              </a:ext>
            </a:extLst>
          </p:cNvPr>
          <p:cNvSpPr>
            <a:spLocks xmlns:a="http://schemas.openxmlformats.org/drawingml/2006/main" noGrp="1"/>
          </p:cNvSpPr>
          <p:nvPr/>
        </p:nvSpPr>
        <p:spPr>
          <a:xfrm xmlns:a="http://schemas.openxmlformats.org/drawingml/2006/main">
            <a:off x="685800" y="5600700"/>
            <a:ext cx="10820400" cy="514350"/>
          </a:xfrm>
          <a:prstGeom xmlns:a="http://schemas.openxmlformats.org/drawingml/2006/main" prst="roundRect">
            <a:avLst>
              <a:gd name="adj" fmla="val 22222"/>
            </a:avLst>
          </a:prstGeom>
          <a:solidFill xmlns:a="http://schemas.openxmlformats.org/drawingml/2006/main">
            <a:srgbClr val="0929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8DAF13F-FAB8-43E6-B35B-BD968DE4FCA0}"/>
              </a:ext>
            </a:extLst>
          </p:cNvPr>
          <p:cNvSpPr>
            <a:spLocks xmlns:a="http://schemas.openxmlformats.org/drawingml/2006/main" noGrp="1"/>
          </p:cNvSpPr>
          <p:nvPr/>
        </p:nvSpPr>
        <p:spPr>
          <a:xfrm xmlns:a="http://schemas.openxmlformats.org/drawingml/2006/main">
            <a:off x="895350" y="57531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Pricing and ROI are pilot questions. No customer, revenue, savings or saved-distance claim today.</a:t>
            </a:r>
          </a:p>
        </p:txBody>
      </p:sp>
      <p:sp>
        <p:nvSpPr>
          <p:cNvPr id="30" name="">
            <a:extLst xmlns:a="http://schemas.openxmlformats.org/drawingml/2006/main">
              <a:ext uri="{FF2B5EF4-FFF2-40B4-BE49-F238E27FC236}">
                <a16:creationId xmlns:a16="http://schemas.microsoft.com/office/drawing/2014/main" id="{7D0B2F27-0AC4-47E6-95F6-2A59BF89ACA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74298697"/>
      </p:ext>
    </p:extLst>
  </p:cSld>
</p:sld>
</file>

<file path=ppt/slides/slide6.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C06E4C-58DD-4CAE-9A1E-1E7CB85CF04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GO-TO-MARKET</a:t>
            </a:r>
          </a:p>
        </p:txBody>
      </p:sp>
      <p:sp>
        <p:nvSpPr>
          <p:cNvPr id="2" name="">
            <a:extLst xmlns:a="http://schemas.openxmlformats.org/drawingml/2006/main">
              <a:ext uri="{FF2B5EF4-FFF2-40B4-BE49-F238E27FC236}">
                <a16:creationId xmlns:a16="http://schemas.microsoft.com/office/drawing/2014/main" id="{04A77EAF-F2D8-4BAA-86FC-68B73243A1EC}"/>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C2AF4A3-7F38-41E9-9B55-34A093D9BD08}"/>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8435F9FA-0F31-437E-BB22-9CE74444F6C9}"/>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Start read-only on one cable line; earn every integration.</a:t>
            </a:r>
          </a:p>
        </p:txBody>
      </p:sp>
      <p:sp>
        <p:nvSpPr>
          <p:cNvPr id="5" name="">
            <a:extLst xmlns:a="http://schemas.openxmlformats.org/drawingml/2006/main">
              <a:ext uri="{FF2B5EF4-FFF2-40B4-BE49-F238E27FC236}">
                <a16:creationId xmlns:a16="http://schemas.microsoft.com/office/drawing/2014/main" id="{256F8B2B-6E1F-461F-BCD9-FD903FC01DFD}"/>
              </a:ext>
            </a:extLst>
          </p:cNvPr>
          <p:cNvSpPr>
            <a:spLocks xmlns:a="http://schemas.openxmlformats.org/drawingml/2006/main" noGrp="1"/>
          </p:cNvSpPr>
          <p:nvPr/>
        </p:nvSpPr>
        <p:spPr>
          <a:xfrm xmlns:a="http://schemas.openxmlformats.org/drawingml/2006/main">
            <a:off x="685800" y="197167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a:solidFill>
                  <a:srgbClr val="C9F36B"/>
                </a:solidFill>
                <a:latin typeface="Arial"/>
                <a:ea typeface="Arial"/>
                <a:cs typeface="Arial"/>
              </a:defRPr>
            </a:pPr>
            <a:r>
              <a:rPr sz="2700" b="1">
                <a:solidFill>
                  <a:srgbClr val="C9F36B"/>
                </a:solidFill>
                <a:latin typeface="Arial"/>
                <a:ea typeface="Arial"/>
                <a:cs typeface="Arial"/>
              </a:rPr>
              <a:t>4–6 WEEKS</a:t>
            </a:r>
          </a:p>
        </p:txBody>
      </p:sp>
      <p:sp>
        <p:nvSpPr>
          <p:cNvPr id="6" name="">
            <a:extLst xmlns:a="http://schemas.openxmlformats.org/drawingml/2006/main">
              <a:ext uri="{FF2B5EF4-FFF2-40B4-BE49-F238E27FC236}">
                <a16:creationId xmlns:a16="http://schemas.microsoft.com/office/drawing/2014/main" id="{DD5A05C5-CD06-4A5D-9F21-6BC03299D4E2}"/>
              </a:ext>
            </a:extLst>
          </p:cNvPr>
          <p:cNvSpPr>
            <a:spLocks xmlns:a="http://schemas.openxmlformats.org/drawingml/2006/main" noGrp="1"/>
          </p:cNvSpPr>
          <p:nvPr/>
        </p:nvSpPr>
        <p:spPr>
          <a:xfrm xmlns:a="http://schemas.openxmlformats.org/drawingml/2006/main">
            <a:off x="685800" y="2438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DFE8E4"/>
                </a:solidFill>
                <a:latin typeface="Arial"/>
                <a:ea typeface="Arial"/>
                <a:cs typeface="Arial"/>
              </a:defRPr>
            </a:pPr>
            <a:r>
              <a:rPr sz="1350" b="0">
                <a:solidFill>
                  <a:srgbClr val="DFE8E4"/>
                </a:solidFill>
                <a:latin typeface="Arial"/>
                <a:ea typeface="Arial"/>
                <a:cs typeface="Arial"/>
              </a:rPr>
              <a:t>One read-only shadow pilot</a:t>
            </a:r>
          </a:p>
        </p:txBody>
      </p:sp>
      <p:sp>
        <p:nvSpPr>
          <p:cNvPr id="7" name="">
            <a:extLst xmlns:a="http://schemas.openxmlformats.org/drawingml/2006/main">
              <a:ext uri="{FF2B5EF4-FFF2-40B4-BE49-F238E27FC236}">
                <a16:creationId xmlns:a16="http://schemas.microsoft.com/office/drawing/2014/main" id="{F55A4B66-DAC1-4364-B1E9-3C15084E81F8}"/>
              </a:ext>
            </a:extLst>
          </p:cNvPr>
          <p:cNvSpPr>
            <a:spLocks xmlns:a="http://schemas.openxmlformats.org/drawingml/2006/main" noGrp="1"/>
          </p:cNvSpPr>
          <p:nvPr/>
        </p:nvSpPr>
        <p:spPr>
          <a:xfrm xmlns:a="http://schemas.openxmlformats.org/drawingml/2006/main">
            <a:off x="3333750" y="3162300"/>
            <a:ext cx="756285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DF2A63D3-D84D-4212-AB74-9E4EA6420F92}"/>
              </a:ext>
            </a:extLst>
          </p:cNvPr>
          <p:cNvSpPr>
            <a:spLocks xmlns:a="http://schemas.openxmlformats.org/drawingml/2006/main" noGrp="1"/>
          </p:cNvSpPr>
          <p:nvPr/>
        </p:nvSpPr>
        <p:spPr>
          <a:xfrm xmlns:a="http://schemas.openxmlformats.org/drawingml/2006/main">
            <a:off x="3162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31AA36-0427-4B71-881E-DC1F518F4EC8}"/>
              </a:ext>
            </a:extLst>
          </p:cNvPr>
          <p:cNvSpPr>
            <a:spLocks xmlns:a="http://schemas.openxmlformats.org/drawingml/2006/main" noGrp="1"/>
          </p:cNvSpPr>
          <p:nvPr/>
        </p:nvSpPr>
        <p:spPr>
          <a:xfrm xmlns:a="http://schemas.openxmlformats.org/drawingml/2006/main">
            <a:off x="2828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 0</a:t>
            </a:r>
          </a:p>
        </p:txBody>
      </p:sp>
      <p:sp>
        <p:nvSpPr>
          <p:cNvPr id="10" name="">
            <a:extLst xmlns:a="http://schemas.openxmlformats.org/drawingml/2006/main">
              <a:ext uri="{FF2B5EF4-FFF2-40B4-BE49-F238E27FC236}">
                <a16:creationId xmlns:a16="http://schemas.microsoft.com/office/drawing/2014/main" id="{4B52C822-764F-442D-8804-48CD5511E2D1}"/>
              </a:ext>
            </a:extLst>
          </p:cNvPr>
          <p:cNvSpPr>
            <a:spLocks xmlns:a="http://schemas.openxmlformats.org/drawingml/2006/main" noGrp="1"/>
          </p:cNvSpPr>
          <p:nvPr/>
        </p:nvSpPr>
        <p:spPr>
          <a:xfrm xmlns:a="http://schemas.openxmlformats.org/drawingml/2006/main">
            <a:off x="2828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Map</a:t>
            </a:r>
          </a:p>
        </p:txBody>
      </p:sp>
      <p:sp>
        <p:nvSpPr>
          <p:cNvPr id="11" name="">
            <a:extLst xmlns:a="http://schemas.openxmlformats.org/drawingml/2006/main">
              <a:ext uri="{FF2B5EF4-FFF2-40B4-BE49-F238E27FC236}">
                <a16:creationId xmlns:a16="http://schemas.microsoft.com/office/drawing/2014/main" id="{0C97535D-F0FD-4395-8AB7-F2E794F6AEF6}"/>
              </a:ext>
            </a:extLst>
          </p:cNvPr>
          <p:cNvSpPr>
            <a:spLocks xmlns:a="http://schemas.openxmlformats.org/drawingml/2006/main" noGrp="1"/>
          </p:cNvSpPr>
          <p:nvPr/>
        </p:nvSpPr>
        <p:spPr>
          <a:xfrm xmlns:a="http://schemas.openxmlformats.org/drawingml/2006/main">
            <a:off x="2638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Data contract · roles · hard constraints</a:t>
            </a:r>
          </a:p>
        </p:txBody>
      </p:sp>
      <p:sp>
        <p:nvSpPr>
          <p:cNvPr id="12" name="">
            <a:extLst xmlns:a="http://schemas.openxmlformats.org/drawingml/2006/main">
              <a:ext uri="{FF2B5EF4-FFF2-40B4-BE49-F238E27FC236}">
                <a16:creationId xmlns:a16="http://schemas.microsoft.com/office/drawing/2014/main" id="{6AEB9C0F-04B7-47B0-8597-C891AA849F35}"/>
              </a:ext>
            </a:extLst>
          </p:cNvPr>
          <p:cNvSpPr>
            <a:spLocks xmlns:a="http://schemas.openxmlformats.org/drawingml/2006/main" noGrp="1"/>
          </p:cNvSpPr>
          <p:nvPr/>
        </p:nvSpPr>
        <p:spPr>
          <a:xfrm xmlns:a="http://schemas.openxmlformats.org/drawingml/2006/main">
            <a:off x="516255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FEE902-DC44-498A-8BEA-9BC5326D0623}"/>
              </a:ext>
            </a:extLst>
          </p:cNvPr>
          <p:cNvSpPr>
            <a:spLocks xmlns:a="http://schemas.openxmlformats.org/drawingml/2006/main" noGrp="1"/>
          </p:cNvSpPr>
          <p:nvPr/>
        </p:nvSpPr>
        <p:spPr>
          <a:xfrm xmlns:a="http://schemas.openxmlformats.org/drawingml/2006/main">
            <a:off x="482917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1-2</a:t>
            </a:r>
          </a:p>
        </p:txBody>
      </p:sp>
      <p:sp>
        <p:nvSpPr>
          <p:cNvPr id="14" name="">
            <a:extLst xmlns:a="http://schemas.openxmlformats.org/drawingml/2006/main">
              <a:ext uri="{FF2B5EF4-FFF2-40B4-BE49-F238E27FC236}">
                <a16:creationId xmlns:a16="http://schemas.microsoft.com/office/drawing/2014/main" id="{CFA5E6DA-3EB6-46B9-9771-2CC89E045912}"/>
              </a:ext>
            </a:extLst>
          </p:cNvPr>
          <p:cNvSpPr>
            <a:spLocks xmlns:a="http://schemas.openxmlformats.org/drawingml/2006/main" noGrp="1"/>
          </p:cNvSpPr>
          <p:nvPr/>
        </p:nvSpPr>
        <p:spPr>
          <a:xfrm xmlns:a="http://schemas.openxmlformats.org/drawingml/2006/main">
            <a:off x="482917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Replay</a:t>
            </a:r>
          </a:p>
        </p:txBody>
      </p:sp>
      <p:sp>
        <p:nvSpPr>
          <p:cNvPr id="15" name="">
            <a:extLst xmlns:a="http://schemas.openxmlformats.org/drawingml/2006/main">
              <a:ext uri="{FF2B5EF4-FFF2-40B4-BE49-F238E27FC236}">
                <a16:creationId xmlns:a16="http://schemas.microsoft.com/office/drawing/2014/main" id="{320AEB72-3AAA-441A-9FF0-52AD71AE3EDA}"/>
              </a:ext>
            </a:extLst>
          </p:cNvPr>
          <p:cNvSpPr>
            <a:spLocks xmlns:a="http://schemas.openxmlformats.org/drawingml/2006/main" noGrp="1"/>
          </p:cNvSpPr>
          <p:nvPr/>
        </p:nvSpPr>
        <p:spPr>
          <a:xfrm xmlns:a="http://schemas.openxmlformats.org/drawingml/2006/main">
            <a:off x="463867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Historical incidents + synthetic stress cases</a:t>
            </a:r>
          </a:p>
        </p:txBody>
      </p:sp>
      <p:sp>
        <p:nvSpPr>
          <p:cNvPr id="16" name="">
            <a:extLst xmlns:a="http://schemas.openxmlformats.org/drawingml/2006/main">
              <a:ext uri="{FF2B5EF4-FFF2-40B4-BE49-F238E27FC236}">
                <a16:creationId xmlns:a16="http://schemas.microsoft.com/office/drawing/2014/main" id="{4AFE7E68-1BC7-4836-8B3C-D86736548148}"/>
              </a:ext>
            </a:extLst>
          </p:cNvPr>
          <p:cNvSpPr>
            <a:spLocks xmlns:a="http://schemas.openxmlformats.org/drawingml/2006/main" noGrp="1"/>
          </p:cNvSpPr>
          <p:nvPr/>
        </p:nvSpPr>
        <p:spPr>
          <a:xfrm xmlns:a="http://schemas.openxmlformats.org/drawingml/2006/main">
            <a:off x="7353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6709A2-5F09-4D5B-A1DA-5DEC444210C2}"/>
              </a:ext>
            </a:extLst>
          </p:cNvPr>
          <p:cNvSpPr>
            <a:spLocks xmlns:a="http://schemas.openxmlformats.org/drawingml/2006/main" noGrp="1"/>
          </p:cNvSpPr>
          <p:nvPr/>
        </p:nvSpPr>
        <p:spPr>
          <a:xfrm xmlns:a="http://schemas.openxmlformats.org/drawingml/2006/main">
            <a:off x="7019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3-4</a:t>
            </a:r>
          </a:p>
        </p:txBody>
      </p:sp>
      <p:sp>
        <p:nvSpPr>
          <p:cNvPr id="18" name="">
            <a:extLst xmlns:a="http://schemas.openxmlformats.org/drawingml/2006/main">
              <a:ext uri="{FF2B5EF4-FFF2-40B4-BE49-F238E27FC236}">
                <a16:creationId xmlns:a16="http://schemas.microsoft.com/office/drawing/2014/main" id="{1AF4BBD8-8C8B-4104-8D36-4D084574EFA8}"/>
              </a:ext>
            </a:extLst>
          </p:cNvPr>
          <p:cNvSpPr>
            <a:spLocks xmlns:a="http://schemas.openxmlformats.org/drawingml/2006/main" noGrp="1"/>
          </p:cNvSpPr>
          <p:nvPr/>
        </p:nvSpPr>
        <p:spPr>
          <a:xfrm xmlns:a="http://schemas.openxmlformats.org/drawingml/2006/main">
            <a:off x="7019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Shadow</a:t>
            </a:r>
          </a:p>
        </p:txBody>
      </p:sp>
      <p:sp>
        <p:nvSpPr>
          <p:cNvPr id="19" name="">
            <a:extLst xmlns:a="http://schemas.openxmlformats.org/drawingml/2006/main">
              <a:ext uri="{FF2B5EF4-FFF2-40B4-BE49-F238E27FC236}">
                <a16:creationId xmlns:a16="http://schemas.microsoft.com/office/drawing/2014/main" id="{D1A5679C-460E-41DF-A669-F82354BF788D}"/>
              </a:ext>
            </a:extLst>
          </p:cNvPr>
          <p:cNvSpPr>
            <a:spLocks xmlns:a="http://schemas.openxmlformats.org/drawingml/2006/main" noGrp="1"/>
          </p:cNvSpPr>
          <p:nvPr/>
        </p:nvSpPr>
        <p:spPr>
          <a:xfrm xmlns:a="http://schemas.openxmlformats.org/drawingml/2006/main">
            <a:off x="6829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Compare options with actual plant decisions</a:t>
            </a:r>
          </a:p>
        </p:txBody>
      </p:sp>
      <p:sp>
        <p:nvSpPr>
          <p:cNvPr id="20" name="">
            <a:extLst xmlns:a="http://schemas.openxmlformats.org/drawingml/2006/main">
              <a:ext uri="{FF2B5EF4-FFF2-40B4-BE49-F238E27FC236}">
                <a16:creationId xmlns:a16="http://schemas.microsoft.com/office/drawing/2014/main" id="{7890C740-B15B-4F15-8FFC-A456A32A4800}"/>
              </a:ext>
            </a:extLst>
          </p:cNvPr>
          <p:cNvSpPr>
            <a:spLocks xmlns:a="http://schemas.openxmlformats.org/drawingml/2006/main" noGrp="1"/>
          </p:cNvSpPr>
          <p:nvPr/>
        </p:nvSpPr>
        <p:spPr>
          <a:xfrm xmlns:a="http://schemas.openxmlformats.org/drawingml/2006/main">
            <a:off x="9639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FAD89F-2AA9-4D72-A684-FB57A43374D2}"/>
              </a:ext>
            </a:extLst>
          </p:cNvPr>
          <p:cNvSpPr>
            <a:spLocks xmlns:a="http://schemas.openxmlformats.org/drawingml/2006/main" noGrp="1"/>
          </p:cNvSpPr>
          <p:nvPr/>
        </p:nvSpPr>
        <p:spPr>
          <a:xfrm xmlns:a="http://schemas.openxmlformats.org/drawingml/2006/main">
            <a:off x="9305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5-6</a:t>
            </a:r>
          </a:p>
        </p:txBody>
      </p:sp>
      <p:sp>
        <p:nvSpPr>
          <p:cNvPr id="22" name="">
            <a:extLst xmlns:a="http://schemas.openxmlformats.org/drawingml/2006/main">
              <a:ext uri="{FF2B5EF4-FFF2-40B4-BE49-F238E27FC236}">
                <a16:creationId xmlns:a16="http://schemas.microsoft.com/office/drawing/2014/main" id="{079A508B-CC11-4629-983C-D570555215EB}"/>
              </a:ext>
            </a:extLst>
          </p:cNvPr>
          <p:cNvSpPr>
            <a:spLocks xmlns:a="http://schemas.openxmlformats.org/drawingml/2006/main" noGrp="1"/>
          </p:cNvSpPr>
          <p:nvPr/>
        </p:nvSpPr>
        <p:spPr>
          <a:xfrm xmlns:a="http://schemas.openxmlformats.org/drawingml/2006/main">
            <a:off x="9305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Decide</a:t>
            </a:r>
          </a:p>
        </p:txBody>
      </p:sp>
      <p:sp>
        <p:nvSpPr>
          <p:cNvPr id="23" name="">
            <a:extLst xmlns:a="http://schemas.openxmlformats.org/drawingml/2006/main">
              <a:ext uri="{FF2B5EF4-FFF2-40B4-BE49-F238E27FC236}">
                <a16:creationId xmlns:a16="http://schemas.microsoft.com/office/drawing/2014/main" id="{AF38377D-622E-4394-BD04-FC99B1B76800}"/>
              </a:ext>
            </a:extLst>
          </p:cNvPr>
          <p:cNvSpPr>
            <a:spLocks xmlns:a="http://schemas.openxmlformats.org/drawingml/2006/main" noGrp="1"/>
          </p:cNvSpPr>
          <p:nvPr/>
        </p:nvSpPr>
        <p:spPr>
          <a:xfrm xmlns:a="http://schemas.openxmlformats.org/drawingml/2006/main">
            <a:off x="9115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Go · revise · stop on measured evidence</a:t>
            </a:r>
          </a:p>
        </p:txBody>
      </p:sp>
      <p:sp>
        <p:nvSpPr>
          <p:cNvPr id="24" name="">
            <a:extLst xmlns:a="http://schemas.openxmlformats.org/drawingml/2006/main">
              <a:ext uri="{FF2B5EF4-FFF2-40B4-BE49-F238E27FC236}">
                <a16:creationId xmlns:a16="http://schemas.microsoft.com/office/drawing/2014/main" id="{9075B823-2594-471F-84C3-CBD8F5074A37}"/>
              </a:ext>
            </a:extLst>
          </p:cNvPr>
          <p:cNvSpPr>
            <a:spLocks xmlns:a="http://schemas.openxmlformats.org/drawingml/2006/main" noGrp="1"/>
          </p:cNvSpPr>
          <p:nvPr/>
        </p:nvSpPr>
        <p:spPr>
          <a:xfrm xmlns:a="http://schemas.openxmlformats.org/drawingml/2006/main">
            <a:off x="685800" y="5334000"/>
            <a:ext cx="10820400" cy="666750"/>
          </a:xfrm>
          <a:prstGeom xmlns:a="http://schemas.openxmlformats.org/drawingml/2006/main" prst="roundRect">
            <a:avLst>
              <a:gd name="adj" fmla="val 20000"/>
            </a:avLst>
          </a:prstGeom>
          <a:solidFill xmlns:a="http://schemas.openxmlformats.org/drawingml/2006/main">
            <a:srgbClr val="061E1B"/>
          </a:solidFill>
          <a:ln xmlns:a="http://schemas.openxmlformats.org/drawingml/2006/main" w="9525">
            <a:solidFill>
              <a:srgbClr val="0F766E"/>
            </a:solidFill>
            <a:prstDash val="solid"/>
          </a:ln>
        </p:spPr>
      </p:sp>
      <p:sp>
        <p:nvSpPr>
          <p:cNvPr id="25" name="">
            <a:extLst xmlns:a="http://schemas.openxmlformats.org/drawingml/2006/main">
              <a:ext uri="{FF2B5EF4-FFF2-40B4-BE49-F238E27FC236}">
                <a16:creationId xmlns:a16="http://schemas.microsoft.com/office/drawing/2014/main" id="{063E09EF-5E60-4074-B196-6F5D8F827E6D}"/>
              </a:ext>
            </a:extLst>
          </p:cNvPr>
          <p:cNvSpPr>
            <a:spLocks xmlns:a="http://schemas.openxmlformats.org/drawingml/2006/main" noGrp="1"/>
          </p:cNvSpPr>
          <p:nvPr/>
        </p:nvSpPr>
        <p:spPr>
          <a:xfrm xmlns:a="http://schemas.openxmlformats.org/drawingml/2006/main">
            <a:off x="895350" y="548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E9763B"/>
                </a:solidFill>
                <a:latin typeface="Arial"/>
                <a:ea typeface="Arial"/>
                <a:cs typeface="Arial"/>
              </a:defRPr>
            </a:pPr>
            <a:r>
              <a:rPr sz="975" b="1">
                <a:solidFill>
                  <a:srgbClr val="E9763B"/>
                </a:solidFill>
                <a:latin typeface="Arial"/>
                <a:ea typeface="Arial"/>
                <a:cs typeface="Arial"/>
              </a:rPr>
              <a:t>Pilot gates to agree</a:t>
            </a:r>
          </a:p>
        </p:txBody>
      </p:sp>
      <p:sp>
        <p:nvSpPr>
          <p:cNvPr id="26" name="">
            <a:extLst xmlns:a="http://schemas.openxmlformats.org/drawingml/2006/main">
              <a:ext uri="{FF2B5EF4-FFF2-40B4-BE49-F238E27FC236}">
                <a16:creationId xmlns:a16="http://schemas.microsoft.com/office/drawing/2014/main" id="{69B965B0-6A55-404D-91E1-282A2E2E5ADD}"/>
              </a:ext>
            </a:extLst>
          </p:cNvPr>
          <p:cNvSpPr>
            <a:spLocks xmlns:a="http://schemas.openxmlformats.org/drawingml/2006/main" noGrp="1"/>
          </p:cNvSpPr>
          <p:nvPr/>
        </p:nvSpPr>
        <p:spPr>
          <a:xfrm xmlns:a="http://schemas.openxmlformats.org/drawingml/2006/main">
            <a:off x="2619375" y="546735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evaluation time · violations caught before action · stability · usability · traceability</a:t>
            </a:r>
          </a:p>
        </p:txBody>
      </p:sp>
      <p:sp>
        <p:nvSpPr>
          <p:cNvPr id="27" name="">
            <a:extLst xmlns:a="http://schemas.openxmlformats.org/drawingml/2006/main">
              <a:ext uri="{FF2B5EF4-FFF2-40B4-BE49-F238E27FC236}">
                <a16:creationId xmlns:a16="http://schemas.microsoft.com/office/drawing/2014/main" id="{6B6594CC-C459-4696-B1ED-A7114DCD0379}"/>
              </a:ext>
            </a:extLst>
          </p:cNvPr>
          <p:cNvSpPr>
            <a:spLocks xmlns:a="http://schemas.openxmlformats.org/drawingml/2006/main" noGrp="1"/>
          </p:cNvSpPr>
          <p:nvPr/>
        </p:nvSpPr>
        <p:spPr>
          <a:xfrm xmlns:a="http://schemas.openxmlformats.org/drawingml/2006/main">
            <a:off x="2619375" y="5772150"/>
            <a:ext cx="866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Pilot targets to agree—not achieved claims</a:t>
            </a:r>
          </a:p>
        </p:txBody>
      </p:sp>
      <p:sp>
        <p:nvSpPr>
          <p:cNvPr id="28" name="">
            <a:extLst xmlns:a="http://schemas.openxmlformats.org/drawingml/2006/main">
              <a:ext uri="{FF2B5EF4-FFF2-40B4-BE49-F238E27FC236}">
                <a16:creationId xmlns:a16="http://schemas.microsoft.com/office/drawing/2014/main" id="{83FFEA1C-3080-437A-963B-49E4310531DC}"/>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17856195"/>
      </p:ext>
    </p:extLst>
  </p:cSld>
</p:sld>
</file>

<file path=ppt/slides/slide7.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46C017-4B62-4796-B12A-1C14DFCEC70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COMPETITIVE ANALYSIS</a:t>
            </a:r>
          </a:p>
        </p:txBody>
      </p:sp>
      <p:sp>
        <p:nvSpPr>
          <p:cNvPr id="2" name="">
            <a:extLst xmlns:a="http://schemas.openxmlformats.org/drawingml/2006/main">
              <a:ext uri="{FF2B5EF4-FFF2-40B4-BE49-F238E27FC236}">
                <a16:creationId xmlns:a16="http://schemas.microsoft.com/office/drawing/2014/main" id="{6489DB86-EE7D-4CE2-BF1F-9878B93B3465}"/>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C3DFD0A-36B8-48C7-98F1-D235C1E5879D}"/>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4BCF72B6-C8D8-4988-A14B-152B07709649}"/>
              </a:ext>
            </a:extLst>
          </p:cNvPr>
          <p:cNvSpPr>
            <a:spLocks xmlns:a="http://schemas.openxmlformats.org/drawingml/2006/main" noGrp="1"/>
          </p:cNvSpPr>
          <p:nvPr/>
        </p:nvSpPr>
        <p:spPr>
          <a:xfrm xmlns:a="http://schemas.openxmlformats.org/drawingml/2006/main">
            <a:off x="685800" y="89535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MES executes. QMS releases. CableTwin compares recovery options.</a:t>
            </a:r>
          </a:p>
        </p:txBody>
      </p:sp>
      <p:sp>
        <p:nvSpPr>
          <p:cNvPr id="5" name="">
            <a:extLst xmlns:a="http://schemas.openxmlformats.org/drawingml/2006/main">
              <a:ext uri="{FF2B5EF4-FFF2-40B4-BE49-F238E27FC236}">
                <a16:creationId xmlns:a16="http://schemas.microsoft.com/office/drawing/2014/main" id="{599E951C-39D3-45E8-B1E9-15BA56F12077}"/>
              </a:ext>
            </a:extLst>
          </p:cNvPr>
          <p:cNvSpPr>
            <a:spLocks xmlns:a="http://schemas.openxmlformats.org/drawingml/2006/main" noGrp="1"/>
          </p:cNvSpPr>
          <p:nvPr/>
        </p:nvSpPr>
        <p:spPr>
          <a:xfrm xmlns:a="http://schemas.openxmlformats.org/drawingml/2006/main">
            <a:off x="685800" y="179070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6" name="">
            <a:extLst xmlns:a="http://schemas.openxmlformats.org/drawingml/2006/main">
              <a:ext uri="{FF2B5EF4-FFF2-40B4-BE49-F238E27FC236}">
                <a16:creationId xmlns:a16="http://schemas.microsoft.com/office/drawing/2014/main" id="{B6300192-2B40-47EB-A2CD-CD91589B1A71}"/>
              </a:ext>
            </a:extLst>
          </p:cNvPr>
          <p:cNvSpPr>
            <a:spLocks xmlns:a="http://schemas.openxmlformats.org/drawingml/2006/main" noGrp="1"/>
          </p:cNvSpPr>
          <p:nvPr/>
        </p:nvSpPr>
        <p:spPr>
          <a:xfrm xmlns:a="http://schemas.openxmlformats.org/drawingml/2006/main">
            <a:off x="685800" y="20002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53645F"/>
                </a:solidFill>
                <a:latin typeface="Arial"/>
                <a:ea typeface="Arial"/>
                <a:cs typeface="Arial"/>
              </a:defRPr>
            </a:pPr>
            <a:r>
              <a:rPr sz="1800" b="1">
                <a:solidFill>
                  <a:srgbClr val="53645F"/>
                </a:solidFill>
                <a:latin typeface="Arial"/>
                <a:ea typeface="Arial"/>
                <a:cs typeface="Arial"/>
              </a:rPr>
              <a:t>Manual / spreadsheet</a:t>
            </a:r>
          </a:p>
        </p:txBody>
      </p:sp>
      <p:sp>
        <p:nvSpPr>
          <p:cNvPr id="7" name="">
            <a:extLst xmlns:a="http://schemas.openxmlformats.org/drawingml/2006/main">
              <a:ext uri="{FF2B5EF4-FFF2-40B4-BE49-F238E27FC236}">
                <a16:creationId xmlns:a16="http://schemas.microsoft.com/office/drawing/2014/main" id="{3229E7E6-A22F-4BD6-8344-C7A7C0013594}"/>
              </a:ext>
            </a:extLst>
          </p:cNvPr>
          <p:cNvSpPr>
            <a:spLocks xmlns:a="http://schemas.openxmlformats.org/drawingml/2006/main" noGrp="1"/>
          </p:cNvSpPr>
          <p:nvPr/>
        </p:nvSpPr>
        <p:spPr>
          <a:xfrm xmlns:a="http://schemas.openxmlformats.org/drawingml/2006/main">
            <a:off x="3810000" y="2000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Flexible and immediate</a:t>
            </a:r>
          </a:p>
        </p:txBody>
      </p:sp>
      <p:sp>
        <p:nvSpPr>
          <p:cNvPr id="8" name="">
            <a:extLst xmlns:a="http://schemas.openxmlformats.org/drawingml/2006/main">
              <a:ext uri="{FF2B5EF4-FFF2-40B4-BE49-F238E27FC236}">
                <a16:creationId xmlns:a16="http://schemas.microsoft.com/office/drawing/2014/main" id="{D2AAB063-E093-4E6B-A7BB-A19F0F423F5F}"/>
              </a:ext>
            </a:extLst>
          </p:cNvPr>
          <p:cNvSpPr>
            <a:spLocks xmlns:a="http://schemas.openxmlformats.org/drawingml/2006/main" noGrp="1"/>
          </p:cNvSpPr>
          <p:nvPr/>
        </p:nvSpPr>
        <p:spPr>
          <a:xfrm xmlns:a="http://schemas.openxmlformats.org/drawingml/2006/main">
            <a:off x="6858000" y="19812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Knowledge stays fragmented; comparison and audit depend on people</a:t>
            </a:r>
          </a:p>
        </p:txBody>
      </p:sp>
      <p:sp>
        <p:nvSpPr>
          <p:cNvPr id="9" name="">
            <a:extLst xmlns:a="http://schemas.openxmlformats.org/drawingml/2006/main">
              <a:ext uri="{FF2B5EF4-FFF2-40B4-BE49-F238E27FC236}">
                <a16:creationId xmlns:a16="http://schemas.microsoft.com/office/drawing/2014/main" id="{6F32F20B-994C-4FD8-831A-07BA07B93F2D}"/>
              </a:ext>
            </a:extLst>
          </p:cNvPr>
          <p:cNvSpPr>
            <a:spLocks xmlns:a="http://schemas.openxmlformats.org/drawingml/2006/main" noGrp="1"/>
          </p:cNvSpPr>
          <p:nvPr/>
        </p:nvSpPr>
        <p:spPr>
          <a:xfrm xmlns:a="http://schemas.openxmlformats.org/drawingml/2006/main">
            <a:off x="685800" y="28384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0" name="">
            <a:extLst xmlns:a="http://schemas.openxmlformats.org/drawingml/2006/main">
              <a:ext uri="{FF2B5EF4-FFF2-40B4-BE49-F238E27FC236}">
                <a16:creationId xmlns:a16="http://schemas.microsoft.com/office/drawing/2014/main" id="{22247200-03CB-48B9-8BAD-D27198E352C7}"/>
              </a:ext>
            </a:extLst>
          </p:cNvPr>
          <p:cNvSpPr>
            <a:spLocks xmlns:a="http://schemas.openxmlformats.org/drawingml/2006/main" noGrp="1"/>
          </p:cNvSpPr>
          <p:nvPr/>
        </p:nvSpPr>
        <p:spPr>
          <a:xfrm xmlns:a="http://schemas.openxmlformats.org/drawingml/2006/main">
            <a:off x="685800" y="3048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73"/>
          </a:bodyPr>
          <a:lstStyle xmlns:a="http://schemas.openxmlformats.org/drawingml/2006/main"/>
          <a:p xmlns:a="http://schemas.openxmlformats.org/drawingml/2006/main">
            <a:pPr algn="l">
              <a:lnSpc>
                <a:spcPct val="100000"/>
              </a:lnSpc>
              <a:buNone/>
              <a:defRPr sz="1800" b="1">
                <a:solidFill>
                  <a:srgbClr val="0F766E"/>
                </a:solidFill>
                <a:latin typeface="Arial"/>
                <a:ea typeface="Arial"/>
                <a:cs typeface="Arial"/>
              </a:defRPr>
            </a:pPr>
            <a:r>
              <a:rPr sz="1800" b="1">
                <a:solidFill>
                  <a:srgbClr val="0F766E"/>
                </a:solidFill>
                <a:latin typeface="Arial"/>
                <a:ea typeface="Arial"/>
                <a:cs typeface="Arial"/>
              </a:rPr>
              <a:t>SCADA · MES · APS · QMS</a:t>
            </a:r>
          </a:p>
        </p:txBody>
      </p:sp>
      <p:sp>
        <p:nvSpPr>
          <p:cNvPr id="11" name="">
            <a:extLst xmlns:a="http://schemas.openxmlformats.org/drawingml/2006/main">
              <a:ext uri="{FF2B5EF4-FFF2-40B4-BE49-F238E27FC236}">
                <a16:creationId xmlns:a16="http://schemas.microsoft.com/office/drawing/2014/main" id="{B4206DAF-BFE1-4CBD-A399-8EE9347C2B73}"/>
              </a:ext>
            </a:extLst>
          </p:cNvPr>
          <p:cNvSpPr>
            <a:spLocks xmlns:a="http://schemas.openxmlformats.org/drawingml/2006/main" noGrp="1"/>
          </p:cNvSpPr>
          <p:nvPr/>
        </p:nvSpPr>
        <p:spPr>
          <a:xfrm xmlns:a="http://schemas.openxmlformats.org/drawingml/2006/main">
            <a:off x="3810000" y="3048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153"/>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Systems of control, record and planning</a:t>
            </a:r>
          </a:p>
        </p:txBody>
      </p:sp>
      <p:sp>
        <p:nvSpPr>
          <p:cNvPr id="12" name="">
            <a:extLst xmlns:a="http://schemas.openxmlformats.org/drawingml/2006/main">
              <a:ext uri="{FF2B5EF4-FFF2-40B4-BE49-F238E27FC236}">
                <a16:creationId xmlns:a16="http://schemas.microsoft.com/office/drawing/2014/main" id="{3C81BE02-8890-4467-A83F-270F88DC8266}"/>
              </a:ext>
            </a:extLst>
          </p:cNvPr>
          <p:cNvSpPr>
            <a:spLocks xmlns:a="http://schemas.openxmlformats.org/drawingml/2006/main" noGrp="1"/>
          </p:cNvSpPr>
          <p:nvPr/>
        </p:nvSpPr>
        <p:spPr>
          <a:xfrm xmlns:a="http://schemas.openxmlformats.org/drawingml/2006/main">
            <a:off x="6858000" y="302895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Essential foundations; incident what-if remains site-specific</a:t>
            </a:r>
          </a:p>
        </p:txBody>
      </p:sp>
      <p:sp>
        <p:nvSpPr>
          <p:cNvPr id="13" name="">
            <a:extLst xmlns:a="http://schemas.openxmlformats.org/drawingml/2006/main">
              <a:ext uri="{FF2B5EF4-FFF2-40B4-BE49-F238E27FC236}">
                <a16:creationId xmlns:a16="http://schemas.microsoft.com/office/drawing/2014/main" id="{572B964D-508C-4ECB-B11D-7D3DFD9EC9F7}"/>
              </a:ext>
            </a:extLst>
          </p:cNvPr>
          <p:cNvSpPr>
            <a:spLocks xmlns:a="http://schemas.openxmlformats.org/drawingml/2006/main" noGrp="1"/>
          </p:cNvSpPr>
          <p:nvPr/>
        </p:nvSpPr>
        <p:spPr>
          <a:xfrm xmlns:a="http://schemas.openxmlformats.org/drawingml/2006/main">
            <a:off x="685800" y="3886200"/>
            <a:ext cx="10820400" cy="0"/>
          </a:xfrm>
          <a:prstGeom xmlns:a="http://schemas.openxmlformats.org/drawingml/2006/main" prst="line">
            <a:avLst/>
          </a:prstGeom>
          <a:noFill xmlns:a="http://schemas.openxmlformats.org/drawingml/2006/main"/>
          <a:ln xmlns:a="http://schemas.openxmlformats.org/drawingml/2006/main" w="38100">
            <a:solidFill>
              <a:srgbClr val="C9F36B"/>
            </a:solidFill>
            <a:prstDash val="solid"/>
          </a:ln>
        </p:spPr>
      </p:sp>
      <p:sp>
        <p:nvSpPr>
          <p:cNvPr id="14" name="">
            <a:extLst xmlns:a="http://schemas.openxmlformats.org/drawingml/2006/main">
              <a:ext uri="{FF2B5EF4-FFF2-40B4-BE49-F238E27FC236}">
                <a16:creationId xmlns:a16="http://schemas.microsoft.com/office/drawing/2014/main" id="{620216F8-2366-4315-8721-372D8F8EC4C6}"/>
              </a:ext>
            </a:extLst>
          </p:cNvPr>
          <p:cNvSpPr>
            <a:spLocks xmlns:a="http://schemas.openxmlformats.org/drawingml/2006/main" noGrp="1"/>
          </p:cNvSpPr>
          <p:nvPr/>
        </p:nvSpPr>
        <p:spPr>
          <a:xfrm xmlns:a="http://schemas.openxmlformats.org/drawingml/2006/main">
            <a:off x="685800" y="4095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2925"/>
                </a:solidFill>
                <a:latin typeface="Arial"/>
                <a:ea typeface="Arial"/>
                <a:cs typeface="Arial"/>
              </a:defRPr>
            </a:pPr>
            <a:r>
              <a:rPr sz="1800" b="1">
                <a:solidFill>
                  <a:srgbClr val="092925"/>
                </a:solidFill>
                <a:latin typeface="Arial"/>
                <a:ea typeface="Arial"/>
                <a:cs typeface="Arial"/>
              </a:rPr>
              <a:t>CableTwin</a:t>
            </a:r>
          </a:p>
        </p:txBody>
      </p:sp>
      <p:sp>
        <p:nvSpPr>
          <p:cNvPr id="15" name="">
            <a:extLst xmlns:a="http://schemas.openxmlformats.org/drawingml/2006/main">
              <a:ext uri="{FF2B5EF4-FFF2-40B4-BE49-F238E27FC236}">
                <a16:creationId xmlns:a16="http://schemas.microsoft.com/office/drawing/2014/main" id="{5A3FB4C2-4166-41C5-8A6F-6DBF78E2A002}"/>
              </a:ext>
            </a:extLst>
          </p:cNvPr>
          <p:cNvSpPr>
            <a:spLocks xmlns:a="http://schemas.openxmlformats.org/drawingml/2006/main" noGrp="1"/>
          </p:cNvSpPr>
          <p:nvPr/>
        </p:nvSpPr>
        <p:spPr>
          <a:xfrm xmlns:a="http://schemas.openxmlformats.org/drawingml/2006/main">
            <a:off x="3810000" y="4095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Read-only decision layer</a:t>
            </a:r>
          </a:p>
        </p:txBody>
      </p:sp>
      <p:sp>
        <p:nvSpPr>
          <p:cNvPr id="16" name="">
            <a:extLst xmlns:a="http://schemas.openxmlformats.org/drawingml/2006/main">
              <a:ext uri="{FF2B5EF4-FFF2-40B4-BE49-F238E27FC236}">
                <a16:creationId xmlns:a16="http://schemas.microsoft.com/office/drawing/2014/main" id="{19544A0C-3862-4861-B25B-7464596087E3}"/>
              </a:ext>
            </a:extLst>
          </p:cNvPr>
          <p:cNvSpPr>
            <a:spLocks xmlns:a="http://schemas.openxmlformats.org/drawingml/2006/main" noGrp="1"/>
          </p:cNvSpPr>
          <p:nvPr/>
        </p:nvSpPr>
        <p:spPr>
          <a:xfrm xmlns:a="http://schemas.openxmlformats.org/drawingml/2006/main">
            <a:off x="6858000" y="40767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Incident state + alternatives + hard constraints + provenance + human gate</a:t>
            </a:r>
          </a:p>
        </p:txBody>
      </p:sp>
      <p:sp>
        <p:nvSpPr>
          <p:cNvPr id="17" name="">
            <a:extLst xmlns:a="http://schemas.openxmlformats.org/drawingml/2006/main">
              <a:ext uri="{FF2B5EF4-FFF2-40B4-BE49-F238E27FC236}">
                <a16:creationId xmlns:a16="http://schemas.microsoft.com/office/drawing/2014/main" id="{A6316E0B-16E2-4DC7-8D8F-1589B454245D}"/>
              </a:ext>
            </a:extLst>
          </p:cNvPr>
          <p:cNvSpPr>
            <a:spLocks xmlns:a="http://schemas.openxmlformats.org/drawingml/2006/main" noGrp="1"/>
          </p:cNvSpPr>
          <p:nvPr/>
        </p:nvSpPr>
        <p:spPr>
          <a:xfrm xmlns:a="http://schemas.openxmlformats.org/drawingml/2006/main">
            <a:off x="685800" y="5410200"/>
            <a:ext cx="10820400" cy="552450"/>
          </a:xfrm>
          <a:prstGeom xmlns:a="http://schemas.openxmlformats.org/drawingml/2006/main" prst="roundRect">
            <a:avLst>
              <a:gd name="adj" fmla="val 20690"/>
            </a:avLst>
          </a:prstGeom>
          <a:solidFill xmlns:a="http://schemas.openxmlformats.org/drawingml/2006/main">
            <a:srgbClr val="09292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0DB15D2-7699-4A6A-84D9-19AD0661BD3C}"/>
              </a:ext>
            </a:extLst>
          </p:cNvPr>
          <p:cNvSpPr>
            <a:spLocks xmlns:a="http://schemas.openxmlformats.org/drawingml/2006/main" noGrp="1"/>
          </p:cNvSpPr>
          <p:nvPr/>
        </p:nvSpPr>
        <p:spPr>
          <a:xfrm xmlns:a="http://schemas.openxmlformats.org/drawingml/2006/main">
            <a:off x="876300" y="5572125"/>
            <a:ext cx="1043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Differentiation = cross-domain recovery comparison before action, with explicit human authority</a:t>
            </a:r>
          </a:p>
        </p:txBody>
      </p:sp>
      <p:sp>
        <p:nvSpPr>
          <p:cNvPr id="19" name="">
            <a:extLst xmlns:a="http://schemas.openxmlformats.org/drawingml/2006/main">
              <a:ext uri="{FF2B5EF4-FFF2-40B4-BE49-F238E27FC236}">
                <a16:creationId xmlns:a16="http://schemas.microsoft.com/office/drawing/2014/main" id="{3D7DE9AD-F37D-4CE1-957E-574BB3B111B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
        <p:nvSpPr>
          <p:cNvPr id="20" name="">
            <a:extLst xmlns:a="http://schemas.openxmlformats.org/drawingml/2006/main">
              <a:ext uri="{FF2B5EF4-FFF2-40B4-BE49-F238E27FC236}">
                <a16:creationId xmlns:a16="http://schemas.microsoft.com/office/drawing/2014/main" id="{DB0CC13C-DD29-4FC3-8AD5-5163C5E25294}"/>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Sources: NIST human-in-loop twins · Siemens APS · DELMIA Ortems</a:t>
            </a:r>
          </a:p>
        </p:txBody>
      </p:sp>
    </p:spTree>
    <p:extLst>
      <p:ext uri="{BB962C8B-B14F-4D97-AF65-F5344CB8AC3E}">
        <p14:creationId xmlns:p14="http://schemas.microsoft.com/office/powerpoint/2010/main" val="1962882764"/>
      </p:ext>
    </p:extLst>
  </p:cSld>
</p:sld>
</file>

<file path=ppt/slides/slide8.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AFE1C51-7627-4A57-8587-AFB2E8B5AC15}"/>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B770EF7D-CEB5-466B-AAE9-C894F7E35AE8}"/>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2C589DF-6168-40F6-860A-D3E16444FA32}"/>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E3A1A214-99AF-44CA-91DD-37D52D35A3E6}"/>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31"/>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One accountable builder shipped the loop—and kept its limits visible.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5fe70b8469e48e8"/>
          <a:stretch xmlns:a="http://schemas.openxmlformats.org/drawingml/2006/main"/>
        </p:blipFill>
        <p:spPr>
          <a:xfrm xmlns:a="http://schemas.openxmlformats.org/drawingml/2006/main">
            <a:off x="723900" y="1952625"/>
            <a:ext cx="1333500" cy="133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869958-0744-4A1B-8136-AF9A2940B166}"/>
              </a:ext>
            </a:extLst>
          </p:cNvPr>
          <p:cNvSpPr>
            <a:spLocks xmlns:a="http://schemas.openxmlformats.org/drawingml/2006/main" noGrp="1"/>
          </p:cNvSpPr>
          <p:nvPr/>
        </p:nvSpPr>
        <p:spPr>
          <a:xfrm xmlns:a="http://schemas.openxmlformats.org/drawingml/2006/main">
            <a:off x="685800" y="35623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C9F36B"/>
                </a:solidFill>
                <a:latin typeface="Arial"/>
                <a:ea typeface="Arial"/>
                <a:cs typeface="Arial"/>
              </a:defRPr>
            </a:pPr>
            <a:r>
              <a:rPr sz="2550" b="1">
                <a:solidFill>
                  <a:srgbClr val="C9F36B"/>
                </a:solidFill>
                <a:latin typeface="Arial"/>
                <a:ea typeface="Arial"/>
                <a:cs typeface="Arial"/>
              </a:rPr>
              <a:t>Oussama Akir</a:t>
            </a:r>
          </a:p>
        </p:txBody>
      </p:sp>
      <p:sp>
        <p:nvSpPr>
          <p:cNvPr id="7" name="">
            <a:extLst xmlns:a="http://schemas.openxmlformats.org/drawingml/2006/main">
              <a:ext uri="{FF2B5EF4-FFF2-40B4-BE49-F238E27FC236}">
                <a16:creationId xmlns:a16="http://schemas.microsoft.com/office/drawing/2014/main" id="{B61AC939-A6C8-489D-9466-92EB04C43F0D}"/>
              </a:ext>
            </a:extLst>
          </p:cNvPr>
          <p:cNvSpPr>
            <a:spLocks xmlns:a="http://schemas.openxmlformats.org/drawingml/2006/main" noGrp="1"/>
          </p:cNvSpPr>
          <p:nvPr/>
        </p:nvSpPr>
        <p:spPr>
          <a:xfrm xmlns:a="http://schemas.openxmlformats.org/drawingml/2006/main">
            <a:off x="6858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SUPCOM · solo participant</a:t>
            </a:r>
          </a:p>
        </p:txBody>
      </p:sp>
      <p:sp>
        <p:nvSpPr>
          <p:cNvPr id="8" name="">
            <a:extLst xmlns:a="http://schemas.openxmlformats.org/drawingml/2006/main">
              <a:ext uri="{FF2B5EF4-FFF2-40B4-BE49-F238E27FC236}">
                <a16:creationId xmlns:a16="http://schemas.microsoft.com/office/drawing/2014/main" id="{69CBF7C2-EC32-4FFE-A119-10705DB55A52}"/>
              </a:ext>
            </a:extLst>
          </p:cNvPr>
          <p:cNvSpPr>
            <a:spLocks xmlns:a="http://schemas.openxmlformats.org/drawingml/2006/main" noGrp="1"/>
          </p:cNvSpPr>
          <p:nvPr/>
        </p:nvSpPr>
        <p:spPr>
          <a:xfrm xmlns:a="http://schemas.openxmlformats.org/drawingml/2006/main">
            <a:off x="685800" y="45434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5F4ED"/>
                </a:solidFill>
                <a:latin typeface="Arial"/>
                <a:ea typeface="Arial"/>
                <a:cs typeface="Arial"/>
              </a:defRPr>
            </a:pPr>
            <a:r>
              <a:rPr sz="1425" b="0">
                <a:solidFill>
                  <a:srgbClr val="F5F4ED"/>
                </a:solidFill>
                <a:latin typeface="Arial"/>
                <a:ea typeface="Arial"/>
                <a:cs typeface="Arial"/>
              </a:rPr>
              <a:t>Product · industrial scenario · constraints · ML retrieval · twin · QA · deployment · evidence</a:t>
            </a:r>
          </a:p>
        </p:txBody>
      </p:sp>
      <p:sp>
        <p:nvSpPr>
          <p:cNvPr id="9" name="">
            <a:extLst xmlns:a="http://schemas.openxmlformats.org/drawingml/2006/main">
              <a:ext uri="{FF2B5EF4-FFF2-40B4-BE49-F238E27FC236}">
                <a16:creationId xmlns:a16="http://schemas.microsoft.com/office/drawing/2014/main" id="{F58D8C07-28D6-4209-A301-0FF4BBA9AAA0}"/>
              </a:ext>
            </a:extLst>
          </p:cNvPr>
          <p:cNvSpPr>
            <a:spLocks xmlns:a="http://schemas.openxmlformats.org/drawingml/2006/main" noGrp="1"/>
          </p:cNvSpPr>
          <p:nvPr/>
        </p:nvSpPr>
        <p:spPr>
          <a:xfrm xmlns:a="http://schemas.openxmlformats.org/drawingml/2006/main">
            <a:off x="4095750" y="2333625"/>
            <a:ext cx="66675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F0734031-EB49-4691-85EA-7E55FCB7CD02}"/>
              </a:ext>
            </a:extLst>
          </p:cNvPr>
          <p:cNvSpPr>
            <a:spLocks xmlns:a="http://schemas.openxmlformats.org/drawingml/2006/main" noGrp="1"/>
          </p:cNvSpPr>
          <p:nvPr/>
        </p:nvSpPr>
        <p:spPr>
          <a:xfrm xmlns:a="http://schemas.openxmlformats.org/drawingml/2006/main">
            <a:off x="40957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8E0211-ED6A-4CBF-82C2-485D3A7EAD93}"/>
              </a:ext>
            </a:extLst>
          </p:cNvPr>
          <p:cNvSpPr>
            <a:spLocks xmlns:a="http://schemas.openxmlformats.org/drawingml/2006/main" noGrp="1"/>
          </p:cNvSpPr>
          <p:nvPr/>
        </p:nvSpPr>
        <p:spPr>
          <a:xfrm xmlns:a="http://schemas.openxmlformats.org/drawingml/2006/main">
            <a:off x="37719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PHASE 1</a:t>
            </a:r>
          </a:p>
        </p:txBody>
      </p:sp>
      <p:sp>
        <p:nvSpPr>
          <p:cNvPr id="12" name="">
            <a:extLst xmlns:a="http://schemas.openxmlformats.org/drawingml/2006/main">
              <a:ext uri="{FF2B5EF4-FFF2-40B4-BE49-F238E27FC236}">
                <a16:creationId xmlns:a16="http://schemas.microsoft.com/office/drawing/2014/main" id="{E51DA231-3DDE-43FD-871E-B8D8BBA7B472}"/>
              </a:ext>
            </a:extLst>
          </p:cNvPr>
          <p:cNvSpPr>
            <a:spLocks xmlns:a="http://schemas.openxmlformats.org/drawingml/2006/main" noGrp="1"/>
          </p:cNvSpPr>
          <p:nvPr/>
        </p:nvSpPr>
        <p:spPr>
          <a:xfrm xmlns:a="http://schemas.openxmlformats.org/drawingml/2006/main">
            <a:off x="36766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Focus</a:t>
            </a:r>
          </a:p>
        </p:txBody>
      </p:sp>
      <p:sp>
        <p:nvSpPr>
          <p:cNvPr id="13" name="">
            <a:extLst xmlns:a="http://schemas.openxmlformats.org/drawingml/2006/main">
              <a:ext uri="{FF2B5EF4-FFF2-40B4-BE49-F238E27FC236}">
                <a16:creationId xmlns:a16="http://schemas.microsoft.com/office/drawing/2014/main" id="{5E61F788-B08A-4DA5-A394-4F176D750C6D}"/>
              </a:ext>
            </a:extLst>
          </p:cNvPr>
          <p:cNvSpPr>
            <a:spLocks xmlns:a="http://schemas.openxmlformats.org/drawingml/2006/main" noGrp="1"/>
          </p:cNvSpPr>
          <p:nvPr/>
        </p:nvSpPr>
        <p:spPr>
          <a:xfrm xmlns:a="http://schemas.openxmlformats.org/drawingml/2006/main">
            <a:off x="35814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One stoppage decision</a:t>
            </a:r>
          </a:p>
        </p:txBody>
      </p:sp>
      <p:sp>
        <p:nvSpPr>
          <p:cNvPr id="14" name="">
            <a:extLst xmlns:a="http://schemas.openxmlformats.org/drawingml/2006/main">
              <a:ext uri="{FF2B5EF4-FFF2-40B4-BE49-F238E27FC236}">
                <a16:creationId xmlns:a16="http://schemas.microsoft.com/office/drawing/2014/main" id="{0E328123-C371-4460-A841-FEB8082C2D85}"/>
              </a:ext>
            </a:extLst>
          </p:cNvPr>
          <p:cNvSpPr>
            <a:spLocks xmlns:a="http://schemas.openxmlformats.org/drawingml/2006/main" noGrp="1"/>
          </p:cNvSpPr>
          <p:nvPr/>
        </p:nvSpPr>
        <p:spPr>
          <a:xfrm xmlns:a="http://schemas.openxmlformats.org/drawingml/2006/main">
            <a:off x="628650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2EC737-A820-41FC-B348-760C01901DDF}"/>
              </a:ext>
            </a:extLst>
          </p:cNvPr>
          <p:cNvSpPr>
            <a:spLocks xmlns:a="http://schemas.openxmlformats.org/drawingml/2006/main" noGrp="1"/>
          </p:cNvSpPr>
          <p:nvPr/>
        </p:nvSpPr>
        <p:spPr>
          <a:xfrm xmlns:a="http://schemas.openxmlformats.org/drawingml/2006/main">
            <a:off x="59626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2</a:t>
            </a:r>
          </a:p>
        </p:txBody>
      </p:sp>
      <p:sp>
        <p:nvSpPr>
          <p:cNvPr id="16" name="">
            <a:extLst xmlns:a="http://schemas.openxmlformats.org/drawingml/2006/main">
              <a:ext uri="{FF2B5EF4-FFF2-40B4-BE49-F238E27FC236}">
                <a16:creationId xmlns:a16="http://schemas.microsoft.com/office/drawing/2014/main" id="{0DFFCBBA-DC91-4FCC-A290-285F0F442CE2}"/>
              </a:ext>
            </a:extLst>
          </p:cNvPr>
          <p:cNvSpPr>
            <a:spLocks xmlns:a="http://schemas.openxmlformats.org/drawingml/2006/main" noGrp="1"/>
          </p:cNvSpPr>
          <p:nvPr/>
        </p:nvSpPr>
        <p:spPr>
          <a:xfrm xmlns:a="http://schemas.openxmlformats.org/drawingml/2006/main">
            <a:off x="58674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Build</a:t>
            </a:r>
          </a:p>
        </p:txBody>
      </p:sp>
      <p:sp>
        <p:nvSpPr>
          <p:cNvPr id="17" name="">
            <a:extLst xmlns:a="http://schemas.openxmlformats.org/drawingml/2006/main">
              <a:ext uri="{FF2B5EF4-FFF2-40B4-BE49-F238E27FC236}">
                <a16:creationId xmlns:a16="http://schemas.microsoft.com/office/drawing/2014/main" id="{1FF4D804-2FBC-4783-BDC4-ECD00D102791}"/>
              </a:ext>
            </a:extLst>
          </p:cNvPr>
          <p:cNvSpPr>
            <a:spLocks xmlns:a="http://schemas.openxmlformats.org/drawingml/2006/main" noGrp="1"/>
          </p:cNvSpPr>
          <p:nvPr/>
        </p:nvSpPr>
        <p:spPr>
          <a:xfrm xmlns:a="http://schemas.openxmlformats.org/drawingml/2006/main">
            <a:off x="57721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Public twin + evidence</a:t>
            </a:r>
          </a:p>
        </p:txBody>
      </p:sp>
      <p:sp>
        <p:nvSpPr>
          <p:cNvPr id="18" name="">
            <a:extLst xmlns:a="http://schemas.openxmlformats.org/drawingml/2006/main">
              <a:ext uri="{FF2B5EF4-FFF2-40B4-BE49-F238E27FC236}">
                <a16:creationId xmlns:a16="http://schemas.microsoft.com/office/drawing/2014/main" id="{B346356B-7FA3-4507-984B-1732612470ED}"/>
              </a:ext>
            </a:extLst>
          </p:cNvPr>
          <p:cNvSpPr>
            <a:spLocks xmlns:a="http://schemas.openxmlformats.org/drawingml/2006/main" noGrp="1"/>
          </p:cNvSpPr>
          <p:nvPr/>
        </p:nvSpPr>
        <p:spPr>
          <a:xfrm xmlns:a="http://schemas.openxmlformats.org/drawingml/2006/main">
            <a:off x="84772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0F640CD-DEA9-42F4-9BB2-A9B57E1BC2EC}"/>
              </a:ext>
            </a:extLst>
          </p:cNvPr>
          <p:cNvSpPr>
            <a:spLocks xmlns:a="http://schemas.openxmlformats.org/drawingml/2006/main" noGrp="1"/>
          </p:cNvSpPr>
          <p:nvPr/>
        </p:nvSpPr>
        <p:spPr>
          <a:xfrm xmlns:a="http://schemas.openxmlformats.org/drawingml/2006/main">
            <a:off x="81534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3</a:t>
            </a:r>
          </a:p>
        </p:txBody>
      </p:sp>
      <p:sp>
        <p:nvSpPr>
          <p:cNvPr id="20" name="">
            <a:extLst xmlns:a="http://schemas.openxmlformats.org/drawingml/2006/main">
              <a:ext uri="{FF2B5EF4-FFF2-40B4-BE49-F238E27FC236}">
                <a16:creationId xmlns:a16="http://schemas.microsoft.com/office/drawing/2014/main" id="{D2180CB9-7310-4189-84C4-D1017DD4319A}"/>
              </a:ext>
            </a:extLst>
          </p:cNvPr>
          <p:cNvSpPr>
            <a:spLocks xmlns:a="http://schemas.openxmlformats.org/drawingml/2006/main" noGrp="1"/>
          </p:cNvSpPr>
          <p:nvPr/>
        </p:nvSpPr>
        <p:spPr>
          <a:xfrm xmlns:a="http://schemas.openxmlformats.org/drawingml/2006/main">
            <a:off x="80581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Defend</a:t>
            </a:r>
          </a:p>
        </p:txBody>
      </p:sp>
      <p:sp>
        <p:nvSpPr>
          <p:cNvPr id="21" name="">
            <a:extLst xmlns:a="http://schemas.openxmlformats.org/drawingml/2006/main">
              <a:ext uri="{FF2B5EF4-FFF2-40B4-BE49-F238E27FC236}">
                <a16:creationId xmlns:a16="http://schemas.microsoft.com/office/drawing/2014/main" id="{5E99BF42-7274-4D06-A935-568F3702F708}"/>
              </a:ext>
            </a:extLst>
          </p:cNvPr>
          <p:cNvSpPr>
            <a:spLocks xmlns:a="http://schemas.openxmlformats.org/drawingml/2006/main" noGrp="1"/>
          </p:cNvSpPr>
          <p:nvPr/>
        </p:nvSpPr>
        <p:spPr>
          <a:xfrm xmlns:a="http://schemas.openxmlformats.org/drawingml/2006/main">
            <a:off x="79629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Flagship scenario + 4-minute pitch</a:t>
            </a:r>
          </a:p>
        </p:txBody>
      </p:sp>
      <p:sp>
        <p:nvSpPr>
          <p:cNvPr id="22" name="">
            <a:extLst xmlns:a="http://schemas.openxmlformats.org/drawingml/2006/main">
              <a:ext uri="{FF2B5EF4-FFF2-40B4-BE49-F238E27FC236}">
                <a16:creationId xmlns:a16="http://schemas.microsoft.com/office/drawing/2014/main" id="{EA0DC193-C4E5-408A-9191-1561491280CE}"/>
              </a:ext>
            </a:extLst>
          </p:cNvPr>
          <p:cNvSpPr>
            <a:spLocks xmlns:a="http://schemas.openxmlformats.org/drawingml/2006/main" noGrp="1"/>
          </p:cNvSpPr>
          <p:nvPr/>
        </p:nvSpPr>
        <p:spPr>
          <a:xfrm xmlns:a="http://schemas.openxmlformats.org/drawingml/2006/main">
            <a:off x="10668000" y="2133600"/>
            <a:ext cx="400050" cy="400050"/>
          </a:xfrm>
          <a:prstGeom xmlns:a="http://schemas.openxmlformats.org/drawingml/2006/main" prst="ellipse">
            <a:avLst/>
          </a:prstGeom>
          <a:solidFill xmlns:a="http://schemas.openxmlformats.org/drawingml/2006/main">
            <a:srgbClr val="E976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727670-14A0-4D23-B3E4-85FD94448C6F}"/>
              </a:ext>
            </a:extLst>
          </p:cNvPr>
          <p:cNvSpPr>
            <a:spLocks xmlns:a="http://schemas.openxmlformats.org/drawingml/2006/main" noGrp="1"/>
          </p:cNvSpPr>
          <p:nvPr/>
        </p:nvSpPr>
        <p:spPr>
          <a:xfrm xmlns:a="http://schemas.openxmlformats.org/drawingml/2006/main">
            <a:off x="103441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NEXT</a:t>
            </a:r>
          </a:p>
        </p:txBody>
      </p:sp>
      <p:sp>
        <p:nvSpPr>
          <p:cNvPr id="24" name="">
            <a:extLst xmlns:a="http://schemas.openxmlformats.org/drawingml/2006/main">
              <a:ext uri="{FF2B5EF4-FFF2-40B4-BE49-F238E27FC236}">
                <a16:creationId xmlns:a16="http://schemas.microsoft.com/office/drawing/2014/main" id="{13D49160-4DE7-4918-BB50-66B5EFB621A5}"/>
              </a:ext>
            </a:extLst>
          </p:cNvPr>
          <p:cNvSpPr>
            <a:spLocks xmlns:a="http://schemas.openxmlformats.org/drawingml/2006/main" noGrp="1"/>
          </p:cNvSpPr>
          <p:nvPr/>
        </p:nvSpPr>
        <p:spPr>
          <a:xfrm xmlns:a="http://schemas.openxmlformats.org/drawingml/2006/main">
            <a:off x="102489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0381DF40-CD59-4489-86BD-94331E39AB96}"/>
              </a:ext>
            </a:extLst>
          </p:cNvPr>
          <p:cNvSpPr>
            <a:spLocks xmlns:a="http://schemas.openxmlformats.org/drawingml/2006/main" noGrp="1"/>
          </p:cNvSpPr>
          <p:nvPr/>
        </p:nvSpPr>
        <p:spPr>
          <a:xfrm xmlns:a="http://schemas.openxmlformats.org/drawingml/2006/main">
            <a:off x="101536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Cable-plant design partner</a:t>
            </a:r>
          </a:p>
        </p:txBody>
      </p:sp>
      <p:sp>
        <p:nvSpPr>
          <p:cNvPr id="26" name="">
            <a:extLst xmlns:a="http://schemas.openxmlformats.org/drawingml/2006/main">
              <a:ext uri="{FF2B5EF4-FFF2-40B4-BE49-F238E27FC236}">
                <a16:creationId xmlns:a16="http://schemas.microsoft.com/office/drawing/2014/main" id="{A1664A9B-4FD5-46AB-AC04-0A3D831BF9D8}"/>
              </a:ext>
            </a:extLst>
          </p:cNvPr>
          <p:cNvSpPr>
            <a:spLocks xmlns:a="http://schemas.openxmlformats.org/drawingml/2006/main" noGrp="1"/>
          </p:cNvSpPr>
          <p:nvPr/>
        </p:nvSpPr>
        <p:spPr>
          <a:xfrm xmlns:a="http://schemas.openxmlformats.org/drawingml/2006/main">
            <a:off x="4095750" y="4762500"/>
            <a:ext cx="7410450" cy="800100"/>
          </a:xfrm>
          <a:prstGeom xmlns:a="http://schemas.openxmlformats.org/drawingml/2006/main" prst="roundRect">
            <a:avLst>
              <a:gd name="adj" fmla="val 16667"/>
            </a:avLst>
          </a:prstGeom>
          <a:solidFill xmlns:a="http://schemas.openxmlformats.org/drawingml/2006/main">
            <a:srgbClr val="061E1B"/>
          </a:solidFill>
          <a:ln xmlns:a="http://schemas.openxmlformats.org/drawingml/2006/main" w="9525">
            <a:solidFill>
              <a:srgbClr val="0F766E"/>
            </a:solidFill>
            <a:prstDash val="solid"/>
          </a:ln>
        </p:spPr>
      </p:sp>
      <p:sp>
        <p:nvSpPr>
          <p:cNvPr id="27" name="">
            <a:extLst xmlns:a="http://schemas.openxmlformats.org/drawingml/2006/main">
              <a:ext uri="{FF2B5EF4-FFF2-40B4-BE49-F238E27FC236}">
                <a16:creationId xmlns:a16="http://schemas.microsoft.com/office/drawing/2014/main" id="{90E451F5-751F-41A6-B9D5-720520223CF8}"/>
              </a:ext>
            </a:extLst>
          </p:cNvPr>
          <p:cNvSpPr>
            <a:spLocks xmlns:a="http://schemas.openxmlformats.org/drawingml/2006/main" noGrp="1"/>
          </p:cNvSpPr>
          <p:nvPr/>
        </p:nvSpPr>
        <p:spPr>
          <a:xfrm xmlns:a="http://schemas.openxmlformats.org/drawingml/2006/main">
            <a:off x="4324350" y="4953000"/>
            <a:ext cx="695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ctr">
              <a:lnSpc>
                <a:spcPct val="100000"/>
              </a:lnSpc>
              <a:buNone/>
              <a:defRPr sz="1650" b="1">
                <a:solidFill>
                  <a:srgbClr val="F5F4ED"/>
                </a:solidFill>
                <a:latin typeface="Arial"/>
                <a:ea typeface="Arial"/>
                <a:cs typeface="Arial"/>
              </a:defRPr>
            </a:pPr>
            <a:r>
              <a:rPr sz="1650" b="1">
                <a:solidFill>
                  <a:srgbClr val="F5F4ED"/>
                </a:solidFill>
                <a:latin typeface="Arial"/>
                <a:ea typeface="Arial"/>
                <a:cs typeface="Arial"/>
              </a:rPr>
              <a:t>The next team extension is not a fictional org chart.</a:t>
            </a:r>
          </a:p>
        </p:txBody>
      </p:sp>
      <p:sp>
        <p:nvSpPr>
          <p:cNvPr id="28" name="">
            <a:extLst xmlns:a="http://schemas.openxmlformats.org/drawingml/2006/main">
              <a:ext uri="{FF2B5EF4-FFF2-40B4-BE49-F238E27FC236}">
                <a16:creationId xmlns:a16="http://schemas.microsoft.com/office/drawing/2014/main" id="{98532C92-F159-47B9-AE5B-B32D5D201D7E}"/>
              </a:ext>
            </a:extLst>
          </p:cNvPr>
          <p:cNvSpPr>
            <a:spLocks xmlns:a="http://schemas.openxmlformats.org/drawingml/2006/main" noGrp="1"/>
          </p:cNvSpPr>
          <p:nvPr/>
        </p:nvSpPr>
        <p:spPr>
          <a:xfrm xmlns:a="http://schemas.openxmlformats.org/drawingml/2006/main">
            <a:off x="4324350" y="5238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9F36B"/>
                </a:solidFill>
                <a:latin typeface="Arial"/>
                <a:ea typeface="Arial"/>
                <a:cs typeface="Arial"/>
              </a:defRPr>
            </a:pPr>
            <a:r>
              <a:rPr sz="1200" b="0">
                <a:solidFill>
                  <a:srgbClr val="C9F36B"/>
                </a:solidFill>
                <a:latin typeface="Arial"/>
                <a:ea typeface="Arial"/>
                <a:cs typeface="Arial"/>
              </a:rPr>
              <a:t>It is one real cable plant, its production planner and its Quality authority.</a:t>
            </a:r>
          </a:p>
        </p:txBody>
      </p:sp>
      <p:sp>
        <p:nvSpPr>
          <p:cNvPr id="29" name="">
            <a:extLst xmlns:a="http://schemas.openxmlformats.org/drawingml/2006/main">
              <a:ext uri="{FF2B5EF4-FFF2-40B4-BE49-F238E27FC236}">
                <a16:creationId xmlns:a16="http://schemas.microsoft.com/office/drawing/2014/main" id="{00753213-1064-4CC6-A45A-FC12853D592F}"/>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915331131"/>
      </p:ext>
    </p:extLst>
  </p:cSld>
</p:sld>
</file>

<file path=ppt/slides/slide9.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89A4E5-B49C-47E4-BF1D-B04F0605962C}"/>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FINANCIALS / KEY FIGURES</a:t>
            </a:r>
          </a:p>
        </p:txBody>
      </p:sp>
      <p:sp>
        <p:nvSpPr>
          <p:cNvPr id="2" name="">
            <a:extLst xmlns:a="http://schemas.openxmlformats.org/drawingml/2006/main">
              <a:ext uri="{FF2B5EF4-FFF2-40B4-BE49-F238E27FC236}">
                <a16:creationId xmlns:a16="http://schemas.microsoft.com/office/drawing/2014/main" id="{1CF19549-0196-4E29-BA72-79434604DC6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83C1F14-A926-4598-BA1E-73A02595C529}"/>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F4F2B1BF-4B8A-4CFE-8B3C-3DEC80591577}"/>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Commercial truth first: zero pilots, zero revenue, zero ROI claims.</a:t>
            </a:r>
          </a:p>
        </p:txBody>
      </p:sp>
      <p:sp>
        <p:nvSpPr>
          <p:cNvPr id="5" name="">
            <a:extLst xmlns:a="http://schemas.openxmlformats.org/drawingml/2006/main">
              <a:ext uri="{FF2B5EF4-FFF2-40B4-BE49-F238E27FC236}">
                <a16:creationId xmlns:a16="http://schemas.microsoft.com/office/drawing/2014/main" id="{282D7268-C4AD-4EE1-B0AF-A9E689FFF6D4}"/>
              </a:ext>
            </a:extLst>
          </p:cNvPr>
          <p:cNvSpPr>
            <a:spLocks xmlns:a="http://schemas.openxmlformats.org/drawingml/2006/main" noGrp="1"/>
          </p:cNvSpPr>
          <p:nvPr/>
        </p:nvSpPr>
        <p:spPr>
          <a:xfrm xmlns:a="http://schemas.openxmlformats.org/drawingml/2006/main">
            <a:off x="6858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6" name="">
            <a:extLst xmlns:a="http://schemas.openxmlformats.org/drawingml/2006/main">
              <a:ext uri="{FF2B5EF4-FFF2-40B4-BE49-F238E27FC236}">
                <a16:creationId xmlns:a16="http://schemas.microsoft.com/office/drawing/2014/main" id="{AAB72147-EC97-49DC-AE47-8F7AB35DA2FF}"/>
              </a:ext>
            </a:extLst>
          </p:cNvPr>
          <p:cNvSpPr>
            <a:spLocks xmlns:a="http://schemas.openxmlformats.org/drawingml/2006/main" noGrp="1"/>
          </p:cNvSpPr>
          <p:nvPr/>
        </p:nvSpPr>
        <p:spPr>
          <a:xfrm xmlns:a="http://schemas.openxmlformats.org/drawingml/2006/main">
            <a:off x="6858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SIGNED PILOTS</a:t>
            </a:r>
          </a:p>
        </p:txBody>
      </p:sp>
      <p:sp>
        <p:nvSpPr>
          <p:cNvPr id="7" name="">
            <a:extLst xmlns:a="http://schemas.openxmlformats.org/drawingml/2006/main">
              <a:ext uri="{FF2B5EF4-FFF2-40B4-BE49-F238E27FC236}">
                <a16:creationId xmlns:a16="http://schemas.microsoft.com/office/drawing/2014/main" id="{C2E066AD-000E-4CBE-96BA-AA9D48CFA74D}"/>
              </a:ext>
            </a:extLst>
          </p:cNvPr>
          <p:cNvSpPr>
            <a:spLocks xmlns:a="http://schemas.openxmlformats.org/drawingml/2006/main" noGrp="1"/>
          </p:cNvSpPr>
          <p:nvPr/>
        </p:nvSpPr>
        <p:spPr>
          <a:xfrm xmlns:a="http://schemas.openxmlformats.org/drawingml/2006/main">
            <a:off x="314325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F86A5CA4-C70A-4A41-81E7-5D11B5C81F32}"/>
              </a:ext>
            </a:extLst>
          </p:cNvPr>
          <p:cNvSpPr>
            <a:spLocks xmlns:a="http://schemas.openxmlformats.org/drawingml/2006/main" noGrp="1"/>
          </p:cNvSpPr>
          <p:nvPr/>
        </p:nvSpPr>
        <p:spPr>
          <a:xfrm xmlns:a="http://schemas.openxmlformats.org/drawingml/2006/main">
            <a:off x="314325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REVENUE</a:t>
            </a:r>
          </a:p>
        </p:txBody>
      </p:sp>
      <p:sp>
        <p:nvSpPr>
          <p:cNvPr id="9" name="">
            <a:extLst xmlns:a="http://schemas.openxmlformats.org/drawingml/2006/main">
              <a:ext uri="{FF2B5EF4-FFF2-40B4-BE49-F238E27FC236}">
                <a16:creationId xmlns:a16="http://schemas.microsoft.com/office/drawing/2014/main" id="{FFED0888-1E22-4C9D-A878-5F095BC07C59}"/>
              </a:ext>
            </a:extLst>
          </p:cNvPr>
          <p:cNvSpPr>
            <a:spLocks xmlns:a="http://schemas.openxmlformats.org/drawingml/2006/main" noGrp="1"/>
          </p:cNvSpPr>
          <p:nvPr/>
        </p:nvSpPr>
        <p:spPr>
          <a:xfrm xmlns:a="http://schemas.openxmlformats.org/drawingml/2006/main">
            <a:off x="56007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6A57C926-49A2-4B53-B67B-1A27AF7DADA3}"/>
              </a:ext>
            </a:extLst>
          </p:cNvPr>
          <p:cNvSpPr>
            <a:spLocks xmlns:a="http://schemas.openxmlformats.org/drawingml/2006/main" noGrp="1"/>
          </p:cNvSpPr>
          <p:nvPr/>
        </p:nvSpPr>
        <p:spPr>
          <a:xfrm xmlns:a="http://schemas.openxmlformats.org/drawingml/2006/main">
            <a:off x="56007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ROI CLAIMS</a:t>
            </a:r>
          </a:p>
        </p:txBody>
      </p:sp>
      <p:sp>
        <p:nvSpPr>
          <p:cNvPr id="11" name="">
            <a:extLst xmlns:a="http://schemas.openxmlformats.org/drawingml/2006/main">
              <a:ext uri="{FF2B5EF4-FFF2-40B4-BE49-F238E27FC236}">
                <a16:creationId xmlns:a16="http://schemas.microsoft.com/office/drawing/2014/main" id="{A1C647D1-7FFC-44A8-8B0D-D1B8B6882993}"/>
              </a:ext>
            </a:extLst>
          </p:cNvPr>
          <p:cNvSpPr>
            <a:spLocks xmlns:a="http://schemas.openxmlformats.org/drawingml/2006/main" noGrp="1"/>
          </p:cNvSpPr>
          <p:nvPr/>
        </p:nvSpPr>
        <p:spPr>
          <a:xfrm xmlns:a="http://schemas.openxmlformats.org/drawingml/2006/main">
            <a:off x="7905750" y="1866900"/>
            <a:ext cx="3600450" cy="1238250"/>
          </a:xfrm>
          <a:prstGeom xmlns:a="http://schemas.openxmlformats.org/drawingml/2006/main" prst="roundRect">
            <a:avLst>
              <a:gd name="adj" fmla="val 12308"/>
            </a:avLst>
          </a:prstGeom>
          <a:solidFill xmlns:a="http://schemas.openxmlformats.org/drawingml/2006/main">
            <a:srgbClr val="09292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5A3B43-AB0C-47B6-A318-662EB2ACF1EF}"/>
              </a:ext>
            </a:extLst>
          </p:cNvPr>
          <p:cNvSpPr>
            <a:spLocks xmlns:a="http://schemas.openxmlformats.org/drawingml/2006/main" noGrp="1"/>
          </p:cNvSpPr>
          <p:nvPr/>
        </p:nvSpPr>
        <p:spPr>
          <a:xfrm xmlns:a="http://schemas.openxmlformats.org/drawingml/2006/main">
            <a:off x="8172450" y="21145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000"/>
          </a:bodyPr>
          <a:lstStyle xmlns:a="http://schemas.openxmlformats.org/drawingml/2006/main"/>
          <a:p xmlns:a="http://schemas.openxmlformats.org/drawingml/2006/main">
            <a:pPr algn="ctr">
              <a:lnSpc>
                <a:spcPct val="100000"/>
              </a:lnSpc>
              <a:buNone/>
              <a:defRPr sz="1875" b="1">
                <a:solidFill>
                  <a:srgbClr val="C9F36B"/>
                </a:solidFill>
                <a:latin typeface="Arial"/>
                <a:ea typeface="Arial"/>
                <a:cs typeface="Arial"/>
              </a:defRPr>
            </a:pPr>
            <a:r>
              <a:rPr sz="1875" b="1">
                <a:solidFill>
                  <a:srgbClr val="C9F36B"/>
                </a:solidFill>
                <a:latin typeface="Arial"/>
                <a:ea typeface="Arial"/>
                <a:cs typeface="Arial"/>
              </a:rPr>
              <a:t>Commercial honesty is part of the product.</a:t>
            </a:r>
          </a:p>
        </p:txBody>
      </p:sp>
      <p:sp>
        <p:nvSpPr>
          <p:cNvPr id="13" name="">
            <a:extLst xmlns:a="http://schemas.openxmlformats.org/drawingml/2006/main">
              <a:ext uri="{FF2B5EF4-FFF2-40B4-BE49-F238E27FC236}">
                <a16:creationId xmlns:a16="http://schemas.microsoft.com/office/drawing/2014/main" id="{1367F10C-4904-4C7B-8876-7994226E03A8}"/>
              </a:ext>
            </a:extLst>
          </p:cNvPr>
          <p:cNvSpPr>
            <a:spLocks xmlns:a="http://schemas.openxmlformats.org/drawingml/2006/main" noGrp="1"/>
          </p:cNvSpPr>
          <p:nvPr/>
        </p:nvSpPr>
        <p:spPr>
          <a:xfrm xmlns:a="http://schemas.openxmlformats.org/drawingml/2006/main">
            <a:off x="8172450" y="26098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F5F4ED"/>
                </a:solidFill>
                <a:latin typeface="Arial"/>
                <a:ea typeface="Arial"/>
                <a:cs typeface="Arial"/>
              </a:defRPr>
            </a:pPr>
            <a:r>
              <a:rPr sz="1200" b="0">
                <a:solidFill>
                  <a:srgbClr val="F5F4ED"/>
                </a:solidFill>
                <a:latin typeface="Arial"/>
                <a:ea typeface="Arial"/>
                <a:cs typeface="Arial"/>
              </a:rPr>
              <a:t>Synthetic evidence is not customer evidence.</a:t>
            </a:r>
          </a:p>
        </p:txBody>
      </p:sp>
      <p:sp>
        <p:nvSpPr>
          <p:cNvPr id="14" name="">
            <a:extLst xmlns:a="http://schemas.openxmlformats.org/drawingml/2006/main">
              <a:ext uri="{FF2B5EF4-FFF2-40B4-BE49-F238E27FC236}">
                <a16:creationId xmlns:a16="http://schemas.microsoft.com/office/drawing/2014/main" id="{9CC2085B-1FBB-4CD4-8B19-8F05D93329ED}"/>
              </a:ext>
            </a:extLst>
          </p:cNvPr>
          <p:cNvSpPr>
            <a:spLocks xmlns:a="http://schemas.openxmlformats.org/drawingml/2006/main" noGrp="1"/>
          </p:cNvSpPr>
          <p:nvPr/>
        </p:nvSpPr>
        <p:spPr>
          <a:xfrm xmlns:a="http://schemas.openxmlformats.org/drawingml/2006/main">
            <a:off x="685800" y="35623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5" name="">
            <a:extLst xmlns:a="http://schemas.openxmlformats.org/drawingml/2006/main">
              <a:ext uri="{FF2B5EF4-FFF2-40B4-BE49-F238E27FC236}">
                <a16:creationId xmlns:a16="http://schemas.microsoft.com/office/drawing/2014/main" id="{3B01435E-4774-4790-B564-C25E66C97D69}"/>
              </a:ext>
            </a:extLst>
          </p:cNvPr>
          <p:cNvSpPr>
            <a:spLocks xmlns:a="http://schemas.openxmlformats.org/drawingml/2006/main" noGrp="1"/>
          </p:cNvSpPr>
          <p:nvPr/>
        </p:nvSpPr>
        <p:spPr>
          <a:xfrm xmlns:a="http://schemas.openxmlformats.org/drawingml/2006/main">
            <a:off x="685800" y="3867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PROVED NOW</a:t>
            </a:r>
          </a:p>
        </p:txBody>
      </p:sp>
      <p:sp>
        <p:nvSpPr>
          <p:cNvPr id="16" name="">
            <a:extLst xmlns:a="http://schemas.openxmlformats.org/drawingml/2006/main">
              <a:ext uri="{FF2B5EF4-FFF2-40B4-BE49-F238E27FC236}">
                <a16:creationId xmlns:a16="http://schemas.microsoft.com/office/drawing/2014/main" id="{E20657F7-841A-4569-B928-DFC76A2A43C7}"/>
              </a:ext>
            </a:extLst>
          </p:cNvPr>
          <p:cNvSpPr>
            <a:spLocks xmlns:a="http://schemas.openxmlformats.org/drawingml/2006/main" noGrp="1"/>
          </p:cNvSpPr>
          <p:nvPr/>
        </p:nvSpPr>
        <p:spPr>
          <a:xfrm xmlns:a="http://schemas.openxmlformats.org/drawingml/2006/main">
            <a:off x="685800" y="4229100"/>
            <a:ext cx="4476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Public working product</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9/9 planner + 5/5 ML checks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Exact verifier · 17,856 → 10,440</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Local · offline · read-only</a:t>
            </a:r>
          </a:p>
        </p:txBody>
      </p:sp>
      <p:sp>
        <p:nvSpPr>
          <p:cNvPr id="17" name="">
            <a:extLst xmlns:a="http://schemas.openxmlformats.org/drawingml/2006/main">
              <a:ext uri="{FF2B5EF4-FFF2-40B4-BE49-F238E27FC236}">
                <a16:creationId xmlns:a16="http://schemas.microsoft.com/office/drawing/2014/main" id="{A08AEB90-461B-4DB1-AD1A-62C35B8DBA7C}"/>
              </a:ext>
            </a:extLst>
          </p:cNvPr>
          <p:cNvSpPr>
            <a:spLocks xmlns:a="http://schemas.openxmlformats.org/drawingml/2006/main" noGrp="1"/>
          </p:cNvSpPr>
          <p:nvPr/>
        </p:nvSpPr>
        <p:spPr>
          <a:xfrm xmlns:a="http://schemas.openxmlformats.org/drawingml/2006/main">
            <a:off x="6286500" y="3867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EARNS REVENUE NEXT</a:t>
            </a:r>
          </a:p>
        </p:txBody>
      </p:sp>
      <p:sp>
        <p:nvSpPr>
          <p:cNvPr id="18" name="">
            <a:extLst xmlns:a="http://schemas.openxmlformats.org/drawingml/2006/main">
              <a:ext uri="{FF2B5EF4-FFF2-40B4-BE49-F238E27FC236}">
                <a16:creationId xmlns:a16="http://schemas.microsoft.com/office/drawing/2014/main" id="{79166088-4822-41DC-940E-D4FC81342F44}"/>
              </a:ext>
            </a:extLst>
          </p:cNvPr>
          <p:cNvSpPr>
            <a:spLocks xmlns:a="http://schemas.openxmlformats.org/drawingml/2006/main" noGrp="1"/>
          </p:cNvSpPr>
          <p:nvPr/>
        </p:nvSpPr>
        <p:spPr>
          <a:xfrm xmlns:a="http://schemas.openxmlformats.org/drawingml/2006/main">
            <a:off x="6286500" y="4229100"/>
            <a:ext cx="476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cable-plant design partner</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paid shadow-pilot hypothesis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Price and scale after measured value</a:t>
            </a:r>
          </a:p>
        </p:txBody>
      </p:sp>
      <p:sp>
        <p:nvSpPr>
          <p:cNvPr id="19" name="">
            <a:extLst xmlns:a="http://schemas.openxmlformats.org/drawingml/2006/main">
              <a:ext uri="{FF2B5EF4-FFF2-40B4-BE49-F238E27FC236}">
                <a16:creationId xmlns:a16="http://schemas.microsoft.com/office/drawing/2014/main" id="{3CEC61C3-F902-438D-A914-799598A576B8}"/>
              </a:ext>
            </a:extLst>
          </p:cNvPr>
          <p:cNvSpPr>
            <a:spLocks xmlns:a="http://schemas.openxmlformats.org/drawingml/2006/main" noGrp="1"/>
          </p:cNvSpPr>
          <p:nvPr/>
        </p:nvSpPr>
        <p:spPr>
          <a:xfrm xmlns:a="http://schemas.openxmlformats.org/drawingml/2006/main">
            <a:off x="685800" y="5753100"/>
            <a:ext cx="10820400" cy="361950"/>
          </a:xfrm>
          <a:prstGeom xmlns:a="http://schemas.openxmlformats.org/drawingml/2006/main" prst="roundRect">
            <a:avLst>
              <a:gd name="adj" fmla="val 26316"/>
            </a:avLst>
          </a:prstGeom>
          <a:solidFill xmlns:a="http://schemas.openxmlformats.org/drawingml/2006/main">
            <a:srgbClr val="09292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E9CCAB4-229E-4961-A02F-34031D0007C7}"/>
              </a:ext>
            </a:extLst>
          </p:cNvPr>
          <p:cNvSpPr>
            <a:spLocks xmlns:a="http://schemas.openxmlformats.org/drawingml/2006/main" noGrp="1"/>
          </p:cNvSpPr>
          <p:nvPr/>
        </p:nvSpPr>
        <p:spPr>
          <a:xfrm xmlns:a="http://schemas.openxmlformats.org/drawingml/2006/main">
            <a:off x="895350" y="5838825"/>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Commercial discipline: prove value first; price second; scale third.</a:t>
            </a:r>
          </a:p>
        </p:txBody>
      </p:sp>
      <p:sp>
        <p:nvSpPr>
          <p:cNvPr id="21" name="">
            <a:extLst xmlns:a="http://schemas.openxmlformats.org/drawingml/2006/main">
              <a:ext uri="{FF2B5EF4-FFF2-40B4-BE49-F238E27FC236}">
                <a16:creationId xmlns:a16="http://schemas.microsoft.com/office/drawing/2014/main" id="{0E17F6FE-1EE4-41C7-8D4A-183880343B8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76031284"/>
      </p:ext>
    </p:extLst>
  </p:cSld>
</p:sld>
</file>

<file path=ppt/slides/slide10.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2E40B9B-7D8D-448B-9D13-B13C49637B12}"/>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CURRENT STATUS / ACTION</a:t>
            </a:r>
          </a:p>
        </p:txBody>
      </p:sp>
      <p:sp>
        <p:nvSpPr>
          <p:cNvPr id="2" name="">
            <a:extLst xmlns:a="http://schemas.openxmlformats.org/drawingml/2006/main">
              <a:ext uri="{FF2B5EF4-FFF2-40B4-BE49-F238E27FC236}">
                <a16:creationId xmlns:a16="http://schemas.microsoft.com/office/drawing/2014/main" id="{7995BED0-9CED-42C4-8156-2D71B71BCE7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D1BB5B6-857D-4CDA-9680-39275E5E9691}"/>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51D80CDD-ED24-428F-AB54-7320EE5E4EAF}"/>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Built now. Validate next. Scale only after proof.</a:t>
            </a:r>
          </a:p>
        </p:txBody>
      </p:sp>
      <p:sp>
        <p:nvSpPr>
          <p:cNvPr id="5" name="">
            <a:extLst xmlns:a="http://schemas.openxmlformats.org/drawingml/2006/main">
              <a:ext uri="{FF2B5EF4-FFF2-40B4-BE49-F238E27FC236}">
                <a16:creationId xmlns:a16="http://schemas.microsoft.com/office/drawing/2014/main" id="{D00C2B0C-7A8E-4A39-8DA2-DA14D355F328}"/>
              </a:ext>
            </a:extLst>
          </p:cNvPr>
          <p:cNvSpPr>
            <a:spLocks xmlns:a="http://schemas.openxmlformats.org/drawingml/2006/main" noGrp="1"/>
          </p:cNvSpPr>
          <p:nvPr/>
        </p:nvSpPr>
        <p:spPr>
          <a:xfrm xmlns:a="http://schemas.openxmlformats.org/drawingml/2006/main">
            <a:off x="685800" y="19716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NOW</a:t>
            </a:r>
          </a:p>
        </p:txBody>
      </p:sp>
      <p:sp>
        <p:nvSpPr>
          <p:cNvPr id="6" name="">
            <a:extLst xmlns:a="http://schemas.openxmlformats.org/drawingml/2006/main">
              <a:ext uri="{FF2B5EF4-FFF2-40B4-BE49-F238E27FC236}">
                <a16:creationId xmlns:a16="http://schemas.microsoft.com/office/drawing/2014/main" id="{C412D979-AB03-47DB-B317-FB474BEA9F28}"/>
              </a:ext>
            </a:extLst>
          </p:cNvPr>
          <p:cNvSpPr>
            <a:spLocks xmlns:a="http://schemas.openxmlformats.org/drawingml/2006/main" noGrp="1"/>
          </p:cNvSpPr>
          <p:nvPr/>
        </p:nvSpPr>
        <p:spPr>
          <a:xfrm xmlns:a="http://schemas.openxmlformats.org/drawingml/2006/main">
            <a:off x="1676400" y="193357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Working public prototype</a:t>
            </a:r>
          </a:p>
        </p:txBody>
      </p:sp>
      <p:sp>
        <p:nvSpPr>
          <p:cNvPr id="7" name="">
            <a:extLst xmlns:a="http://schemas.openxmlformats.org/drawingml/2006/main">
              <a:ext uri="{FF2B5EF4-FFF2-40B4-BE49-F238E27FC236}">
                <a16:creationId xmlns:a16="http://schemas.microsoft.com/office/drawing/2014/main" id="{9D96D218-401F-4E9B-844C-BE5121A6CF08}"/>
              </a:ext>
            </a:extLst>
          </p:cNvPr>
          <p:cNvSpPr>
            <a:spLocks xmlns:a="http://schemas.openxmlformats.org/drawingml/2006/main" noGrp="1"/>
          </p:cNvSpPr>
          <p:nvPr/>
        </p:nvSpPr>
        <p:spPr>
          <a:xfrm xmlns:a="http://schemas.openxmlformats.org/drawingml/2006/main">
            <a:off x="16764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Decision twin · local ML · hard rules · bounded verifier · human approval</a:t>
            </a:r>
          </a:p>
        </p:txBody>
      </p:sp>
      <p:sp>
        <p:nvSpPr>
          <p:cNvPr id="8" name="">
            <a:extLst xmlns:a="http://schemas.openxmlformats.org/drawingml/2006/main">
              <a:ext uri="{FF2B5EF4-FFF2-40B4-BE49-F238E27FC236}">
                <a16:creationId xmlns:a16="http://schemas.microsoft.com/office/drawing/2014/main" id="{011B71B7-2FC7-4E84-9957-90D67CEEE8E7}"/>
              </a:ext>
            </a:extLst>
          </p:cNvPr>
          <p:cNvSpPr>
            <a:spLocks xmlns:a="http://schemas.openxmlformats.org/drawingml/2006/main" noGrp="1"/>
          </p:cNvSpPr>
          <p:nvPr/>
        </p:nvSpPr>
        <p:spPr>
          <a:xfrm xmlns:a="http://schemas.openxmlformats.org/drawingml/2006/main">
            <a:off x="685800" y="3028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22C73FC5-9332-43D6-ADE4-6FAB7FA5353F}"/>
              </a:ext>
            </a:extLst>
          </p:cNvPr>
          <p:cNvSpPr>
            <a:spLocks xmlns:a="http://schemas.openxmlformats.org/drawingml/2006/main" noGrp="1"/>
          </p:cNvSpPr>
          <p:nvPr/>
        </p:nvSpPr>
        <p:spPr>
          <a:xfrm xmlns:a="http://schemas.openxmlformats.org/drawingml/2006/main">
            <a:off x="1676400" y="29908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One 4–6-week shadow pilot</a:t>
            </a:r>
          </a:p>
        </p:txBody>
      </p:sp>
      <p:sp>
        <p:nvSpPr>
          <p:cNvPr id="10" name="">
            <a:extLst xmlns:a="http://schemas.openxmlformats.org/drawingml/2006/main">
              <a:ext uri="{FF2B5EF4-FFF2-40B4-BE49-F238E27FC236}">
                <a16:creationId xmlns:a16="http://schemas.microsoft.com/office/drawing/2014/main" id="{EB60E4FE-661D-4379-824E-558DA808D20E}"/>
              </a:ext>
            </a:extLst>
          </p:cNvPr>
          <p:cNvSpPr>
            <a:spLocks xmlns:a="http://schemas.openxmlformats.org/drawingml/2006/main" noGrp="1"/>
          </p:cNvSpPr>
          <p:nvPr/>
        </p:nvSpPr>
        <p:spPr>
          <a:xfrm xmlns:a="http://schemas.openxmlformats.org/drawingml/2006/main">
            <a:off x="1676400" y="3390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Read-only data · real incident replays · planner-validated constraints</a:t>
            </a:r>
          </a:p>
        </p:txBody>
      </p:sp>
      <p:sp>
        <p:nvSpPr>
          <p:cNvPr id="11" name="">
            <a:extLst xmlns:a="http://schemas.openxmlformats.org/drawingml/2006/main">
              <a:ext uri="{FF2B5EF4-FFF2-40B4-BE49-F238E27FC236}">
                <a16:creationId xmlns:a16="http://schemas.microsoft.com/office/drawing/2014/main" id="{69C2CA51-1A22-4B23-9245-DD677674A370}"/>
              </a:ext>
            </a:extLst>
          </p:cNvPr>
          <p:cNvSpPr>
            <a:spLocks xmlns:a="http://schemas.openxmlformats.org/drawingml/2006/main" noGrp="1"/>
          </p:cNvSpPr>
          <p:nvPr/>
        </p:nvSpPr>
        <p:spPr>
          <a:xfrm xmlns:a="http://schemas.openxmlformats.org/drawingml/2006/main">
            <a:off x="685800" y="40862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THEN</a:t>
            </a:r>
          </a:p>
        </p:txBody>
      </p:sp>
      <p:sp>
        <p:nvSpPr>
          <p:cNvPr id="12" name="">
            <a:extLst xmlns:a="http://schemas.openxmlformats.org/drawingml/2006/main">
              <a:ext uri="{FF2B5EF4-FFF2-40B4-BE49-F238E27FC236}">
                <a16:creationId xmlns:a16="http://schemas.microsoft.com/office/drawing/2014/main" id="{E9AEB8D6-C7B6-4555-81C8-C80C0BA1DEDF}"/>
              </a:ext>
            </a:extLst>
          </p:cNvPr>
          <p:cNvSpPr>
            <a:spLocks xmlns:a="http://schemas.openxmlformats.org/drawingml/2006/main" noGrp="1"/>
          </p:cNvSpPr>
          <p:nvPr/>
        </p:nvSpPr>
        <p:spPr>
          <a:xfrm xmlns:a="http://schemas.openxmlformats.org/drawingml/2006/main">
            <a:off x="1676400" y="40481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Integrate only if KPIs pass</a:t>
            </a:r>
          </a:p>
        </p:txBody>
      </p:sp>
      <p:sp>
        <p:nvSpPr>
          <p:cNvPr id="13" name="">
            <a:extLst xmlns:a="http://schemas.openxmlformats.org/drawingml/2006/main">
              <a:ext uri="{FF2B5EF4-FFF2-40B4-BE49-F238E27FC236}">
                <a16:creationId xmlns:a16="http://schemas.microsoft.com/office/drawing/2014/main" id="{C4F3C024-5EAF-4F37-8229-B27BBFE07C41}"/>
              </a:ext>
            </a:extLst>
          </p:cNvPr>
          <p:cNvSpPr>
            <a:spLocks xmlns:a="http://schemas.openxmlformats.org/drawingml/2006/main" noGrp="1"/>
          </p:cNvSpPr>
          <p:nvPr/>
        </p:nvSpPr>
        <p:spPr>
          <a:xfrm xmlns:a="http://schemas.openxmlformats.org/drawingml/2006/main">
            <a:off x="1676400" y="4448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Configuration · site deployment · per-line or site license</a:t>
            </a:r>
          </a:p>
        </p:txBody>
      </p:sp>
      <p:sp>
        <p:nvSpPr>
          <p:cNvPr id="14" name="">
            <a:extLst xmlns:a="http://schemas.openxmlformats.org/drawingml/2006/main">
              <a:ext uri="{FF2B5EF4-FFF2-40B4-BE49-F238E27FC236}">
                <a16:creationId xmlns:a16="http://schemas.microsoft.com/office/drawing/2014/main" id="{A48A60E9-EFEE-4BC0-9F0C-A59106DCECB3}"/>
              </a:ext>
            </a:extLst>
          </p:cNvPr>
          <p:cNvSpPr>
            <a:spLocks xmlns:a="http://schemas.openxmlformats.org/drawingml/2006/main" noGrp="1"/>
          </p:cNvSpPr>
          <p:nvPr/>
        </p:nvSpPr>
        <p:spPr>
          <a:xfrm xmlns:a="http://schemas.openxmlformats.org/drawingml/2006/main">
            <a:off x="6762750" y="1809750"/>
            <a:ext cx="4743450" cy="2990850"/>
          </a:xfrm>
          <a:prstGeom xmlns:a="http://schemas.openxmlformats.org/drawingml/2006/main" prst="roundRect">
            <a:avLst>
              <a:gd name="adj" fmla="val 5732"/>
            </a:avLst>
          </a:prstGeom>
          <a:solidFill xmlns:a="http://schemas.openxmlformats.org/drawingml/2006/main">
            <a:srgbClr val="061E1B"/>
          </a:solidFill>
          <a:ln xmlns:a="http://schemas.openxmlformats.org/drawingml/2006/main" w="9525">
            <a:solidFill>
              <a:srgbClr val="0F766E"/>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5625740b8c54130"/>
          <a:srcRect xmlns:a="http://schemas.openxmlformats.org/drawingml/2006/main" l="3781" t="0" r="3781" b="0"/>
          <a:stretch xmlns:a="http://schemas.openxmlformats.org/drawingml/2006/main">
            <a:fillRect l="0" t="0" r="0" b="0"/>
          </a:stretch>
        </p:blipFill>
        <p:spPr>
          <a:xfrm xmlns:a="http://schemas.openxmlformats.org/drawingml/2006/main">
            <a:off x="6896100" y="1943100"/>
            <a:ext cx="4476750" cy="2724150"/>
          </a:xfrm>
          <a:prstGeom xmlns:a="http://schemas.openxmlformats.org/drawingml/2006/main" prst="roundRect">
            <a:avLst>
              <a:gd name="adj" fmla="val 4895"/>
            </a:avLst>
          </a:prstGeom>
        </p:spPr>
      </p:pic>
      <p:sp>
        <p:nvSpPr>
          <p:cNvPr id="16" name="">
            <a:extLst xmlns:a="http://schemas.openxmlformats.org/drawingml/2006/main">
              <a:ext uri="{FF2B5EF4-FFF2-40B4-BE49-F238E27FC236}">
                <a16:creationId xmlns:a16="http://schemas.microsoft.com/office/drawing/2014/main" id="{7861F8EA-E943-4A90-B1F1-B90ADCED6C81}"/>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9512"/>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1DE544-FD95-4DE7-A1A3-6CFB20B78F56}"/>
              </a:ext>
            </a:extLst>
          </p:cNvPr>
          <p:cNvSpPr>
            <a:spLocks xmlns:a="http://schemas.openxmlformats.org/drawingml/2006/main" noGrp="1"/>
          </p:cNvSpPr>
          <p:nvPr/>
        </p:nvSpPr>
        <p:spPr>
          <a:xfrm xmlns:a="http://schemas.openxmlformats.org/drawingml/2006/main">
            <a:off x="990600" y="5457825"/>
            <a:ext cx="1021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092925"/>
                </a:solidFill>
                <a:latin typeface="Arial"/>
                <a:ea typeface="Arial"/>
                <a:cs typeface="Arial"/>
              </a:defRPr>
            </a:pPr>
            <a:r>
              <a:rPr sz="1875" b="1">
                <a:solidFill>
                  <a:srgbClr val="092925"/>
                </a:solidFill>
                <a:latin typeface="Arial"/>
                <a:ea typeface="Arial"/>
                <a:cs typeface="Arial"/>
              </a:rPr>
              <a:t>Select CableTwin—and connect one Tunisian cable-plant design partner.</a:t>
            </a:r>
          </a:p>
        </p:txBody>
      </p:sp>
      <p:sp>
        <p:nvSpPr>
          <p:cNvPr id="18" name="">
            <a:extLst xmlns:a="http://schemas.openxmlformats.org/drawingml/2006/main">
              <a:ext uri="{FF2B5EF4-FFF2-40B4-BE49-F238E27FC236}">
                <a16:creationId xmlns:a16="http://schemas.microsoft.com/office/drawing/2014/main" id="{82C179EC-CABB-488A-89A3-CD7EE819B7BC}"/>
              </a:ext>
            </a:extLst>
          </p:cNvPr>
          <p:cNvSpPr>
            <a:spLocks xmlns:a="http://schemas.openxmlformats.org/drawingml/2006/main" noGrp="1"/>
          </p:cNvSpPr>
          <p:nvPr/>
        </p:nvSpPr>
        <p:spPr>
          <a:xfrm xmlns:a="http://schemas.openxmlformats.org/drawingml/2006/main">
            <a:off x="685800" y="621982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5F4ED"/>
                </a:solidFill>
                <a:latin typeface="Arial"/>
                <a:ea typeface="Arial"/>
                <a:cs typeface="Arial"/>
              </a:defRPr>
            </a:pPr>
            <a:r>
              <a:rPr sz="1125" b="1">
                <a:solidFill>
                  <a:srgbClr val="F5F4ED"/>
                </a:solidFill>
                <a:latin typeface="Arial"/>
                <a:ea typeface="Arial"/>
                <a:cs typeface="Arial"/>
              </a:rPr>
              <a:t>hackaton-automate-or-die.vercel.app/#twin</a:t>
            </a:r>
          </a:p>
        </p:txBody>
      </p:sp>
      <p:sp>
        <p:nvSpPr>
          <p:cNvPr id="19" name="">
            <a:extLst xmlns:a="http://schemas.openxmlformats.org/drawingml/2006/main">
              <a:ext uri="{FF2B5EF4-FFF2-40B4-BE49-F238E27FC236}">
                <a16:creationId xmlns:a16="http://schemas.microsoft.com/office/drawing/2014/main" id="{61647A1B-EE33-4C5D-9CDB-29F9EED5B23A}"/>
              </a:ext>
            </a:extLst>
          </p:cNvPr>
          <p:cNvSpPr>
            <a:spLocks xmlns:a="http://schemas.openxmlformats.org/drawingml/2006/main" noGrp="1"/>
          </p:cNvSpPr>
          <p:nvPr/>
        </p:nvSpPr>
        <p:spPr>
          <a:xfrm xmlns:a="http://schemas.openxmlformats.org/drawingml/2006/main">
            <a:off x="6191250" y="6219825"/>
            <a:ext cx="531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github.com/akiroussama/hackaton_automate_or_die</a:t>
            </a:r>
          </a:p>
        </p:txBody>
      </p:sp>
    </p:spTree>
    <p:extLst>
      <p:ext uri="{BB962C8B-B14F-4D97-AF65-F5344CB8AC3E}">
        <p14:creationId xmlns:p14="http://schemas.microsoft.com/office/powerpoint/2010/main" val="15278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2026-07-19T06:59:20.4890000Z</dcterms:created>
  <dcterms:modified xsi:type="dcterms:W3CDTF">2026-07-19T06:59:20.4890000Z</dcterms:modified>
</coreProperties>
</file>