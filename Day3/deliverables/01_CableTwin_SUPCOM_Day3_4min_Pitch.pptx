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fd0b5bfc744434" /><Relationship Type="http://schemas.openxmlformats.org/officeDocument/2006/relationships/extended-properties" Target="/docProps/app.xml" Id="R74837123409c47d8" /><Relationship Type="http://schemas.openxmlformats.org/officeDocument/2006/relationships/officeDocument" Target="/ppt/presentation.xml" Id="Rcb2c6c121ffa4b3b" /></Relationships>
</file>

<file path=ppt/presentation.xml><?xml version="1.0" encoding="utf-8"?>
<p:presentation xmlns:p="http://schemas.openxmlformats.org/presentationml/2006/main">
  <p:sldMasterIdLst>
    <p:sldMasterId xmlns:r="http://schemas.openxmlformats.org/officeDocument/2006/relationships" id="2147483648" r:id="R197cb1422e1a403e"/>
  </p:sldMasterIdLst>
  <p:notesMasterIdLst>
    <p:notesMasterId xmlns:r="http://schemas.openxmlformats.org/officeDocument/2006/relationships" r:id="R29f56f3c08084c94"/>
  </p:notesMasterIdLst>
  <p:sldIdLst>
    <p:sldId xmlns:r="http://schemas.openxmlformats.org/officeDocument/2006/relationships" id="256" r:id="R6830ecbc31a44dcd"/>
    <p:sldId xmlns:r="http://schemas.openxmlformats.org/officeDocument/2006/relationships" id="257" r:id="Re9992184ba7d4824"/>
    <p:sldId xmlns:r="http://schemas.openxmlformats.org/officeDocument/2006/relationships" id="258" r:id="R7c3e2bbc4aa745cf"/>
    <p:sldId xmlns:r="http://schemas.openxmlformats.org/officeDocument/2006/relationships" id="259" r:id="R30afcb57f42743dc"/>
    <p:sldId xmlns:r="http://schemas.openxmlformats.org/officeDocument/2006/relationships" id="260" r:id="R8bfaf9f9794b4c64"/>
    <p:sldId xmlns:r="http://schemas.openxmlformats.org/officeDocument/2006/relationships" id="261" r:id="R9cb5568afc6542f4"/>
    <p:sldId xmlns:r="http://schemas.openxmlformats.org/officeDocument/2006/relationships" id="262" r:id="R0330f70f29834371"/>
    <p:sldId xmlns:r="http://schemas.openxmlformats.org/officeDocument/2006/relationships" id="263" r:id="Rfb92dcc74fea4440"/>
    <p:sldId xmlns:r="http://schemas.openxmlformats.org/officeDocument/2006/relationships" id="264" r:id="Re4fa2086cc57497d"/>
    <p:sldId xmlns:r="http://schemas.openxmlformats.org/officeDocument/2006/relationships" id="265" r:id="R8901c04433414fb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f8aed64a7e45bd" /><Relationship Type="http://schemas.openxmlformats.org/officeDocument/2006/relationships/slideMaster" Target="/ppt/slideMasters/slideMaster1.xml" Id="R197cb1422e1a403e" /><Relationship Type="http://schemas.openxmlformats.org/officeDocument/2006/relationships/notesMaster" Target="/ppt/notesMasters/notesMaster1.xml" Id="R29f56f3c08084c94" /><Relationship Type="http://schemas.openxmlformats.org/officeDocument/2006/relationships/presProps" Target="/ppt/presProps.xml" Id="Rc2de5d09520542de" /><Relationship Type="http://schemas.openxmlformats.org/officeDocument/2006/relationships/tableStyles" Target="/ppt/tableStyles.xml" Id="Rc93b6cbc04b54e16" /><Relationship Type="http://schemas.openxmlformats.org/officeDocument/2006/relationships/slide" Target="/ppt/slides/slide1.xml" Id="R6830ecbc31a44dcd" /><Relationship Type="http://schemas.openxmlformats.org/officeDocument/2006/relationships/slide" Target="/ppt/slides/slide2.xml" Id="Re9992184ba7d4824" /><Relationship Type="http://schemas.openxmlformats.org/officeDocument/2006/relationships/slide" Target="/ppt/slides/slide3.xml" Id="R7c3e2bbc4aa745cf" /><Relationship Type="http://schemas.openxmlformats.org/officeDocument/2006/relationships/slide" Target="/ppt/slides/slide4.xml" Id="R30afcb57f42743dc" /><Relationship Type="http://schemas.openxmlformats.org/officeDocument/2006/relationships/slide" Target="/ppt/slides/slide5.xml" Id="R8bfaf9f9794b4c64" /><Relationship Type="http://schemas.openxmlformats.org/officeDocument/2006/relationships/slide" Target="/ppt/slides/slide6.xml" Id="R9cb5568afc6542f4" /><Relationship Type="http://schemas.openxmlformats.org/officeDocument/2006/relationships/slide" Target="/ppt/slides/slide7.xml" Id="R0330f70f29834371" /><Relationship Type="http://schemas.openxmlformats.org/officeDocument/2006/relationships/slide" Target="/ppt/slides/slide8.xml" Id="Rfb92dcc74fea4440" /><Relationship Type="http://schemas.openxmlformats.org/officeDocument/2006/relationships/slide" Target="/ppt/slides/slide9.xml" Id="Re4fa2086cc57497d" /><Relationship Type="http://schemas.openxmlformats.org/officeDocument/2006/relationships/slide" Target="/ppt/slides/slide10.xml" Id="R8901c04433414f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3933de069847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88d6b7c7584670" /><Relationship Type="http://schemas.openxmlformats.org/officeDocument/2006/relationships/notesMaster" Target="/ppt/notesMasters/notesMaster1.xml" Id="Re6a37646782745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9cfaa5dac34da5" /><Relationship Type="http://schemas.openxmlformats.org/officeDocument/2006/relationships/notesMaster" Target="/ppt/notesMasters/notesMaster1.xml" Id="Rd0e13bc6e1af4f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c62d369b5e4d78" /><Relationship Type="http://schemas.openxmlformats.org/officeDocument/2006/relationships/notesMaster" Target="/ppt/notesMasters/notesMaster1.xml" Id="Rbbab306c6a2a47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a9597029c044a3" /><Relationship Type="http://schemas.openxmlformats.org/officeDocument/2006/relationships/notesMaster" Target="/ppt/notesMasters/notesMaster1.xml" Id="R0fb6e88222064f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48043422bc4228" /><Relationship Type="http://schemas.openxmlformats.org/officeDocument/2006/relationships/notesMaster" Target="/ppt/notesMasters/notesMaster1.xml" Id="R2f518e28f4a940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b0f8a2d99345d9" /><Relationship Type="http://schemas.openxmlformats.org/officeDocument/2006/relationships/notesMaster" Target="/ppt/notesMasters/notesMaster1.xml" Id="R06b56a8e979344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4ef8153f1f4d5e" /><Relationship Type="http://schemas.openxmlformats.org/officeDocument/2006/relationships/notesMaster" Target="/ppt/notesMasters/notesMaster1.xml" Id="R0a0ad437fee34a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294f4c43264800" /><Relationship Type="http://schemas.openxmlformats.org/officeDocument/2006/relationships/notesMaster" Target="/ppt/notesMasters/notesMaster1.xml" Id="Rc70fb1716d8348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771668940f4f70" /><Relationship Type="http://schemas.openxmlformats.org/officeDocument/2006/relationships/notesMaster" Target="/ppt/notesMasters/notesMaster1.xml" Id="Redd5e4a762da41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0fc42cec5d43a5" /><Relationship Type="http://schemas.openxmlformats.org/officeDocument/2006/relationships/notesMaster" Target="/ppt/notesMasters/notesMaster1.xml" Id="R882098b8cac347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10:00, one production line stops. A schedule that was valid one minute ago is now impossible. CableTwin shows three verified recovery routes before production changes, while the production manager keeps the final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Tunisia's cable, wire and harness segment counts 115 firms of ten employees or more; 107 are fully exporting, supporting 72,281 jobs. In this fully synthetic scenario, Line 2 stops for four hours, exposing three orders. Without adaptation, projected delay reaches 620 minutes. The process risk is real; plant frequency and loss are pilot questions, not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CableTwin builds Service, Cost and Stability routes with a deterministic, non-learning planner. A separate local model only ranks those existing routes. A separate bounded verifier cross-checks the encoded scenario. The manager previews the trade-offs, approves or rejects, and leaves an audit trace. The innovation is this evidence architecture, not the phrase digital twin.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 maximum 30 seconds. Line 2 stops. Three orders are exposed; delay rises to ten hours twenty. The local model suggests Cost, but cannot change a schedule. I choose Service to protect priority deliveries: projected delay falls to two hours twenty. I approve. The decision is audited at 10:07, and nothing is sent to a machine. If the network fails, narrate the approved screenshot with the same four beats.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is the production planner; the buyer is the plant or operations director. We start with a design partner, then a paid read-only shadow pilot. Configuration, integration and a per-site subscription follow only after measured value. Price and ROI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lasts four to six weeks. We map constraints, replay five to ten historical incidents at the same information cutoff, then compare CableTwin's options with actual decisions in shadow mode. Agreed KPIs decide: go, revise, or stop. This is how integration is earned.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no-competitor story. Siemens and DELMIA prove the category. They are broader and more mature. CableTwin lowers the first step: one disruption, transparent alternatives, a limited data contract and no write access. If an existing APS already solves it, CableTwin integrates - or steps aside.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the full loop as a solo participant: workflow, planner, learned advisor, verifier, interface, public deployment and evidence. That proves execution, not solo scale. The next team extension is one real plant design partner and its production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zero signed pilots, zero revenue, zero ROI claims. Synthetic evidence is not customer evidence. What is proved is a public product, nine of nine planner checks, five of five ML checks, and bounded verification. Commercial numbers must be earned.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CableTwin is built and public. Next is one read-only Tunisian shadow pilot. If agreed KPIs pass, we integrate and scale. My ask: select CableTwin for the Grand Finale, and connect one cable or electrical plant design partner who will challenge the constraints with real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7a754125484a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3ae61982ba4afe" /><Relationship Type="http://schemas.openxmlformats.org/officeDocument/2006/relationships/slideLayout" Target="/ppt/slideLayouts/slideLayout1.xml" Id="R6846e7aea73849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46e7aea73849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c6ef1cadd4432e" /><Relationship Type="http://schemas.openxmlformats.org/officeDocument/2006/relationships/image" Target="/ppt/media/image.png" Id="R83173b4daf4f48e2" /><Relationship Type="http://schemas.openxmlformats.org/officeDocument/2006/relationships/image" Target="/ppt/media/image2.png" Id="R8dec4ef3b1b24e30" /><Relationship Type="http://schemas.openxmlformats.org/officeDocument/2006/relationships/notesSlide" Target="/ppt/notesSlides/notesSlide1.xml" Id="Re87a53327a384a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c6c764aeca4f96" /><Relationship Type="http://schemas.openxmlformats.org/officeDocument/2006/relationships/image" Target="/ppt/media/image3.png" Id="R2f5bc8104ba64a98" /><Relationship Type="http://schemas.openxmlformats.org/officeDocument/2006/relationships/notesSlide" Target="/ppt/notesSlides/notesSlide2.xml" Id="R3e58ef0ab25546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855c30538d401a" /><Relationship Type="http://schemas.openxmlformats.org/officeDocument/2006/relationships/notesSlide" Target="/ppt/notesSlides/notesSlide3.xml" Id="Rf507111d2f3b4f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c66314710a4f87" /><Relationship Type="http://schemas.openxmlformats.org/officeDocument/2006/relationships/image" Target="/ppt/media/image4.png" Id="R8f4eaa9f50e94506" /><Relationship Type="http://schemas.openxmlformats.org/officeDocument/2006/relationships/notesSlide" Target="/ppt/notesSlides/notesSlide4.xml" Id="Rce124ecac9f948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9c877f474d4367" /><Relationship Type="http://schemas.openxmlformats.org/officeDocument/2006/relationships/notesSlide" Target="/ppt/notesSlides/notesSlide5.xml" Id="R250745baaaa34e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ed9233f809423b" /><Relationship Type="http://schemas.openxmlformats.org/officeDocument/2006/relationships/notesSlide" Target="/ppt/notesSlides/notesSlide6.xml" Id="R511c0504a35842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ca8433d45746df" /><Relationship Type="http://schemas.openxmlformats.org/officeDocument/2006/relationships/notesSlide" Target="/ppt/notesSlides/notesSlide7.xml" Id="R954d7324993344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ef047e881843a1" /><Relationship Type="http://schemas.openxmlformats.org/officeDocument/2006/relationships/image" Target="/ppt/media/image5.png" Id="R1084610c6f944d60" /><Relationship Type="http://schemas.openxmlformats.org/officeDocument/2006/relationships/notesSlide" Target="/ppt/notesSlides/notesSlide8.xml" Id="R4a259421f09544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d3a79a44564f38" /><Relationship Type="http://schemas.openxmlformats.org/officeDocument/2006/relationships/notesSlide" Target="/ppt/notesSlides/notesSlide9.xml" Id="R5c5c999aaa1240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cf4cf1a350417e" /><Relationship Type="http://schemas.openxmlformats.org/officeDocument/2006/relationships/image" Target="/ppt/media/image6.png" Id="Rc9c46c9b4b1a47fe" /><Relationship Type="http://schemas.openxmlformats.org/officeDocument/2006/relationships/notesSlide" Target="/ppt/notesSlides/notesSlide10.xml" Id="R49d744dc9880457e" /></Relationships>
</file>

<file path=ppt/slides/slide1.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173b4daf4f48e2"/>
          <a:srcRect xmlns:a="http://schemas.openxmlformats.org/drawingml/2006/main" l="26953" t="0" r="26953"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C72FAD-F198-4CDB-A2DB-B0C7F69BBDAD}"/>
              </a:ext>
            </a:extLst>
          </p:cNvPr>
          <p:cNvSpPr>
            <a:spLocks xmlns:a="http://schemas.openxmlformats.org/drawingml/2006/main" noGrp="1"/>
          </p:cNvSpPr>
          <p:nvPr/>
        </p:nvSpPr>
        <p:spPr>
          <a:xfrm xmlns:a="http://schemas.openxmlformats.org/drawingml/2006/main">
            <a:off x="6400800" y="0"/>
            <a:ext cx="285750" cy="6858000"/>
          </a:xfrm>
          <a:prstGeom xmlns:a="http://schemas.openxmlformats.org/drawingml/2006/main" prst="rect">
            <a:avLst/>
          </a:prstGeom>
          <a:solidFill xmlns:a="http://schemas.openxmlformats.org/drawingml/2006/main">
            <a:srgbClr val="092925"/>
          </a:solidFill>
          <a:ln xmlns:a="http://schemas.openxmlformats.org/drawingml/2006/main" w="0">
            <a:no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dec4ef3b1b24e30"/>
          <a:stretch xmlns:a="http://schemas.openxmlformats.org/drawingml/2006/main"/>
        </p:blipFill>
        <p:spPr>
          <a:xfrm xmlns:a="http://schemas.openxmlformats.org/drawingml/2006/main">
            <a:off x="685800" y="495300"/>
            <a:ext cx="552450" cy="552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6E0F44-DA9E-496A-A57F-D19D520361CB}"/>
              </a:ext>
            </a:extLst>
          </p:cNvPr>
          <p:cNvSpPr>
            <a:spLocks xmlns:a="http://schemas.openxmlformats.org/drawingml/2006/main" noGrp="1"/>
          </p:cNvSpPr>
          <p:nvPr/>
        </p:nvSpPr>
        <p:spPr>
          <a:xfrm xmlns:a="http://schemas.openxmlformats.org/drawingml/2006/main">
            <a:off x="1428750" y="5810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AUTOMATE OR DIE 2026 · INDUSTRY · ROOM 206</a:t>
            </a:r>
          </a:p>
        </p:txBody>
      </p:sp>
      <p:sp>
        <p:nvSpPr>
          <p:cNvPr id="5" name="">
            <a:extLst xmlns:a="http://schemas.openxmlformats.org/drawingml/2006/main">
              <a:ext uri="{FF2B5EF4-FFF2-40B4-BE49-F238E27FC236}">
                <a16:creationId xmlns:a16="http://schemas.microsoft.com/office/drawing/2014/main" id="{9EAADD86-901B-4BEB-8C6B-1A153FA41F10}"/>
              </a:ext>
            </a:extLst>
          </p:cNvPr>
          <p:cNvSpPr>
            <a:spLocks xmlns:a="http://schemas.openxmlformats.org/drawingml/2006/main" noGrp="1"/>
          </p:cNvSpPr>
          <p:nvPr/>
        </p:nvSpPr>
        <p:spPr>
          <a:xfrm xmlns:a="http://schemas.openxmlformats.org/drawingml/2006/main">
            <a:off x="685800" y="158115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F5F4ED"/>
                </a:solidFill>
                <a:latin typeface="Arial"/>
                <a:ea typeface="Arial"/>
                <a:cs typeface="Arial"/>
              </a:defRPr>
            </a:pPr>
            <a:r>
              <a:rPr sz="4200" b="1">
                <a:solidFill>
                  <a:srgbClr val="F5F4ED"/>
                </a:solidFill>
                <a:latin typeface="Arial"/>
                <a:ea typeface="Arial"/>
                <a:cs typeface="Arial"/>
              </a:rPr>
              <a:t>When one line stops,</a:t>
            </a:r>
          </a:p>
        </p:txBody>
      </p:sp>
      <p:sp>
        <p:nvSpPr>
          <p:cNvPr id="6" name="">
            <a:extLst xmlns:a="http://schemas.openxmlformats.org/drawingml/2006/main">
              <a:ext uri="{FF2B5EF4-FFF2-40B4-BE49-F238E27FC236}">
                <a16:creationId xmlns:a16="http://schemas.microsoft.com/office/drawing/2014/main" id="{0871044F-754D-4EB1-AA96-90A6ACFD1C1B}"/>
              </a:ext>
            </a:extLst>
          </p:cNvPr>
          <p:cNvSpPr>
            <a:spLocks xmlns:a="http://schemas.openxmlformats.org/drawingml/2006/main" noGrp="1"/>
          </p:cNvSpPr>
          <p:nvPr/>
        </p:nvSpPr>
        <p:spPr>
          <a:xfrm xmlns:a="http://schemas.openxmlformats.org/drawingml/2006/main">
            <a:off x="685800" y="2266950"/>
            <a:ext cx="5810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1000"/>
              </a:lnSpc>
              <a:buNone/>
              <a:defRPr sz="3900" b="1">
                <a:solidFill>
                  <a:srgbClr val="C9F36B"/>
                </a:solidFill>
                <a:latin typeface="Arial"/>
                <a:ea typeface="Arial"/>
                <a:cs typeface="Arial"/>
              </a:defRPr>
            </a:pPr>
            <a:r>
              <a:rPr sz="3900" b="1">
                <a:solidFill>
                  <a:srgbClr val="C9F36B"/>
                </a:solidFill>
                <a:latin typeface="Arial"/>
                <a:ea typeface="Arial"/>
                <a:cs typeface="Arial"/>
              </a:rPr>
              <a:t>CableTwin shows the recovery routes</a:t>
            </a:r>
          </a:p>
        </p:txBody>
      </p:sp>
      <p:sp>
        <p:nvSpPr>
          <p:cNvPr id="7" name="">
            <a:extLst xmlns:a="http://schemas.openxmlformats.org/drawingml/2006/main">
              <a:ext uri="{FF2B5EF4-FFF2-40B4-BE49-F238E27FC236}">
                <a16:creationId xmlns:a16="http://schemas.microsoft.com/office/drawing/2014/main" id="{3C8F68F2-4E32-4BD9-9205-53FC7D9137CB}"/>
              </a:ext>
            </a:extLst>
          </p:cNvPr>
          <p:cNvSpPr>
            <a:spLocks xmlns:a="http://schemas.openxmlformats.org/drawingml/2006/main" noGrp="1"/>
          </p:cNvSpPr>
          <p:nvPr/>
        </p:nvSpPr>
        <p:spPr>
          <a:xfrm xmlns:a="http://schemas.openxmlformats.org/drawingml/2006/main">
            <a:off x="685800" y="3333750"/>
            <a:ext cx="561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F5F4ED"/>
                </a:solidFill>
                <a:latin typeface="Arial"/>
                <a:ea typeface="Arial"/>
                <a:cs typeface="Arial"/>
              </a:defRPr>
            </a:pPr>
            <a:r>
              <a:rPr sz="2850" b="1">
                <a:solidFill>
                  <a:srgbClr val="F5F4ED"/>
                </a:solidFill>
                <a:latin typeface="Arial"/>
                <a:ea typeface="Arial"/>
                <a:cs typeface="Arial"/>
              </a:rPr>
              <a:t>before production changes.</a:t>
            </a:r>
          </a:p>
        </p:txBody>
      </p:sp>
      <p:sp>
        <p:nvSpPr>
          <p:cNvPr id="8" name="">
            <a:extLst xmlns:a="http://schemas.openxmlformats.org/drawingml/2006/main">
              <a:ext uri="{FF2B5EF4-FFF2-40B4-BE49-F238E27FC236}">
                <a16:creationId xmlns:a16="http://schemas.microsoft.com/office/drawing/2014/main" id="{734FF584-CB03-4BF9-808D-5F6064E9DECC}"/>
              </a:ext>
            </a:extLst>
          </p:cNvPr>
          <p:cNvSpPr>
            <a:spLocks xmlns:a="http://schemas.openxmlformats.org/drawingml/2006/main" noGrp="1"/>
          </p:cNvSpPr>
          <p:nvPr/>
        </p:nvSpPr>
        <p:spPr>
          <a:xfrm xmlns:a="http://schemas.openxmlformats.org/drawingml/2006/main">
            <a:off x="685800" y="4238625"/>
            <a:ext cx="48577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7863C618-5412-421E-92BE-07BF093FE6F9}"/>
              </a:ext>
            </a:extLst>
          </p:cNvPr>
          <p:cNvSpPr>
            <a:spLocks xmlns:a="http://schemas.openxmlformats.org/drawingml/2006/main" noGrp="1"/>
          </p:cNvSpPr>
          <p:nvPr/>
        </p:nvSpPr>
        <p:spPr>
          <a:xfrm xmlns:a="http://schemas.openxmlformats.org/drawingml/2006/main">
            <a:off x="685800" y="4438650"/>
            <a:ext cx="5381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DFE8E4"/>
                </a:solidFill>
                <a:latin typeface="Arial"/>
                <a:ea typeface="Arial"/>
                <a:cs typeface="Arial"/>
              </a:defRPr>
            </a:pPr>
            <a:r>
              <a:rPr sz="1725" b="0">
                <a:solidFill>
                  <a:srgbClr val="DFE8E4"/>
                </a:solidFill>
                <a:latin typeface="Arial"/>
                <a:ea typeface="Arial"/>
                <a:cs typeface="Arial"/>
              </a:rPr>
              <a:t>One disruption. Three verified routes. One accountable human decision.</a:t>
            </a:r>
          </a:p>
        </p:txBody>
      </p:sp>
      <p:sp>
        <p:nvSpPr>
          <p:cNvPr id="10" name="">
            <a:extLst xmlns:a="http://schemas.openxmlformats.org/drawingml/2006/main">
              <a:ext uri="{FF2B5EF4-FFF2-40B4-BE49-F238E27FC236}">
                <a16:creationId xmlns:a16="http://schemas.microsoft.com/office/drawing/2014/main" id="{495716C3-2AF1-4A21-BED7-568DFA996190}"/>
              </a:ext>
            </a:extLst>
          </p:cNvPr>
          <p:cNvSpPr>
            <a:spLocks xmlns:a="http://schemas.openxmlformats.org/drawingml/2006/main" noGrp="1"/>
          </p:cNvSpPr>
          <p:nvPr/>
        </p:nvSpPr>
        <p:spPr>
          <a:xfrm xmlns:a="http://schemas.openxmlformats.org/drawingml/2006/main">
            <a:off x="685800" y="54102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C9F36B"/>
                </a:solidFill>
                <a:latin typeface="Arial"/>
                <a:ea typeface="Arial"/>
                <a:cs typeface="Arial"/>
              </a:defRPr>
            </a:pPr>
            <a:r>
              <a:rPr sz="2850" b="1">
                <a:solidFill>
                  <a:srgbClr val="C9F36B"/>
                </a:solidFill>
                <a:latin typeface="Arial"/>
                <a:ea typeface="Arial"/>
                <a:cs typeface="Arial"/>
              </a:rPr>
              <a:t>9 / 9</a:t>
            </a:r>
          </a:p>
        </p:txBody>
      </p:sp>
      <p:sp>
        <p:nvSpPr>
          <p:cNvPr id="11" name="">
            <a:extLst xmlns:a="http://schemas.openxmlformats.org/drawingml/2006/main">
              <a:ext uri="{FF2B5EF4-FFF2-40B4-BE49-F238E27FC236}">
                <a16:creationId xmlns:a16="http://schemas.microsoft.com/office/drawing/2014/main" id="{6D18BB48-FCA6-4654-A1B9-6567A60A0DAC}"/>
              </a:ext>
            </a:extLst>
          </p:cNvPr>
          <p:cNvSpPr>
            <a:spLocks xmlns:a="http://schemas.openxmlformats.org/drawingml/2006/main" noGrp="1"/>
          </p:cNvSpPr>
          <p:nvPr/>
        </p:nvSpPr>
        <p:spPr>
          <a:xfrm xmlns:a="http://schemas.openxmlformats.org/drawingml/2006/main">
            <a:off x="685800" y="5867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PLANNER &amp; WORKFLOW CHECKS</a:t>
            </a:r>
          </a:p>
        </p:txBody>
      </p:sp>
      <p:sp>
        <p:nvSpPr>
          <p:cNvPr id="12" name="">
            <a:extLst xmlns:a="http://schemas.openxmlformats.org/drawingml/2006/main">
              <a:ext uri="{FF2B5EF4-FFF2-40B4-BE49-F238E27FC236}">
                <a16:creationId xmlns:a16="http://schemas.microsoft.com/office/drawing/2014/main" id="{73EF768A-4614-479D-B832-25B82172989B}"/>
              </a:ext>
            </a:extLst>
          </p:cNvPr>
          <p:cNvSpPr>
            <a:spLocks xmlns:a="http://schemas.openxmlformats.org/drawingml/2006/main" noGrp="1"/>
          </p:cNvSpPr>
          <p:nvPr/>
        </p:nvSpPr>
        <p:spPr>
          <a:xfrm xmlns:a="http://schemas.openxmlformats.org/drawingml/2006/main">
            <a:off x="2667000" y="54102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250" b="1">
                <a:solidFill>
                  <a:srgbClr val="C9F36B"/>
                </a:solidFill>
                <a:latin typeface="Arial"/>
                <a:ea typeface="Arial"/>
                <a:cs typeface="Arial"/>
              </a:defRPr>
            </a:pPr>
            <a:r>
              <a:rPr sz="2250" b="1">
                <a:solidFill>
                  <a:srgbClr val="C9F36B"/>
                </a:solidFill>
                <a:latin typeface="Arial"/>
                <a:ea typeface="Arial"/>
                <a:cs typeface="Arial"/>
              </a:rPr>
              <a:t>17,856 → 10,440</a:t>
            </a:r>
          </a:p>
        </p:txBody>
      </p:sp>
      <p:sp>
        <p:nvSpPr>
          <p:cNvPr id="13" name="">
            <a:extLst xmlns:a="http://schemas.openxmlformats.org/drawingml/2006/main">
              <a:ext uri="{FF2B5EF4-FFF2-40B4-BE49-F238E27FC236}">
                <a16:creationId xmlns:a16="http://schemas.microsoft.com/office/drawing/2014/main" id="{4D6EC87D-10A3-4F0B-8D06-D438AB15E89A}"/>
              </a:ext>
            </a:extLst>
          </p:cNvPr>
          <p:cNvSpPr>
            <a:spLocks xmlns:a="http://schemas.openxmlformats.org/drawingml/2006/main" noGrp="1"/>
          </p:cNvSpPr>
          <p:nvPr/>
        </p:nvSpPr>
        <p:spPr>
          <a:xfrm xmlns:a="http://schemas.openxmlformats.org/drawingml/2006/main">
            <a:off x="2667000" y="5867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8FA8A2"/>
                </a:solidFill>
                <a:latin typeface="Arial"/>
                <a:ea typeface="Arial"/>
                <a:cs typeface="Arial"/>
              </a:defRPr>
            </a:pPr>
            <a:r>
              <a:rPr sz="900" b="1">
                <a:solidFill>
                  <a:srgbClr val="8FA8A2"/>
                </a:solidFill>
                <a:latin typeface="Arial"/>
                <a:ea typeface="Arial"/>
                <a:cs typeface="Arial"/>
              </a:rPr>
              <a:t>CANDIDATES → FEASIBLE</a:t>
            </a:r>
          </a:p>
        </p:txBody>
      </p:sp>
      <p:sp>
        <p:nvSpPr>
          <p:cNvPr id="14" name="">
            <a:extLst xmlns:a="http://schemas.openxmlformats.org/drawingml/2006/main">
              <a:ext uri="{FF2B5EF4-FFF2-40B4-BE49-F238E27FC236}">
                <a16:creationId xmlns:a16="http://schemas.microsoft.com/office/drawing/2014/main" id="{23052D5F-0790-4495-B2A5-4C2655830B04}"/>
              </a:ext>
            </a:extLst>
          </p:cNvPr>
          <p:cNvSpPr>
            <a:spLocks xmlns:a="http://schemas.openxmlformats.org/drawingml/2006/main" noGrp="1"/>
          </p:cNvSpPr>
          <p:nvPr/>
        </p:nvSpPr>
        <p:spPr>
          <a:xfrm xmlns:a="http://schemas.openxmlformats.org/drawingml/2006/main">
            <a:off x="685800" y="62388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Oussama Akir · SUPCOM</a:t>
            </a:r>
          </a:p>
          <a:p xmlns:a="http://schemas.openxmlformats.org/drawingml/2006/main">
            <a:pPr algn="l">
              <a:lnSpc>
                <a:spcPct val="100000"/>
              </a:lnSpc>
              <a:buNone/>
              <a:defRPr sz="1050" b="0">
                <a:solidFill>
                  <a:srgbClr val="8FA8A2"/>
                </a:solidFill>
                <a:latin typeface="Arial"/>
                <a:ea typeface="Arial"/>
                <a:cs typeface="Arial"/>
              </a:defRPr>
            </a:pPr>
            <a:r>
              <a:rPr sz="1050" b="0">
                <a:solidFill>
                  <a:srgbClr val="8FA8A2"/>
                </a:solidFill>
                <a:latin typeface="Arial"/>
                <a:ea typeface="Arial"/>
                <a:cs typeface="Arial"/>
              </a:rPr>
              <a:t>akir.oussama@gmail.com</a:t>
            </a:r>
          </a:p>
        </p:txBody>
      </p:sp>
    </p:spTree>
    <p:extLst>
      <p:ext uri="{BB962C8B-B14F-4D97-AF65-F5344CB8AC3E}">
        <p14:creationId xmlns:p14="http://schemas.microsoft.com/office/powerpoint/2010/main" val="658313335"/>
      </p:ext>
    </p:extLst>
  </p:cSld>
</p:sld>
</file>

<file path=ppt/slides/slide2.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B3301A1-77D9-4DAA-A780-696EEB7D956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PROBLEM / OPPORTUNITY</a:t>
            </a:r>
          </a:p>
        </p:txBody>
      </p:sp>
      <p:sp>
        <p:nvSpPr>
          <p:cNvPr id="2" name="">
            <a:extLst xmlns:a="http://schemas.openxmlformats.org/drawingml/2006/main">
              <a:ext uri="{FF2B5EF4-FFF2-40B4-BE49-F238E27FC236}">
                <a16:creationId xmlns:a16="http://schemas.microsoft.com/office/drawing/2014/main" id="{E5FF1103-0EB3-4903-8307-F13871C1E18B}"/>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E9F25B1-50D0-4AE2-8F72-89905D4AD07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0BB3C853-590F-4C91-88AA-966AF3D320B7}"/>
              </a:ext>
            </a:extLst>
          </p:cNvPr>
          <p:cNvSpPr>
            <a:spLocks xmlns:a="http://schemas.openxmlformats.org/drawingml/2006/main" noGrp="1"/>
          </p:cNvSpPr>
          <p:nvPr/>
        </p:nvSpPr>
        <p:spPr>
          <a:xfrm xmlns:a="http://schemas.openxmlformats.org/drawingml/2006/main">
            <a:off x="685800" y="895350"/>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10221F"/>
                </a:solidFill>
                <a:latin typeface="Arial"/>
                <a:ea typeface="Arial"/>
                <a:cs typeface="Arial"/>
              </a:defRPr>
            </a:pPr>
            <a:r>
              <a:rPr sz="3000" b="1">
                <a:solidFill>
                  <a:srgbClr val="10221F"/>
                </a:solidFill>
                <a:latin typeface="Arial"/>
                <a:ea typeface="Arial"/>
                <a:cs typeface="Arial"/>
              </a:rPr>
              <a:t>A line stoppage threatens an export-driven industrial day.</a:t>
            </a:r>
          </a:p>
        </p:txBody>
      </p:sp>
      <p:sp>
        <p:nvSpPr>
          <p:cNvPr id="5" name="">
            <a:extLst xmlns:a="http://schemas.openxmlformats.org/drawingml/2006/main">
              <a:ext uri="{FF2B5EF4-FFF2-40B4-BE49-F238E27FC236}">
                <a16:creationId xmlns:a16="http://schemas.microsoft.com/office/drawing/2014/main" id="{6AD06F30-7905-4909-98FF-E5CF1DE1D10E}"/>
              </a:ext>
            </a:extLst>
          </p:cNvPr>
          <p:cNvSpPr>
            <a:spLocks xmlns:a="http://schemas.openxmlformats.org/drawingml/2006/main" noGrp="1"/>
          </p:cNvSpPr>
          <p:nvPr/>
        </p:nvSpPr>
        <p:spPr>
          <a:xfrm xmlns:a="http://schemas.openxmlformats.org/drawingml/2006/main">
            <a:off x="685800" y="197167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115</a:t>
            </a:r>
          </a:p>
        </p:txBody>
      </p:sp>
      <p:sp>
        <p:nvSpPr>
          <p:cNvPr id="6" name="">
            <a:extLst xmlns:a="http://schemas.openxmlformats.org/drawingml/2006/main">
              <a:ext uri="{FF2B5EF4-FFF2-40B4-BE49-F238E27FC236}">
                <a16:creationId xmlns:a16="http://schemas.microsoft.com/office/drawing/2014/main" id="{DEEDD0AA-8673-4AF6-8F13-093DFEAE3640}"/>
              </a:ext>
            </a:extLst>
          </p:cNvPr>
          <p:cNvSpPr>
            <a:spLocks xmlns:a="http://schemas.openxmlformats.org/drawingml/2006/main" noGrp="1"/>
          </p:cNvSpPr>
          <p:nvPr/>
        </p:nvSpPr>
        <p:spPr>
          <a:xfrm xmlns:a="http://schemas.openxmlformats.org/drawingml/2006/main">
            <a:off x="685800" y="2428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TUNISIAN WIRE, CABLE &amp; HARNESS FIRMS</a:t>
            </a:r>
          </a:p>
        </p:txBody>
      </p:sp>
      <p:sp>
        <p:nvSpPr>
          <p:cNvPr id="7" name="">
            <a:extLst xmlns:a="http://schemas.openxmlformats.org/drawingml/2006/main">
              <a:ext uri="{FF2B5EF4-FFF2-40B4-BE49-F238E27FC236}">
                <a16:creationId xmlns:a16="http://schemas.microsoft.com/office/drawing/2014/main" id="{7C1AF792-5D85-4445-A1B6-954BBB6FB059}"/>
              </a:ext>
            </a:extLst>
          </p:cNvPr>
          <p:cNvSpPr>
            <a:spLocks xmlns:a="http://schemas.openxmlformats.org/drawingml/2006/main" noGrp="1"/>
          </p:cNvSpPr>
          <p:nvPr/>
        </p:nvSpPr>
        <p:spPr>
          <a:xfrm xmlns:a="http://schemas.openxmlformats.org/drawingml/2006/main">
            <a:off x="3429000" y="1971675"/>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107</a:t>
            </a:r>
          </a:p>
        </p:txBody>
      </p:sp>
      <p:sp>
        <p:nvSpPr>
          <p:cNvPr id="8" name="">
            <a:extLst xmlns:a="http://schemas.openxmlformats.org/drawingml/2006/main">
              <a:ext uri="{FF2B5EF4-FFF2-40B4-BE49-F238E27FC236}">
                <a16:creationId xmlns:a16="http://schemas.microsoft.com/office/drawing/2014/main" id="{1EC4A882-14AC-42F8-91C4-4B18A3BBB1ED}"/>
              </a:ext>
            </a:extLst>
          </p:cNvPr>
          <p:cNvSpPr>
            <a:spLocks xmlns:a="http://schemas.openxmlformats.org/drawingml/2006/main" noGrp="1"/>
          </p:cNvSpPr>
          <p:nvPr/>
        </p:nvSpPr>
        <p:spPr>
          <a:xfrm xmlns:a="http://schemas.openxmlformats.org/drawingml/2006/main">
            <a:off x="3429000" y="242887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TOTALLY EXPORTING</a:t>
            </a:r>
          </a:p>
        </p:txBody>
      </p:sp>
      <p:sp>
        <p:nvSpPr>
          <p:cNvPr id="9" name="">
            <a:extLst xmlns:a="http://schemas.openxmlformats.org/drawingml/2006/main">
              <a:ext uri="{FF2B5EF4-FFF2-40B4-BE49-F238E27FC236}">
                <a16:creationId xmlns:a16="http://schemas.microsoft.com/office/drawing/2014/main" id="{66C865C6-1DC0-452E-A73D-9C5D4783E11E}"/>
              </a:ext>
            </a:extLst>
          </p:cNvPr>
          <p:cNvSpPr>
            <a:spLocks xmlns:a="http://schemas.openxmlformats.org/drawingml/2006/main" noGrp="1"/>
          </p:cNvSpPr>
          <p:nvPr/>
        </p:nvSpPr>
        <p:spPr>
          <a:xfrm xmlns:a="http://schemas.openxmlformats.org/drawingml/2006/main">
            <a:off x="685800" y="30861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a:solidFill>
                  <a:srgbClr val="0F766E"/>
                </a:solidFill>
                <a:latin typeface="Arial"/>
                <a:ea typeface="Arial"/>
                <a:cs typeface="Arial"/>
              </a:defRPr>
            </a:pPr>
            <a:r>
              <a:rPr sz="2850" b="1">
                <a:solidFill>
                  <a:srgbClr val="0F766E"/>
                </a:solidFill>
                <a:latin typeface="Arial"/>
                <a:ea typeface="Arial"/>
                <a:cs typeface="Arial"/>
              </a:rPr>
              <a:t>72,281</a:t>
            </a:r>
          </a:p>
        </p:txBody>
      </p:sp>
      <p:sp>
        <p:nvSpPr>
          <p:cNvPr id="10" name="">
            <a:extLst xmlns:a="http://schemas.openxmlformats.org/drawingml/2006/main">
              <a:ext uri="{FF2B5EF4-FFF2-40B4-BE49-F238E27FC236}">
                <a16:creationId xmlns:a16="http://schemas.microsoft.com/office/drawing/2014/main" id="{E6CBF7B8-71AE-451B-8126-43473CA8C52C}"/>
              </a:ext>
            </a:extLst>
          </p:cNvPr>
          <p:cNvSpPr>
            <a:spLocks xmlns:a="http://schemas.openxmlformats.org/drawingml/2006/main" noGrp="1"/>
          </p:cNvSpPr>
          <p:nvPr/>
        </p:nvSpPr>
        <p:spPr>
          <a:xfrm xmlns:a="http://schemas.openxmlformats.org/drawingml/2006/main">
            <a:off x="685800" y="3543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900" b="1">
                <a:solidFill>
                  <a:srgbClr val="53645F"/>
                </a:solidFill>
                <a:latin typeface="Arial"/>
                <a:ea typeface="Arial"/>
                <a:cs typeface="Arial"/>
              </a:defRPr>
            </a:pPr>
            <a:r>
              <a:rPr sz="900" b="1">
                <a:solidFill>
                  <a:srgbClr val="53645F"/>
                </a:solidFill>
                <a:latin typeface="Arial"/>
                <a:ea typeface="Arial"/>
                <a:cs typeface="Arial"/>
              </a:rPr>
              <a:t>JOBS IN THE SEGMENT</a:t>
            </a:r>
          </a:p>
        </p:txBody>
      </p:sp>
      <p:sp>
        <p:nvSpPr>
          <p:cNvPr id="11" name="">
            <a:extLst xmlns:a="http://schemas.openxmlformats.org/drawingml/2006/main">
              <a:ext uri="{FF2B5EF4-FFF2-40B4-BE49-F238E27FC236}">
                <a16:creationId xmlns:a16="http://schemas.microsoft.com/office/drawing/2014/main" id="{53BFC5D8-198B-4C59-96D5-FBEF8070FADB}"/>
              </a:ext>
            </a:extLst>
          </p:cNvPr>
          <p:cNvSpPr>
            <a:spLocks xmlns:a="http://schemas.openxmlformats.org/drawingml/2006/main" noGrp="1"/>
          </p:cNvSpPr>
          <p:nvPr/>
        </p:nvSpPr>
        <p:spPr>
          <a:xfrm xmlns:a="http://schemas.openxmlformats.org/drawingml/2006/main">
            <a:off x="685800" y="4143375"/>
            <a:ext cx="4667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30"/>
          </a:bodyPr>
          <a:lstStyle xmlns:a="http://schemas.openxmlformats.org/drawingml/2006/main"/>
          <a:p xmlns:a="http://schemas.openxmlformats.org/drawingml/2006/main">
            <a:pPr algn="l">
              <a:lnSpc>
                <a:spcPct val="103000"/>
              </a:lnSpc>
              <a:buNone/>
              <a:defRPr sz="1875" b="1">
                <a:solidFill>
                  <a:srgbClr val="10221F"/>
                </a:solidFill>
                <a:latin typeface="Arial"/>
                <a:ea typeface="Arial"/>
                <a:cs typeface="Arial"/>
              </a:defRPr>
            </a:pPr>
            <a:r>
              <a:rPr sz="1875" b="1">
                <a:solidFill>
                  <a:srgbClr val="10221F"/>
                </a:solidFill>
                <a:latin typeface="Arial"/>
                <a:ea typeface="Arial"/>
                <a:cs typeface="Arial"/>
              </a:rPr>
              <a:t>A stoppage does not stop only one machine; it invalidates today's delivery commitments.</a:t>
            </a:r>
          </a:p>
        </p:txBody>
      </p:sp>
      <p:sp>
        <p:nvSpPr>
          <p:cNvPr id="12" name="">
            <a:extLst xmlns:a="http://schemas.openxmlformats.org/drawingml/2006/main">
              <a:ext uri="{FF2B5EF4-FFF2-40B4-BE49-F238E27FC236}">
                <a16:creationId xmlns:a16="http://schemas.microsoft.com/office/drawing/2014/main" id="{208FB2AC-D47B-4349-B048-9EA2CBAD607E}"/>
              </a:ext>
            </a:extLst>
          </p:cNvPr>
          <p:cNvSpPr>
            <a:spLocks xmlns:a="http://schemas.openxmlformats.org/drawingml/2006/main" noGrp="1"/>
          </p:cNvSpPr>
          <p:nvPr/>
        </p:nvSpPr>
        <p:spPr>
          <a:xfrm xmlns:a="http://schemas.openxmlformats.org/drawingml/2006/main">
            <a:off x="5657850" y="1790700"/>
            <a:ext cx="5848350" cy="3924300"/>
          </a:xfrm>
          <a:prstGeom xmlns:a="http://schemas.openxmlformats.org/drawingml/2006/main" prst="roundRect">
            <a:avLst>
              <a:gd name="adj" fmla="val 4369"/>
            </a:avLst>
          </a:prstGeom>
          <a:solidFill xmlns:a="http://schemas.openxmlformats.org/drawingml/2006/main">
            <a:srgbClr val="092925"/>
          </a:solidFill>
          <a:ln xmlns:a="http://schemas.openxmlformats.org/drawingml/2006/main" w="0">
            <a:no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f5bc8104ba64a98"/>
          <a:srcRect xmlns:a="http://schemas.openxmlformats.org/drawingml/2006/main" l="6924" t="0" r="6924" b="0"/>
          <a:stretch xmlns:a="http://schemas.openxmlformats.org/drawingml/2006/main">
            <a:fillRect l="0" t="0" r="0" b="0"/>
          </a:stretch>
        </p:blipFill>
        <p:spPr>
          <a:xfrm xmlns:a="http://schemas.openxmlformats.org/drawingml/2006/main">
            <a:off x="5810250" y="1943100"/>
            <a:ext cx="5543550" cy="3619500"/>
          </a:xfrm>
          <a:prstGeom xmlns:a="http://schemas.openxmlformats.org/drawingml/2006/main" prst="roundRect">
            <a:avLst>
              <a:gd name="adj" fmla="val 3684"/>
            </a:avLst>
          </a:prstGeom>
        </p:spPr>
      </p:pic>
      <p:sp>
        <p:nvSpPr>
          <p:cNvPr id="14" name="">
            <a:extLst xmlns:a="http://schemas.openxmlformats.org/drawingml/2006/main">
              <a:ext uri="{FF2B5EF4-FFF2-40B4-BE49-F238E27FC236}">
                <a16:creationId xmlns:a16="http://schemas.microsoft.com/office/drawing/2014/main" id="{E3F9028F-7951-4D1B-82F4-B3F5468905AF}"/>
              </a:ext>
            </a:extLst>
          </p:cNvPr>
          <p:cNvSpPr>
            <a:spLocks xmlns:a="http://schemas.openxmlformats.org/drawingml/2006/main" noGrp="1"/>
          </p:cNvSpPr>
          <p:nvPr/>
        </p:nvSpPr>
        <p:spPr>
          <a:xfrm xmlns:a="http://schemas.openxmlformats.org/drawingml/2006/main">
            <a:off x="5962650" y="4762500"/>
            <a:ext cx="5219700" cy="590550"/>
          </a:xfrm>
          <a:prstGeom xmlns:a="http://schemas.openxmlformats.org/drawingml/2006/main" prst="roundRect">
            <a:avLst>
              <a:gd name="adj" fmla="val 19355"/>
            </a:avLst>
          </a:prstGeom>
          <a:solidFill xmlns:a="http://schemas.openxmlformats.org/drawingml/2006/main">
            <a:srgbClr val="061E1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ED7DCC-B91E-493B-B46A-662AB5368F68}"/>
              </a:ext>
            </a:extLst>
          </p:cNvPr>
          <p:cNvSpPr>
            <a:spLocks xmlns:a="http://schemas.openxmlformats.org/drawingml/2006/main" noGrp="1"/>
          </p:cNvSpPr>
          <p:nvPr/>
        </p:nvSpPr>
        <p:spPr>
          <a:xfrm xmlns:a="http://schemas.openxmlformats.org/drawingml/2006/main">
            <a:off x="6153150" y="49244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E9763B"/>
                </a:solidFill>
                <a:latin typeface="Arial"/>
                <a:ea typeface="Arial"/>
                <a:cs typeface="Arial"/>
              </a:defRPr>
            </a:pPr>
            <a:r>
              <a:rPr sz="1425" b="1">
                <a:solidFill>
                  <a:srgbClr val="E9763B"/>
                </a:solidFill>
                <a:latin typeface="Arial"/>
                <a:ea typeface="Arial"/>
                <a:cs typeface="Arial"/>
              </a:rPr>
              <a:t>10:00 · 3 orders exposed · 620 min projected delay</a:t>
            </a:r>
          </a:p>
        </p:txBody>
      </p:sp>
      <p:sp>
        <p:nvSpPr>
          <p:cNvPr id="16" name="">
            <a:extLst xmlns:a="http://schemas.openxmlformats.org/drawingml/2006/main">
              <a:ext uri="{FF2B5EF4-FFF2-40B4-BE49-F238E27FC236}">
                <a16:creationId xmlns:a16="http://schemas.microsoft.com/office/drawing/2014/main" id="{2DDEA2B5-A249-495B-8120-91080CD643DB}"/>
              </a:ext>
            </a:extLst>
          </p:cNvPr>
          <p:cNvSpPr>
            <a:spLocks xmlns:a="http://schemas.openxmlformats.org/drawingml/2006/main" noGrp="1"/>
          </p:cNvSpPr>
          <p:nvPr/>
        </p:nvSpPr>
        <p:spPr>
          <a:xfrm xmlns:a="http://schemas.openxmlformats.org/drawingml/2006/main">
            <a:off x="685800" y="5429250"/>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53645F"/>
                </a:solidFill>
                <a:latin typeface="Arial"/>
                <a:ea typeface="Arial"/>
                <a:cs typeface="Arial"/>
              </a:defRPr>
            </a:pPr>
            <a:r>
              <a:rPr sz="1275" b="0">
                <a:solidFill>
                  <a:srgbClr val="53645F"/>
                </a:solidFill>
                <a:latin typeface="Arial"/>
                <a:ea typeface="Arial"/>
                <a:cs typeface="Arial"/>
              </a:rPr>
              <a:t>The pain is real as a process; frequency and loss remain plant-specific pilot questions.</a:t>
            </a:r>
          </a:p>
        </p:txBody>
      </p:sp>
      <p:sp>
        <p:nvSpPr>
          <p:cNvPr id="17" name="">
            <a:extLst xmlns:a="http://schemas.openxmlformats.org/drawingml/2006/main">
              <a:ext uri="{FF2B5EF4-FFF2-40B4-BE49-F238E27FC236}">
                <a16:creationId xmlns:a16="http://schemas.microsoft.com/office/drawing/2014/main" id="{81AE966C-9CC2-45C3-8660-513DECB4B2F5}"/>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
        <p:nvSpPr>
          <p:cNvPr id="18" name="">
            <a:extLst xmlns:a="http://schemas.openxmlformats.org/drawingml/2006/main">
              <a:ext uri="{FF2B5EF4-FFF2-40B4-BE49-F238E27FC236}">
                <a16:creationId xmlns:a16="http://schemas.microsoft.com/office/drawing/2014/main" id="{F31B0F64-791E-4120-BEF2-384BFC2EE8AF}"/>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Source: APII, June 2026 · tunisieindustrie.nat.tn</a:t>
            </a:r>
          </a:p>
        </p:txBody>
      </p:sp>
    </p:spTree>
    <p:extLst>
      <p:ext uri="{BB962C8B-B14F-4D97-AF65-F5344CB8AC3E}">
        <p14:creationId xmlns:p14="http://schemas.microsoft.com/office/powerpoint/2010/main" val="425557380"/>
      </p:ext>
    </p:extLst>
  </p:cSld>
</p:sld>
</file>

<file path=ppt/slides/slide3.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270E138-B934-4A09-B0F9-686DC6E78739}"/>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VALUE PROPOSITION</a:t>
            </a:r>
          </a:p>
        </p:txBody>
      </p:sp>
      <p:sp>
        <p:nvSpPr>
          <p:cNvPr id="2" name="">
            <a:extLst xmlns:a="http://schemas.openxmlformats.org/drawingml/2006/main">
              <a:ext uri="{FF2B5EF4-FFF2-40B4-BE49-F238E27FC236}">
                <a16:creationId xmlns:a16="http://schemas.microsoft.com/office/drawing/2014/main" id="{A5A66EFB-64EC-4FDD-97F3-0493E0B4941E}"/>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B350EA1-8837-40A6-952F-DE6951A08DA6}"/>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64333EF5-DEC3-4932-9834-24E2EE5274B1}"/>
              </a:ext>
            </a:extLst>
          </p:cNvPr>
          <p:cNvSpPr>
            <a:spLocks xmlns:a="http://schemas.openxmlformats.org/drawingml/2006/main" noGrp="1"/>
          </p:cNvSpPr>
          <p:nvPr/>
        </p:nvSpPr>
        <p:spPr>
          <a:xfrm xmlns:a="http://schemas.openxmlformats.org/drawingml/2006/main">
            <a:off x="685800" y="857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a:solidFill>
                  <a:srgbClr val="F5F4ED"/>
                </a:solidFill>
                <a:latin typeface="Arial"/>
                <a:ea typeface="Arial"/>
                <a:cs typeface="Arial"/>
              </a:defRPr>
            </a:pPr>
            <a:r>
              <a:rPr sz="2925" b="1">
                <a:solidFill>
                  <a:srgbClr val="F5F4ED"/>
                </a:solidFill>
                <a:latin typeface="Arial"/>
                <a:ea typeface="Arial"/>
                <a:cs typeface="Arial"/>
              </a:rPr>
              <a:t>One line stops. Three verified routes. One human decides.</a:t>
            </a:r>
          </a:p>
        </p:txBody>
      </p:sp>
      <p:sp>
        <p:nvSpPr>
          <p:cNvPr id="5" name="">
            <a:extLst xmlns:a="http://schemas.openxmlformats.org/drawingml/2006/main">
              <a:ext uri="{FF2B5EF4-FFF2-40B4-BE49-F238E27FC236}">
                <a16:creationId xmlns:a16="http://schemas.microsoft.com/office/drawing/2014/main" id="{26E1C5D9-5AAA-40EB-A9AC-242BD66CA9B2}"/>
              </a:ext>
            </a:extLst>
          </p:cNvPr>
          <p:cNvSpPr>
            <a:spLocks xmlns:a="http://schemas.openxmlformats.org/drawingml/2006/main" noGrp="1"/>
          </p:cNvSpPr>
          <p:nvPr/>
        </p:nvSpPr>
        <p:spPr>
          <a:xfrm xmlns:a="http://schemas.openxmlformats.org/drawingml/2006/main">
            <a:off x="685800" y="14954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The learned advisor ranks existing routes; it never creates or edits one.</a:t>
            </a:r>
          </a:p>
        </p:txBody>
      </p:sp>
      <p:sp>
        <p:nvSpPr>
          <p:cNvPr id="6" name="">
            <a:extLst xmlns:a="http://schemas.openxmlformats.org/drawingml/2006/main">
              <a:ext uri="{FF2B5EF4-FFF2-40B4-BE49-F238E27FC236}">
                <a16:creationId xmlns:a16="http://schemas.microsoft.com/office/drawing/2014/main" id="{38AB767C-7E35-476A-B729-5315DBDA32E4}"/>
              </a:ext>
            </a:extLst>
          </p:cNvPr>
          <p:cNvSpPr>
            <a:spLocks xmlns:a="http://schemas.openxmlformats.org/drawingml/2006/main" noGrp="1"/>
          </p:cNvSpPr>
          <p:nvPr/>
        </p:nvSpPr>
        <p:spPr>
          <a:xfrm xmlns:a="http://schemas.openxmlformats.org/drawingml/2006/main">
            <a:off x="685800" y="2057400"/>
            <a:ext cx="2190750" cy="2857500"/>
          </a:xfrm>
          <a:prstGeom xmlns:a="http://schemas.openxmlformats.org/drawingml/2006/main" prst="roundRect">
            <a:avLst>
              <a:gd name="adj" fmla="val 7826"/>
            </a:avLst>
          </a:prstGeom>
          <a:solidFill xmlns:a="http://schemas.openxmlformats.org/drawingml/2006/main">
            <a:srgbClr val="061E1B"/>
          </a:solidFill>
          <a:ln xmlns:a="http://schemas.openxmlformats.org/drawingml/2006/main" w="9525">
            <a:solidFill>
              <a:srgbClr val="E9763B"/>
            </a:solidFill>
            <a:prstDash val="solid"/>
          </a:ln>
        </p:spPr>
      </p:sp>
      <p:sp>
        <p:nvSpPr>
          <p:cNvPr id="7" name="">
            <a:extLst xmlns:a="http://schemas.openxmlformats.org/drawingml/2006/main">
              <a:ext uri="{FF2B5EF4-FFF2-40B4-BE49-F238E27FC236}">
                <a16:creationId xmlns:a16="http://schemas.microsoft.com/office/drawing/2014/main" id="{3F4E6148-5D6D-44B4-9224-FEF7A0129D63}"/>
              </a:ext>
            </a:extLst>
          </p:cNvPr>
          <p:cNvSpPr>
            <a:spLocks xmlns:a="http://schemas.openxmlformats.org/drawingml/2006/main" noGrp="1"/>
          </p:cNvSpPr>
          <p:nvPr/>
        </p:nvSpPr>
        <p:spPr>
          <a:xfrm xmlns:a="http://schemas.openxmlformats.org/drawingml/2006/main">
            <a:off x="685800" y="2057400"/>
            <a:ext cx="2190750" cy="57150"/>
          </a:xfrm>
          <a:prstGeom xmlns:a="http://schemas.openxmlformats.org/drawingml/2006/main" prst="roundRect">
            <a:avLst>
              <a:gd name="adj" fmla="val 50000"/>
            </a:avLst>
          </a:prstGeom>
          <a:solidFill xmlns:a="http://schemas.openxmlformats.org/drawingml/2006/main">
            <a:srgbClr val="E976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2F96E94-18C4-4D05-BF68-1BE3D9CE25BC}"/>
              </a:ext>
            </a:extLst>
          </p:cNvPr>
          <p:cNvSpPr>
            <a:spLocks xmlns:a="http://schemas.openxmlformats.org/drawingml/2006/main" noGrp="1"/>
          </p:cNvSpPr>
          <p:nvPr/>
        </p:nvSpPr>
        <p:spPr>
          <a:xfrm xmlns:a="http://schemas.openxmlformats.org/drawingml/2006/main">
            <a:off x="876300" y="23241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01 · INCIDENT</a:t>
            </a:r>
          </a:p>
        </p:txBody>
      </p:sp>
      <p:sp>
        <p:nvSpPr>
          <p:cNvPr id="9" name="">
            <a:extLst xmlns:a="http://schemas.openxmlformats.org/drawingml/2006/main">
              <a:ext uri="{FF2B5EF4-FFF2-40B4-BE49-F238E27FC236}">
                <a16:creationId xmlns:a16="http://schemas.microsoft.com/office/drawing/2014/main" id="{39423FDB-D682-47B1-A97F-D20E812D41DF}"/>
              </a:ext>
            </a:extLst>
          </p:cNvPr>
          <p:cNvSpPr>
            <a:spLocks xmlns:a="http://schemas.openxmlformats.org/drawingml/2006/main" noGrp="1"/>
          </p:cNvSpPr>
          <p:nvPr/>
        </p:nvSpPr>
        <p:spPr>
          <a:xfrm xmlns:a="http://schemas.openxmlformats.org/drawingml/2006/main">
            <a:off x="876300" y="2686050"/>
            <a:ext cx="180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Simulated twin</a:t>
            </a:r>
          </a:p>
        </p:txBody>
      </p:sp>
      <p:sp>
        <p:nvSpPr>
          <p:cNvPr id="10" name="">
            <a:extLst xmlns:a="http://schemas.openxmlformats.org/drawingml/2006/main">
              <a:ext uri="{FF2B5EF4-FFF2-40B4-BE49-F238E27FC236}">
                <a16:creationId xmlns:a16="http://schemas.microsoft.com/office/drawing/2014/main" id="{A2F4B193-B834-4380-A194-F2B0F1BCC5D3}"/>
              </a:ext>
            </a:extLst>
          </p:cNvPr>
          <p:cNvSpPr>
            <a:spLocks xmlns:a="http://schemas.openxmlformats.org/drawingml/2006/main" noGrp="1"/>
          </p:cNvSpPr>
          <p:nvPr/>
        </p:nvSpPr>
        <p:spPr>
          <a:xfrm xmlns:a="http://schemas.openxmlformats.org/drawingml/2006/main">
            <a:off x="876300" y="34671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Line 2 stops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10:00–14:00</a:t>
            </a:r>
          </a:p>
        </p:txBody>
      </p:sp>
      <p:sp>
        <p:nvSpPr>
          <p:cNvPr id="11" name="">
            <a:extLst xmlns:a="http://schemas.openxmlformats.org/drawingml/2006/main">
              <a:ext uri="{FF2B5EF4-FFF2-40B4-BE49-F238E27FC236}">
                <a16:creationId xmlns:a16="http://schemas.microsoft.com/office/drawing/2014/main" id="{E096F9A8-0B2E-4203-AF54-A663A957AE8B}"/>
              </a:ext>
            </a:extLst>
          </p:cNvPr>
          <p:cNvSpPr>
            <a:spLocks xmlns:a="http://schemas.openxmlformats.org/drawingml/2006/main" noGrp="1"/>
          </p:cNvSpPr>
          <p:nvPr/>
        </p:nvSpPr>
        <p:spPr>
          <a:xfrm xmlns:a="http://schemas.openxmlformats.org/drawingml/2006/main">
            <a:off x="876300" y="4324350"/>
            <a:ext cx="18097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2" name="">
            <a:extLst xmlns:a="http://schemas.openxmlformats.org/drawingml/2006/main">
              <a:ext uri="{FF2B5EF4-FFF2-40B4-BE49-F238E27FC236}">
                <a16:creationId xmlns:a16="http://schemas.microsoft.com/office/drawing/2014/main" id="{BBA0E5EA-F450-4DDA-ABE4-675DEBE635C3}"/>
              </a:ext>
            </a:extLst>
          </p:cNvPr>
          <p:cNvSpPr>
            <a:spLocks xmlns:a="http://schemas.openxmlformats.org/drawingml/2006/main" noGrp="1"/>
          </p:cNvSpPr>
          <p:nvPr/>
        </p:nvSpPr>
        <p:spPr>
          <a:xfrm xmlns:a="http://schemas.openxmlformats.org/drawingml/2006/main">
            <a:off x="876300" y="44577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Synthetic telemetry</a:t>
            </a:r>
          </a:p>
        </p:txBody>
      </p:sp>
      <p:sp>
        <p:nvSpPr>
          <p:cNvPr id="13" name="">
            <a:extLst xmlns:a="http://schemas.openxmlformats.org/drawingml/2006/main">
              <a:ext uri="{FF2B5EF4-FFF2-40B4-BE49-F238E27FC236}">
                <a16:creationId xmlns:a16="http://schemas.microsoft.com/office/drawing/2014/main" id="{D1864CC2-3DDF-4FA7-B728-5071CACEBB9B}"/>
              </a:ext>
            </a:extLst>
          </p:cNvPr>
          <p:cNvSpPr>
            <a:spLocks xmlns:a="http://schemas.openxmlformats.org/drawingml/2006/main" noGrp="1"/>
          </p:cNvSpPr>
          <p:nvPr/>
        </p:nvSpPr>
        <p:spPr>
          <a:xfrm xmlns:a="http://schemas.openxmlformats.org/drawingml/2006/main">
            <a:off x="32194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C9F36B"/>
            </a:solidFill>
            <a:prstDash val="solid"/>
          </a:ln>
        </p:spPr>
      </p:sp>
      <p:sp>
        <p:nvSpPr>
          <p:cNvPr id="14" name="">
            <a:extLst xmlns:a="http://schemas.openxmlformats.org/drawingml/2006/main">
              <a:ext uri="{FF2B5EF4-FFF2-40B4-BE49-F238E27FC236}">
                <a16:creationId xmlns:a16="http://schemas.microsoft.com/office/drawing/2014/main" id="{7233F9F3-9DF8-4561-B27C-4C637CBB1859}"/>
              </a:ext>
            </a:extLst>
          </p:cNvPr>
          <p:cNvSpPr>
            <a:spLocks xmlns:a="http://schemas.openxmlformats.org/drawingml/2006/main" noGrp="1"/>
          </p:cNvSpPr>
          <p:nvPr/>
        </p:nvSpPr>
        <p:spPr>
          <a:xfrm xmlns:a="http://schemas.openxmlformats.org/drawingml/2006/main">
            <a:off x="3219450" y="2057400"/>
            <a:ext cx="247650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6491678-8BFF-437D-B6E0-F91A84CCD72C}"/>
              </a:ext>
            </a:extLst>
          </p:cNvPr>
          <p:cNvSpPr>
            <a:spLocks xmlns:a="http://schemas.openxmlformats.org/drawingml/2006/main" noGrp="1"/>
          </p:cNvSpPr>
          <p:nvPr/>
        </p:nvSpPr>
        <p:spPr>
          <a:xfrm xmlns:a="http://schemas.openxmlformats.org/drawingml/2006/main">
            <a:off x="34099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02 · PLAN</a:t>
            </a:r>
          </a:p>
        </p:txBody>
      </p:sp>
      <p:sp>
        <p:nvSpPr>
          <p:cNvPr id="16" name="">
            <a:extLst xmlns:a="http://schemas.openxmlformats.org/drawingml/2006/main">
              <a:ext uri="{FF2B5EF4-FFF2-40B4-BE49-F238E27FC236}">
                <a16:creationId xmlns:a16="http://schemas.microsoft.com/office/drawing/2014/main" id="{41D307DB-0A05-463C-99D2-9E3130B16F69}"/>
              </a:ext>
            </a:extLst>
          </p:cNvPr>
          <p:cNvSpPr>
            <a:spLocks xmlns:a="http://schemas.openxmlformats.org/drawingml/2006/main" noGrp="1"/>
          </p:cNvSpPr>
          <p:nvPr/>
        </p:nvSpPr>
        <p:spPr>
          <a:xfrm xmlns:a="http://schemas.openxmlformats.org/drawingml/2006/main">
            <a:off x="34099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Constraint planner</a:t>
            </a:r>
          </a:p>
        </p:txBody>
      </p:sp>
      <p:sp>
        <p:nvSpPr>
          <p:cNvPr id="17" name="">
            <a:extLst xmlns:a="http://schemas.openxmlformats.org/drawingml/2006/main">
              <a:ext uri="{FF2B5EF4-FFF2-40B4-BE49-F238E27FC236}">
                <a16:creationId xmlns:a16="http://schemas.microsoft.com/office/drawing/2014/main" id="{FDBA36A2-EE0E-48FD-B902-D36B51FCC202}"/>
              </a:ext>
            </a:extLst>
          </p:cNvPr>
          <p:cNvSpPr>
            <a:spLocks xmlns:a="http://schemas.openxmlformats.org/drawingml/2006/main" noGrp="1"/>
          </p:cNvSpPr>
          <p:nvPr/>
        </p:nvSpPr>
        <p:spPr>
          <a:xfrm xmlns:a="http://schemas.openxmlformats.org/drawingml/2006/main">
            <a:off x="34099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Builds Service, Cost</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and Stability routes</a:t>
            </a:r>
          </a:p>
        </p:txBody>
      </p:sp>
      <p:sp>
        <p:nvSpPr>
          <p:cNvPr id="18" name="">
            <a:extLst xmlns:a="http://schemas.openxmlformats.org/drawingml/2006/main">
              <a:ext uri="{FF2B5EF4-FFF2-40B4-BE49-F238E27FC236}">
                <a16:creationId xmlns:a16="http://schemas.microsoft.com/office/drawing/2014/main" id="{A4C8147D-E229-4E6A-A324-9CEFF399910A}"/>
              </a:ext>
            </a:extLst>
          </p:cNvPr>
          <p:cNvSpPr>
            <a:spLocks xmlns:a="http://schemas.openxmlformats.org/drawingml/2006/main" noGrp="1"/>
          </p:cNvSpPr>
          <p:nvPr/>
        </p:nvSpPr>
        <p:spPr>
          <a:xfrm xmlns:a="http://schemas.openxmlformats.org/drawingml/2006/main">
            <a:off x="34099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19" name="">
            <a:extLst xmlns:a="http://schemas.openxmlformats.org/drawingml/2006/main">
              <a:ext uri="{FF2B5EF4-FFF2-40B4-BE49-F238E27FC236}">
                <a16:creationId xmlns:a16="http://schemas.microsoft.com/office/drawing/2014/main" id="{04EAA770-4E94-4E98-A331-B2BA6C4D0F96}"/>
              </a:ext>
            </a:extLst>
          </p:cNvPr>
          <p:cNvSpPr>
            <a:spLocks xmlns:a="http://schemas.openxmlformats.org/drawingml/2006/main" noGrp="1"/>
          </p:cNvSpPr>
          <p:nvPr/>
        </p:nvSpPr>
        <p:spPr>
          <a:xfrm xmlns:a="http://schemas.openxmlformats.org/drawingml/2006/main">
            <a:off x="34099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Deterministic · non-learning</a:t>
            </a:r>
          </a:p>
        </p:txBody>
      </p:sp>
      <p:sp>
        <p:nvSpPr>
          <p:cNvPr id="20" name="">
            <a:extLst xmlns:a="http://schemas.openxmlformats.org/drawingml/2006/main">
              <a:ext uri="{FF2B5EF4-FFF2-40B4-BE49-F238E27FC236}">
                <a16:creationId xmlns:a16="http://schemas.microsoft.com/office/drawing/2014/main" id="{B208C886-FCEF-4DCD-8F59-6878E4AA0167}"/>
              </a:ext>
            </a:extLst>
          </p:cNvPr>
          <p:cNvSpPr>
            <a:spLocks xmlns:a="http://schemas.openxmlformats.org/drawingml/2006/main" noGrp="1"/>
          </p:cNvSpPr>
          <p:nvPr/>
        </p:nvSpPr>
        <p:spPr>
          <a:xfrm xmlns:a="http://schemas.openxmlformats.org/drawingml/2006/main">
            <a:off x="6038850" y="2057400"/>
            <a:ext cx="2476500" cy="2857500"/>
          </a:xfrm>
          <a:prstGeom xmlns:a="http://schemas.openxmlformats.org/drawingml/2006/main" prst="roundRect">
            <a:avLst>
              <a:gd name="adj" fmla="val 6923"/>
            </a:avLst>
          </a:prstGeom>
          <a:solidFill xmlns:a="http://schemas.openxmlformats.org/drawingml/2006/main">
            <a:srgbClr val="061E1B"/>
          </a:solidFill>
          <a:ln xmlns:a="http://schemas.openxmlformats.org/drawingml/2006/main" w="9525">
            <a:solidFill>
              <a:srgbClr val="4EC5BC"/>
            </a:solidFill>
            <a:prstDash val="solid"/>
          </a:ln>
        </p:spPr>
      </p:sp>
      <p:sp>
        <p:nvSpPr>
          <p:cNvPr id="21" name="">
            <a:extLst xmlns:a="http://schemas.openxmlformats.org/drawingml/2006/main">
              <a:ext uri="{FF2B5EF4-FFF2-40B4-BE49-F238E27FC236}">
                <a16:creationId xmlns:a16="http://schemas.microsoft.com/office/drawing/2014/main" id="{21AD9CB3-1D8E-468A-9746-B367AD5B8D9C}"/>
              </a:ext>
            </a:extLst>
          </p:cNvPr>
          <p:cNvSpPr>
            <a:spLocks xmlns:a="http://schemas.openxmlformats.org/drawingml/2006/main" noGrp="1"/>
          </p:cNvSpPr>
          <p:nvPr/>
        </p:nvSpPr>
        <p:spPr>
          <a:xfrm xmlns:a="http://schemas.openxmlformats.org/drawingml/2006/main">
            <a:off x="6038850" y="2057400"/>
            <a:ext cx="2476500" cy="57150"/>
          </a:xfrm>
          <a:prstGeom xmlns:a="http://schemas.openxmlformats.org/drawingml/2006/main" prst="roundRect">
            <a:avLst>
              <a:gd name="adj" fmla="val 50000"/>
            </a:avLst>
          </a:prstGeom>
          <a:solidFill xmlns:a="http://schemas.openxmlformats.org/drawingml/2006/main">
            <a:srgbClr val="4EC5B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5B5096-B1D9-4E6A-B9C6-810636429C54}"/>
              </a:ext>
            </a:extLst>
          </p:cNvPr>
          <p:cNvSpPr>
            <a:spLocks xmlns:a="http://schemas.openxmlformats.org/drawingml/2006/main" noGrp="1"/>
          </p:cNvSpPr>
          <p:nvPr/>
        </p:nvSpPr>
        <p:spPr>
          <a:xfrm xmlns:a="http://schemas.openxmlformats.org/drawingml/2006/main">
            <a:off x="6229350" y="2324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4EC5BC"/>
                </a:solidFill>
                <a:latin typeface="Arial"/>
                <a:ea typeface="Arial"/>
                <a:cs typeface="Arial"/>
              </a:defRPr>
            </a:pPr>
            <a:r>
              <a:rPr sz="900" b="1">
                <a:solidFill>
                  <a:srgbClr val="4EC5BC"/>
                </a:solidFill>
                <a:latin typeface="Arial"/>
                <a:ea typeface="Arial"/>
                <a:cs typeface="Arial"/>
              </a:rPr>
              <a:t>03 · VERIFY + ADVISE</a:t>
            </a:r>
          </a:p>
        </p:txBody>
      </p:sp>
      <p:sp>
        <p:nvSpPr>
          <p:cNvPr id="23" name="">
            <a:extLst xmlns:a="http://schemas.openxmlformats.org/drawingml/2006/main">
              <a:ext uri="{FF2B5EF4-FFF2-40B4-BE49-F238E27FC236}">
                <a16:creationId xmlns:a16="http://schemas.microsoft.com/office/drawing/2014/main" id="{277B8170-8A6A-4C12-BDAF-5449EE82B1FB}"/>
              </a:ext>
            </a:extLst>
          </p:cNvPr>
          <p:cNvSpPr>
            <a:spLocks xmlns:a="http://schemas.openxmlformats.org/drawingml/2006/main" noGrp="1"/>
          </p:cNvSpPr>
          <p:nvPr/>
        </p:nvSpPr>
        <p:spPr>
          <a:xfrm xmlns:a="http://schemas.openxmlformats.org/drawingml/2006/main">
            <a:off x="6229350" y="26860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Separate evidence</a:t>
            </a:r>
          </a:p>
        </p:txBody>
      </p:sp>
      <p:sp>
        <p:nvSpPr>
          <p:cNvPr id="24" name="">
            <a:extLst xmlns:a="http://schemas.openxmlformats.org/drawingml/2006/main">
              <a:ext uri="{FF2B5EF4-FFF2-40B4-BE49-F238E27FC236}">
                <a16:creationId xmlns:a16="http://schemas.microsoft.com/office/drawing/2014/main" id="{D597AE7E-E975-4FAB-8B8C-342ED2C0E436}"/>
              </a:ext>
            </a:extLst>
          </p:cNvPr>
          <p:cNvSpPr>
            <a:spLocks xmlns:a="http://schemas.openxmlformats.org/drawingml/2006/main" noGrp="1"/>
          </p:cNvSpPr>
          <p:nvPr/>
        </p:nvSpPr>
        <p:spPr>
          <a:xfrm xmlns:a="http://schemas.openxmlformats.org/drawingml/2006/main">
            <a:off x="6229350" y="34671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Verifier cross-checks</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ML ranks the 3 routes</a:t>
            </a:r>
          </a:p>
        </p:txBody>
      </p:sp>
      <p:sp>
        <p:nvSpPr>
          <p:cNvPr id="25" name="">
            <a:extLst xmlns:a="http://schemas.openxmlformats.org/drawingml/2006/main">
              <a:ext uri="{FF2B5EF4-FFF2-40B4-BE49-F238E27FC236}">
                <a16:creationId xmlns:a16="http://schemas.microsoft.com/office/drawing/2014/main" id="{4248F9AB-815F-43E5-8947-DFFED410A7D5}"/>
              </a:ext>
            </a:extLst>
          </p:cNvPr>
          <p:cNvSpPr>
            <a:spLocks xmlns:a="http://schemas.openxmlformats.org/drawingml/2006/main" noGrp="1"/>
          </p:cNvSpPr>
          <p:nvPr/>
        </p:nvSpPr>
        <p:spPr>
          <a:xfrm xmlns:a="http://schemas.openxmlformats.org/drawingml/2006/main">
            <a:off x="6229350" y="4324350"/>
            <a:ext cx="20955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26" name="">
            <a:extLst xmlns:a="http://schemas.openxmlformats.org/drawingml/2006/main">
              <a:ext uri="{FF2B5EF4-FFF2-40B4-BE49-F238E27FC236}">
                <a16:creationId xmlns:a16="http://schemas.microsoft.com/office/drawing/2014/main" id="{EF75479D-A4A7-4586-8F99-20CB70D3ABEC}"/>
              </a:ext>
            </a:extLst>
          </p:cNvPr>
          <p:cNvSpPr>
            <a:spLocks xmlns:a="http://schemas.openxmlformats.org/drawingml/2006/main" noGrp="1"/>
          </p:cNvSpPr>
          <p:nvPr/>
        </p:nvSpPr>
        <p:spPr>
          <a:xfrm xmlns:a="http://schemas.openxmlformats.org/drawingml/2006/main">
            <a:off x="6229350" y="4457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Bounded + advisory</a:t>
            </a:r>
          </a:p>
        </p:txBody>
      </p:sp>
      <p:sp>
        <p:nvSpPr>
          <p:cNvPr id="27" name="">
            <a:extLst xmlns:a="http://schemas.openxmlformats.org/drawingml/2006/main">
              <a:ext uri="{FF2B5EF4-FFF2-40B4-BE49-F238E27FC236}">
                <a16:creationId xmlns:a16="http://schemas.microsoft.com/office/drawing/2014/main" id="{D4B6241A-0B31-4E2B-9FFC-0ED5BBC15EBB}"/>
              </a:ext>
            </a:extLst>
          </p:cNvPr>
          <p:cNvSpPr>
            <a:spLocks xmlns:a="http://schemas.openxmlformats.org/drawingml/2006/main" noGrp="1"/>
          </p:cNvSpPr>
          <p:nvPr/>
        </p:nvSpPr>
        <p:spPr>
          <a:xfrm xmlns:a="http://schemas.openxmlformats.org/drawingml/2006/main">
            <a:off x="8858250" y="2057400"/>
            <a:ext cx="2647950" cy="2857500"/>
          </a:xfrm>
          <a:prstGeom xmlns:a="http://schemas.openxmlformats.org/drawingml/2006/main" prst="roundRect">
            <a:avLst>
              <a:gd name="adj" fmla="val 6475"/>
            </a:avLst>
          </a:prstGeom>
          <a:solidFill xmlns:a="http://schemas.openxmlformats.org/drawingml/2006/main">
            <a:srgbClr val="061E1B"/>
          </a:solidFill>
          <a:ln xmlns:a="http://schemas.openxmlformats.org/drawingml/2006/main" w="9525">
            <a:solidFill>
              <a:srgbClr val="C9F36B"/>
            </a:solidFill>
            <a:prstDash val="solid"/>
          </a:ln>
        </p:spPr>
      </p:sp>
      <p:sp>
        <p:nvSpPr>
          <p:cNvPr id="28" name="">
            <a:extLst xmlns:a="http://schemas.openxmlformats.org/drawingml/2006/main">
              <a:ext uri="{FF2B5EF4-FFF2-40B4-BE49-F238E27FC236}">
                <a16:creationId xmlns:a16="http://schemas.microsoft.com/office/drawing/2014/main" id="{B0D9ADCB-3CA6-4CC2-BDB3-9082CE9AB65F}"/>
              </a:ext>
            </a:extLst>
          </p:cNvPr>
          <p:cNvSpPr>
            <a:spLocks xmlns:a="http://schemas.openxmlformats.org/drawingml/2006/main" noGrp="1"/>
          </p:cNvSpPr>
          <p:nvPr/>
        </p:nvSpPr>
        <p:spPr>
          <a:xfrm xmlns:a="http://schemas.openxmlformats.org/drawingml/2006/main">
            <a:off x="8858250" y="2057400"/>
            <a:ext cx="2647950" cy="57150"/>
          </a:xfrm>
          <a:prstGeom xmlns:a="http://schemas.openxmlformats.org/drawingml/2006/main" prst="roundRect">
            <a:avLst>
              <a:gd name="adj" fmla="val 50000"/>
            </a:avLst>
          </a:prstGeom>
          <a:solidFill xmlns:a="http://schemas.openxmlformats.org/drawingml/2006/main">
            <a:srgbClr val="C9F36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965895B-BE09-4BCC-A493-3F2131DCAF2D}"/>
              </a:ext>
            </a:extLst>
          </p:cNvPr>
          <p:cNvSpPr>
            <a:spLocks xmlns:a="http://schemas.openxmlformats.org/drawingml/2006/main" noGrp="1"/>
          </p:cNvSpPr>
          <p:nvPr/>
        </p:nvSpPr>
        <p:spPr>
          <a:xfrm xmlns:a="http://schemas.openxmlformats.org/drawingml/2006/main">
            <a:off x="9048750" y="23241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04 · AUTHORITY</a:t>
            </a:r>
          </a:p>
        </p:txBody>
      </p:sp>
      <p:sp>
        <p:nvSpPr>
          <p:cNvPr id="30" name="">
            <a:extLst xmlns:a="http://schemas.openxmlformats.org/drawingml/2006/main">
              <a:ext uri="{FF2B5EF4-FFF2-40B4-BE49-F238E27FC236}">
                <a16:creationId xmlns:a16="http://schemas.microsoft.com/office/drawing/2014/main" id="{ED74D21A-7A2A-4788-A0E6-4CD025B3A97B}"/>
              </a:ext>
            </a:extLst>
          </p:cNvPr>
          <p:cNvSpPr>
            <a:spLocks xmlns:a="http://schemas.openxmlformats.org/drawingml/2006/main" noGrp="1"/>
          </p:cNvSpPr>
          <p:nvPr/>
        </p:nvSpPr>
        <p:spPr>
          <a:xfrm xmlns:a="http://schemas.openxmlformats.org/drawingml/2006/main">
            <a:off x="9048750" y="2686050"/>
            <a:ext cx="2266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875" b="1">
                <a:solidFill>
                  <a:srgbClr val="F5F4ED"/>
                </a:solidFill>
                <a:latin typeface="Arial"/>
                <a:ea typeface="Arial"/>
                <a:cs typeface="Arial"/>
              </a:defRPr>
            </a:pPr>
            <a:r>
              <a:rPr sz="1875" b="1">
                <a:solidFill>
                  <a:srgbClr val="F5F4ED"/>
                </a:solidFill>
                <a:latin typeface="Arial"/>
                <a:ea typeface="Arial"/>
                <a:cs typeface="Arial"/>
              </a:rPr>
              <a:t>Production manager</a:t>
            </a:r>
          </a:p>
        </p:txBody>
      </p:sp>
      <p:sp>
        <p:nvSpPr>
          <p:cNvPr id="31" name="">
            <a:extLst xmlns:a="http://schemas.openxmlformats.org/drawingml/2006/main">
              <a:ext uri="{FF2B5EF4-FFF2-40B4-BE49-F238E27FC236}">
                <a16:creationId xmlns:a16="http://schemas.microsoft.com/office/drawing/2014/main" id="{1ADCA634-E52A-4A88-A182-30327D94C680}"/>
              </a:ext>
            </a:extLst>
          </p:cNvPr>
          <p:cNvSpPr>
            <a:spLocks xmlns:a="http://schemas.openxmlformats.org/drawingml/2006/main" noGrp="1"/>
          </p:cNvSpPr>
          <p:nvPr/>
        </p:nvSpPr>
        <p:spPr>
          <a:xfrm xmlns:a="http://schemas.openxmlformats.org/drawingml/2006/main">
            <a:off x="9048750" y="3467100"/>
            <a:ext cx="2266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Preview · compare</a:t>
            </a:r>
          </a:p>
          <a:p xmlns:a="http://schemas.openxmlformats.org/drawingml/2006/main">
            <a:pPr algn="l">
              <a:lnSpc>
                <a:spcPct val="105000"/>
              </a:lnSpc>
              <a:buNone/>
              <a:defRPr sz="1350" b="1">
                <a:solidFill>
                  <a:srgbClr val="DFE8E4"/>
                </a:solidFill>
                <a:latin typeface="Arial"/>
                <a:ea typeface="Arial"/>
                <a:cs typeface="Arial"/>
              </a:defRPr>
            </a:pPr>
            <a:r>
              <a:rPr sz="1350" b="1">
                <a:solidFill>
                  <a:srgbClr val="DFE8E4"/>
                </a:solidFill>
                <a:latin typeface="Arial"/>
                <a:ea typeface="Arial"/>
                <a:cs typeface="Arial"/>
              </a:rPr>
              <a:t>approve or reject</a:t>
            </a:r>
          </a:p>
        </p:txBody>
      </p:sp>
      <p:sp>
        <p:nvSpPr>
          <p:cNvPr id="32" name="">
            <a:extLst xmlns:a="http://schemas.openxmlformats.org/drawingml/2006/main">
              <a:ext uri="{FF2B5EF4-FFF2-40B4-BE49-F238E27FC236}">
                <a16:creationId xmlns:a16="http://schemas.microsoft.com/office/drawing/2014/main" id="{751DB65C-AB1F-453F-9F21-10A6BBB8BE81}"/>
              </a:ext>
            </a:extLst>
          </p:cNvPr>
          <p:cNvSpPr>
            <a:spLocks xmlns:a="http://schemas.openxmlformats.org/drawingml/2006/main" noGrp="1"/>
          </p:cNvSpPr>
          <p:nvPr/>
        </p:nvSpPr>
        <p:spPr>
          <a:xfrm xmlns:a="http://schemas.openxmlformats.org/drawingml/2006/main">
            <a:off x="9048750" y="4324350"/>
            <a:ext cx="226695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33" name="">
            <a:extLst xmlns:a="http://schemas.openxmlformats.org/drawingml/2006/main">
              <a:ext uri="{FF2B5EF4-FFF2-40B4-BE49-F238E27FC236}">
                <a16:creationId xmlns:a16="http://schemas.microsoft.com/office/drawing/2014/main" id="{20330CB3-ACC5-402A-AA6D-2B5581A9DCA4}"/>
              </a:ext>
            </a:extLst>
          </p:cNvPr>
          <p:cNvSpPr>
            <a:spLocks xmlns:a="http://schemas.openxmlformats.org/drawingml/2006/main" noGrp="1"/>
          </p:cNvSpPr>
          <p:nvPr/>
        </p:nvSpPr>
        <p:spPr>
          <a:xfrm xmlns:a="http://schemas.openxmlformats.org/drawingml/2006/main">
            <a:off x="9048750" y="44577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8FA8A2"/>
                </a:solidFill>
                <a:latin typeface="Arial"/>
                <a:ea typeface="Arial"/>
                <a:cs typeface="Arial"/>
              </a:defRPr>
            </a:pPr>
            <a:r>
              <a:rPr sz="975" b="1">
                <a:solidFill>
                  <a:srgbClr val="8FA8A2"/>
                </a:solidFill>
                <a:latin typeface="Arial"/>
                <a:ea typeface="Arial"/>
                <a:cs typeface="Arial"/>
              </a:rPr>
              <a:t>No machine command</a:t>
            </a:r>
          </a:p>
        </p:txBody>
      </p:sp>
      <p:sp>
        <p:nvSpPr>
          <p:cNvPr id="34" name="">
            <a:extLst xmlns:a="http://schemas.openxmlformats.org/drawingml/2006/main">
              <a:ext uri="{FF2B5EF4-FFF2-40B4-BE49-F238E27FC236}">
                <a16:creationId xmlns:a16="http://schemas.microsoft.com/office/drawing/2014/main" id="{57251D35-55AB-4E23-8BEE-B3145C90B411}"/>
              </a:ext>
            </a:extLst>
          </p:cNvPr>
          <p:cNvSpPr>
            <a:spLocks xmlns:a="http://schemas.openxmlformats.org/drawingml/2006/main" noGrp="1"/>
          </p:cNvSpPr>
          <p:nvPr/>
        </p:nvSpPr>
        <p:spPr>
          <a:xfrm xmlns:a="http://schemas.openxmlformats.org/drawingml/2006/main">
            <a:off x="29146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C4D067BF-5660-4E20-8F42-B3CB96937E98}"/>
              </a:ext>
            </a:extLst>
          </p:cNvPr>
          <p:cNvSpPr>
            <a:spLocks xmlns:a="http://schemas.openxmlformats.org/drawingml/2006/main" noGrp="1"/>
          </p:cNvSpPr>
          <p:nvPr/>
        </p:nvSpPr>
        <p:spPr>
          <a:xfrm xmlns:a="http://schemas.openxmlformats.org/drawingml/2006/main">
            <a:off x="57340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21B09136-2BF8-49D5-8D0F-D08B2BF4ACBD}"/>
              </a:ext>
            </a:extLst>
          </p:cNvPr>
          <p:cNvSpPr>
            <a:spLocks xmlns:a="http://schemas.openxmlformats.org/drawingml/2006/main" noGrp="1"/>
          </p:cNvSpPr>
          <p:nvPr/>
        </p:nvSpPr>
        <p:spPr>
          <a:xfrm xmlns:a="http://schemas.openxmlformats.org/drawingml/2006/main">
            <a:off x="8553450" y="320992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0F766E"/>
                </a:solidFill>
                <a:latin typeface="Arial"/>
                <a:ea typeface="Arial"/>
                <a:cs typeface="Arial"/>
              </a:defRPr>
            </a:pPr>
            <a:r>
              <a:rPr sz="2025" b="1">
                <a:solidFill>
                  <a:srgbClr val="0F766E"/>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9FAAF926-3F2F-4AB5-9EB4-F705271F92E5}"/>
              </a:ext>
            </a:extLst>
          </p:cNvPr>
          <p:cNvSpPr>
            <a:spLocks xmlns:a="http://schemas.openxmlformats.org/drawingml/2006/main" noGrp="1"/>
          </p:cNvSpPr>
          <p:nvPr/>
        </p:nvSpPr>
        <p:spPr>
          <a:xfrm xmlns:a="http://schemas.openxmlformats.org/drawingml/2006/main">
            <a:off x="685800" y="5181600"/>
            <a:ext cx="10820400" cy="933450"/>
          </a:xfrm>
          <a:prstGeom xmlns:a="http://schemas.openxmlformats.org/drawingml/2006/main" prst="roundRect">
            <a:avLst>
              <a:gd name="adj" fmla="val 18367"/>
            </a:avLst>
          </a:prstGeom>
          <a:solidFill xmlns:a="http://schemas.openxmlformats.org/drawingml/2006/main">
            <a:srgbClr val="0C302C"/>
          </a:solidFill>
          <a:ln xmlns:a="http://schemas.openxmlformats.org/drawingml/2006/main" w="9525">
            <a:solidFill>
              <a:srgbClr val="0F766E"/>
            </a:solidFill>
            <a:prstDash val="solid"/>
          </a:ln>
        </p:spPr>
      </p:sp>
      <p:sp>
        <p:nvSpPr>
          <p:cNvPr id="38" name="">
            <a:extLst xmlns:a="http://schemas.openxmlformats.org/drawingml/2006/main">
              <a:ext uri="{FF2B5EF4-FFF2-40B4-BE49-F238E27FC236}">
                <a16:creationId xmlns:a16="http://schemas.microsoft.com/office/drawing/2014/main" id="{47A9F039-AE32-46DB-8AC6-73FBDC3A7426}"/>
              </a:ext>
            </a:extLst>
          </p:cNvPr>
          <p:cNvSpPr>
            <a:spLocks xmlns:a="http://schemas.openxmlformats.org/drawingml/2006/main" noGrp="1"/>
          </p:cNvSpPr>
          <p:nvPr/>
        </p:nvSpPr>
        <p:spPr>
          <a:xfrm xmlns:a="http://schemas.openxmlformats.org/drawingml/2006/main">
            <a:off x="91440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17,856</a:t>
            </a:r>
          </a:p>
        </p:txBody>
      </p:sp>
      <p:sp>
        <p:nvSpPr>
          <p:cNvPr id="39" name="">
            <a:extLst xmlns:a="http://schemas.openxmlformats.org/drawingml/2006/main">
              <a:ext uri="{FF2B5EF4-FFF2-40B4-BE49-F238E27FC236}">
                <a16:creationId xmlns:a16="http://schemas.microsoft.com/office/drawing/2014/main" id="{C7F51836-3AD0-42BB-A257-BE3B6BB25736}"/>
              </a:ext>
            </a:extLst>
          </p:cNvPr>
          <p:cNvSpPr>
            <a:spLocks xmlns:a="http://schemas.openxmlformats.org/drawingml/2006/main" noGrp="1"/>
          </p:cNvSpPr>
          <p:nvPr/>
        </p:nvSpPr>
        <p:spPr>
          <a:xfrm xmlns:a="http://schemas.openxmlformats.org/drawingml/2006/main">
            <a:off x="91440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candidates</a:t>
            </a:r>
          </a:p>
        </p:txBody>
      </p:sp>
      <p:sp>
        <p:nvSpPr>
          <p:cNvPr id="40" name="">
            <a:extLst xmlns:a="http://schemas.openxmlformats.org/drawingml/2006/main">
              <a:ext uri="{FF2B5EF4-FFF2-40B4-BE49-F238E27FC236}">
                <a16:creationId xmlns:a16="http://schemas.microsoft.com/office/drawing/2014/main" id="{F4FBB5E5-4589-469E-A4BC-92726A81B779}"/>
              </a:ext>
            </a:extLst>
          </p:cNvPr>
          <p:cNvSpPr>
            <a:spLocks xmlns:a="http://schemas.openxmlformats.org/drawingml/2006/main" noGrp="1"/>
          </p:cNvSpPr>
          <p:nvPr/>
        </p:nvSpPr>
        <p:spPr>
          <a:xfrm xmlns:a="http://schemas.openxmlformats.org/drawingml/2006/main">
            <a:off x="2190750" y="536257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10,440</a:t>
            </a:r>
          </a:p>
        </p:txBody>
      </p:sp>
      <p:sp>
        <p:nvSpPr>
          <p:cNvPr id="41" name="">
            <a:extLst xmlns:a="http://schemas.openxmlformats.org/drawingml/2006/main">
              <a:ext uri="{FF2B5EF4-FFF2-40B4-BE49-F238E27FC236}">
                <a16:creationId xmlns:a16="http://schemas.microsoft.com/office/drawing/2014/main" id="{AC98473F-C7F7-4871-9029-03E52FA0004C}"/>
              </a:ext>
            </a:extLst>
          </p:cNvPr>
          <p:cNvSpPr>
            <a:spLocks xmlns:a="http://schemas.openxmlformats.org/drawingml/2006/main" noGrp="1"/>
          </p:cNvSpPr>
          <p:nvPr/>
        </p:nvSpPr>
        <p:spPr>
          <a:xfrm xmlns:a="http://schemas.openxmlformats.org/drawingml/2006/main">
            <a:off x="2190750" y="570547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feasible</a:t>
            </a:r>
          </a:p>
        </p:txBody>
      </p:sp>
      <p:sp>
        <p:nvSpPr>
          <p:cNvPr id="42" name="">
            <a:extLst xmlns:a="http://schemas.openxmlformats.org/drawingml/2006/main">
              <a:ext uri="{FF2B5EF4-FFF2-40B4-BE49-F238E27FC236}">
                <a16:creationId xmlns:a16="http://schemas.microsoft.com/office/drawing/2014/main" id="{F6ADC0B0-B88D-4716-AEF4-6C192EE0A13B}"/>
              </a:ext>
            </a:extLst>
          </p:cNvPr>
          <p:cNvSpPr>
            <a:spLocks xmlns:a="http://schemas.openxmlformats.org/drawingml/2006/main" noGrp="1"/>
          </p:cNvSpPr>
          <p:nvPr/>
        </p:nvSpPr>
        <p:spPr>
          <a:xfrm xmlns:a="http://schemas.openxmlformats.org/drawingml/2006/main">
            <a:off x="3467100" y="53625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3</a:t>
            </a:r>
          </a:p>
        </p:txBody>
      </p:sp>
      <p:sp>
        <p:nvSpPr>
          <p:cNvPr id="43" name="">
            <a:extLst xmlns:a="http://schemas.openxmlformats.org/drawingml/2006/main">
              <a:ext uri="{FF2B5EF4-FFF2-40B4-BE49-F238E27FC236}">
                <a16:creationId xmlns:a16="http://schemas.microsoft.com/office/drawing/2014/main" id="{734D61DF-A9C6-4B97-8846-0EDD8EBD64AC}"/>
              </a:ext>
            </a:extLst>
          </p:cNvPr>
          <p:cNvSpPr>
            <a:spLocks xmlns:a="http://schemas.openxmlformats.org/drawingml/2006/main" noGrp="1"/>
          </p:cNvSpPr>
          <p:nvPr/>
        </p:nvSpPr>
        <p:spPr>
          <a:xfrm xmlns:a="http://schemas.openxmlformats.org/drawingml/2006/main">
            <a:off x="3333750" y="5705475"/>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policy optima</a:t>
            </a:r>
          </a:p>
        </p:txBody>
      </p:sp>
      <p:sp>
        <p:nvSpPr>
          <p:cNvPr id="44" name="">
            <a:extLst xmlns:a="http://schemas.openxmlformats.org/drawingml/2006/main">
              <a:ext uri="{FF2B5EF4-FFF2-40B4-BE49-F238E27FC236}">
                <a16:creationId xmlns:a16="http://schemas.microsoft.com/office/drawing/2014/main" id="{001E1F24-07A3-46B0-BC3B-B5249F4434A4}"/>
              </a:ext>
            </a:extLst>
          </p:cNvPr>
          <p:cNvSpPr>
            <a:spLocks xmlns:a="http://schemas.openxmlformats.org/drawingml/2006/main" noGrp="1"/>
          </p:cNvSpPr>
          <p:nvPr/>
        </p:nvSpPr>
        <p:spPr>
          <a:xfrm xmlns:a="http://schemas.openxmlformats.org/drawingml/2006/main">
            <a:off x="449580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45" name="">
            <a:extLst xmlns:a="http://schemas.openxmlformats.org/drawingml/2006/main">
              <a:ext uri="{FF2B5EF4-FFF2-40B4-BE49-F238E27FC236}">
                <a16:creationId xmlns:a16="http://schemas.microsoft.com/office/drawing/2014/main" id="{385DC800-993D-47E9-A30C-500ED9CBFD9D}"/>
              </a:ext>
            </a:extLst>
          </p:cNvPr>
          <p:cNvSpPr>
            <a:spLocks xmlns:a="http://schemas.openxmlformats.org/drawingml/2006/main" noGrp="1"/>
          </p:cNvSpPr>
          <p:nvPr/>
        </p:nvSpPr>
        <p:spPr>
          <a:xfrm xmlns:a="http://schemas.openxmlformats.org/drawingml/2006/main">
            <a:off x="4762500" y="5362575"/>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687</a:t>
            </a:r>
          </a:p>
        </p:txBody>
      </p:sp>
      <p:sp>
        <p:nvSpPr>
          <p:cNvPr id="46" name="">
            <a:extLst xmlns:a="http://schemas.openxmlformats.org/drawingml/2006/main">
              <a:ext uri="{FF2B5EF4-FFF2-40B4-BE49-F238E27FC236}">
                <a16:creationId xmlns:a16="http://schemas.microsoft.com/office/drawing/2014/main" id="{3359B624-A1BB-4BF8-A98E-42600D2C6856}"/>
              </a:ext>
            </a:extLst>
          </p:cNvPr>
          <p:cNvSpPr>
            <a:spLocks xmlns:a="http://schemas.openxmlformats.org/drawingml/2006/main" noGrp="1"/>
          </p:cNvSpPr>
          <p:nvPr/>
        </p:nvSpPr>
        <p:spPr>
          <a:xfrm xmlns:a="http://schemas.openxmlformats.org/drawingml/2006/main">
            <a:off x="4514850" y="5705475"/>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twin-simulated incidents</a:t>
            </a:r>
          </a:p>
        </p:txBody>
      </p:sp>
      <p:sp>
        <p:nvSpPr>
          <p:cNvPr id="47" name="">
            <a:extLst xmlns:a="http://schemas.openxmlformats.org/drawingml/2006/main">
              <a:ext uri="{FF2B5EF4-FFF2-40B4-BE49-F238E27FC236}">
                <a16:creationId xmlns:a16="http://schemas.microsoft.com/office/drawing/2014/main" id="{F219B764-11B9-4552-BBDA-21E1CBD72985}"/>
              </a:ext>
            </a:extLst>
          </p:cNvPr>
          <p:cNvSpPr>
            <a:spLocks xmlns:a="http://schemas.openxmlformats.org/drawingml/2006/main" noGrp="1"/>
          </p:cNvSpPr>
          <p:nvPr/>
        </p:nvSpPr>
        <p:spPr>
          <a:xfrm xmlns:a="http://schemas.openxmlformats.org/drawingml/2006/main">
            <a:off x="5943600" y="536257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4EC5BC"/>
                </a:solidFill>
                <a:latin typeface="Arial"/>
                <a:ea typeface="Arial"/>
                <a:cs typeface="Arial"/>
              </a:defRPr>
            </a:pPr>
            <a:r>
              <a:rPr sz="2100" b="1">
                <a:solidFill>
                  <a:srgbClr val="4EC5BC"/>
                </a:solidFill>
                <a:latin typeface="Arial"/>
                <a:ea typeface="Arial"/>
                <a:cs typeface="Arial"/>
              </a:rPr>
              <a:t>93.6%</a:t>
            </a:r>
          </a:p>
        </p:txBody>
      </p:sp>
      <p:sp>
        <p:nvSpPr>
          <p:cNvPr id="48" name="">
            <a:extLst xmlns:a="http://schemas.openxmlformats.org/drawingml/2006/main">
              <a:ext uri="{FF2B5EF4-FFF2-40B4-BE49-F238E27FC236}">
                <a16:creationId xmlns:a16="http://schemas.microsoft.com/office/drawing/2014/main" id="{721D64DB-F17E-4B4D-85BC-F19D562A82FE}"/>
              </a:ext>
            </a:extLst>
          </p:cNvPr>
          <p:cNvSpPr>
            <a:spLocks xmlns:a="http://schemas.openxmlformats.org/drawingml/2006/main" noGrp="1"/>
          </p:cNvSpPr>
          <p:nvPr/>
        </p:nvSpPr>
        <p:spPr>
          <a:xfrm xmlns:a="http://schemas.openxmlformats.org/drawingml/2006/main">
            <a:off x="5772150" y="57054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750" b="1">
                <a:solidFill>
                  <a:srgbClr val="8FA8A2"/>
                </a:solidFill>
                <a:latin typeface="Arial"/>
                <a:ea typeface="Arial"/>
                <a:cs typeface="Arial"/>
              </a:defRPr>
            </a:pPr>
            <a:r>
              <a:rPr sz="750" b="1">
                <a:solidFill>
                  <a:srgbClr val="8FA8A2"/>
                </a:solidFill>
                <a:latin typeface="Arial"/>
                <a:ea typeface="Arial"/>
                <a:cs typeface="Arial"/>
              </a:rPr>
              <a:t>held-out synthetic grid</a:t>
            </a:r>
          </a:p>
        </p:txBody>
      </p:sp>
      <p:sp>
        <p:nvSpPr>
          <p:cNvPr id="49" name="">
            <a:extLst xmlns:a="http://schemas.openxmlformats.org/drawingml/2006/main">
              <a:ext uri="{FF2B5EF4-FFF2-40B4-BE49-F238E27FC236}">
                <a16:creationId xmlns:a16="http://schemas.microsoft.com/office/drawing/2014/main" id="{D813747D-8D8A-4B61-BB10-939948F01C0F}"/>
              </a:ext>
            </a:extLst>
          </p:cNvPr>
          <p:cNvSpPr>
            <a:spLocks xmlns:a="http://schemas.openxmlformats.org/drawingml/2006/main" noGrp="1"/>
          </p:cNvSpPr>
          <p:nvPr/>
        </p:nvSpPr>
        <p:spPr>
          <a:xfrm xmlns:a="http://schemas.openxmlformats.org/drawingml/2006/main">
            <a:off x="7334250" y="5314950"/>
            <a:ext cx="0" cy="64770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50" name="">
            <a:extLst xmlns:a="http://schemas.openxmlformats.org/drawingml/2006/main">
              <a:ext uri="{FF2B5EF4-FFF2-40B4-BE49-F238E27FC236}">
                <a16:creationId xmlns:a16="http://schemas.microsoft.com/office/drawing/2014/main" id="{14FCB73F-B046-4168-80E0-5C2C30AB5115}"/>
              </a:ext>
            </a:extLst>
          </p:cNvPr>
          <p:cNvSpPr>
            <a:spLocks xmlns:a="http://schemas.openxmlformats.org/drawingml/2006/main" noGrp="1"/>
          </p:cNvSpPr>
          <p:nvPr/>
        </p:nvSpPr>
        <p:spPr>
          <a:xfrm xmlns:a="http://schemas.openxmlformats.org/drawingml/2006/main">
            <a:off x="7639050" y="538162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F5F4ED"/>
                </a:solidFill>
                <a:latin typeface="Arial"/>
                <a:ea typeface="Arial"/>
                <a:cs typeface="Arial"/>
              </a:defRPr>
            </a:pPr>
            <a:r>
              <a:rPr sz="1200" b="1">
                <a:solidFill>
                  <a:srgbClr val="F5F4ED"/>
                </a:solidFill>
                <a:latin typeface="Arial"/>
                <a:ea typeface="Arial"/>
                <a:cs typeface="Arial"/>
              </a:rPr>
              <a:t>LOCAL · OFFLINE · READ-ONLY</a:t>
            </a:r>
          </a:p>
        </p:txBody>
      </p:sp>
      <p:sp>
        <p:nvSpPr>
          <p:cNvPr id="51" name="">
            <a:extLst xmlns:a="http://schemas.openxmlformats.org/drawingml/2006/main">
              <a:ext uri="{FF2B5EF4-FFF2-40B4-BE49-F238E27FC236}">
                <a16:creationId xmlns:a16="http://schemas.microsoft.com/office/drawing/2014/main" id="{B55C9B57-EBD2-4986-A768-A8A1DA0C64F9}"/>
              </a:ext>
            </a:extLst>
          </p:cNvPr>
          <p:cNvSpPr>
            <a:spLocks xmlns:a="http://schemas.openxmlformats.org/drawingml/2006/main" noGrp="1"/>
          </p:cNvSpPr>
          <p:nvPr/>
        </p:nvSpPr>
        <p:spPr>
          <a:xfrm xmlns:a="http://schemas.openxmlformats.org/drawingml/2006/main">
            <a:off x="7639050" y="5705475"/>
            <a:ext cx="3562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9/9 planner checks  ·  5/5 ML checks  ·  explicit human authority</a:t>
            </a:r>
          </a:p>
        </p:txBody>
      </p:sp>
      <p:sp>
        <p:nvSpPr>
          <p:cNvPr id="52" name="">
            <a:extLst xmlns:a="http://schemas.openxmlformats.org/drawingml/2006/main">
              <a:ext uri="{FF2B5EF4-FFF2-40B4-BE49-F238E27FC236}">
                <a16:creationId xmlns:a16="http://schemas.microsoft.com/office/drawing/2014/main" id="{84E4AACF-3951-4E10-BB9D-08D1BF981B6B}"/>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53" name="">
            <a:extLst xmlns:a="http://schemas.openxmlformats.org/drawingml/2006/main">
              <a:ext uri="{FF2B5EF4-FFF2-40B4-BE49-F238E27FC236}">
                <a16:creationId xmlns:a16="http://schemas.microsoft.com/office/drawing/2014/main" id="{85267777-4AFD-4790-AEA9-1C73AD4970A0}"/>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Fully synthetic demonstration · no plant-performance claim</a:t>
            </a:r>
          </a:p>
        </p:txBody>
      </p:sp>
    </p:spTree>
    <p:extLst>
      <p:ext uri="{BB962C8B-B14F-4D97-AF65-F5344CB8AC3E}">
        <p14:creationId xmlns:p14="http://schemas.microsoft.com/office/powerpoint/2010/main" val="1572703943"/>
      </p:ext>
    </p:extLst>
  </p:cSld>
</p:sld>
</file>

<file path=ppt/slides/slide4.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284B64-F9D0-4E6A-B7C0-8EA2A75D5FD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SECRET SAUCE / WORKING DEMO</a:t>
            </a:r>
          </a:p>
        </p:txBody>
      </p:sp>
      <p:sp>
        <p:nvSpPr>
          <p:cNvPr id="2" name="">
            <a:extLst xmlns:a="http://schemas.openxmlformats.org/drawingml/2006/main">
              <a:ext uri="{FF2B5EF4-FFF2-40B4-BE49-F238E27FC236}">
                <a16:creationId xmlns:a16="http://schemas.microsoft.com/office/drawing/2014/main" id="{9AA6B0F7-6722-4182-A5F3-21FFA3ABEE63}"/>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19E8B0C-23C8-475B-9519-4368B752F0F7}"/>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03A557E6-5CCD-4381-BBAC-F164362D74C7}"/>
              </a:ext>
            </a:extLst>
          </p:cNvPr>
          <p:cNvSpPr>
            <a:spLocks xmlns:a="http://schemas.openxmlformats.org/drawingml/2006/main" noGrp="1"/>
          </p:cNvSpPr>
          <p:nvPr/>
        </p:nvSpPr>
        <p:spPr>
          <a:xfrm xmlns:a="http://schemas.openxmlformats.org/drawingml/2006/main">
            <a:off x="685800" y="83820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In 30 seconds, the twin reaches an auditable choice.</a:t>
            </a:r>
          </a:p>
        </p:txBody>
      </p:sp>
      <p:sp>
        <p:nvSpPr>
          <p:cNvPr id="5" name="">
            <a:extLst xmlns:a="http://schemas.openxmlformats.org/drawingml/2006/main">
              <a:ext uri="{FF2B5EF4-FFF2-40B4-BE49-F238E27FC236}">
                <a16:creationId xmlns:a16="http://schemas.microsoft.com/office/drawing/2014/main" id="{7C998945-C93B-458B-A8AD-A7D3BDCFCD6F}"/>
              </a:ext>
            </a:extLst>
          </p:cNvPr>
          <p:cNvSpPr>
            <a:spLocks xmlns:a="http://schemas.openxmlformats.org/drawingml/2006/main" noGrp="1"/>
          </p:cNvSpPr>
          <p:nvPr/>
        </p:nvSpPr>
        <p:spPr>
          <a:xfrm xmlns:a="http://schemas.openxmlformats.org/drawingml/2006/main">
            <a:off x="685800" y="1695450"/>
            <a:ext cx="7886700" cy="4324350"/>
          </a:xfrm>
          <a:prstGeom xmlns:a="http://schemas.openxmlformats.org/drawingml/2006/main" prst="roundRect">
            <a:avLst>
              <a:gd name="adj" fmla="val 3965"/>
            </a:avLst>
          </a:prstGeom>
          <a:solidFill xmlns:a="http://schemas.openxmlformats.org/drawingml/2006/main">
            <a:srgbClr val="061E1B"/>
          </a:solidFill>
          <a:ln xmlns:a="http://schemas.openxmlformats.org/drawingml/2006/main" w="9525">
            <a:solidFill>
              <a:srgbClr val="0F766E"/>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f4eaa9f50e94506"/>
          <a:srcRect xmlns:a="http://schemas.openxmlformats.org/drawingml/2006/main" l="0" t="2460" r="0" b="2460"/>
          <a:stretch xmlns:a="http://schemas.openxmlformats.org/drawingml/2006/main">
            <a:fillRect l="0" t="0" r="0" b="0"/>
          </a:stretch>
        </p:blipFill>
        <p:spPr>
          <a:xfrm xmlns:a="http://schemas.openxmlformats.org/drawingml/2006/main">
            <a:off x="800100" y="1809750"/>
            <a:ext cx="7658100" cy="4095750"/>
          </a:xfrm>
          <a:prstGeom xmlns:a="http://schemas.openxmlformats.org/drawingml/2006/main" prst="roundRect">
            <a:avLst>
              <a:gd name="adj" fmla="val 3256"/>
            </a:avLst>
          </a:prstGeom>
        </p:spPr>
      </p:pic>
      <p:sp>
        <p:nvSpPr>
          <p:cNvPr id="7" name="">
            <a:extLst xmlns:a="http://schemas.openxmlformats.org/drawingml/2006/main">
              <a:ext uri="{FF2B5EF4-FFF2-40B4-BE49-F238E27FC236}">
                <a16:creationId xmlns:a16="http://schemas.microsoft.com/office/drawing/2014/main" id="{1C155826-1CCC-4BDE-9BC5-14F95B36C1B4}"/>
              </a:ext>
            </a:extLst>
          </p:cNvPr>
          <p:cNvSpPr>
            <a:spLocks xmlns:a="http://schemas.openxmlformats.org/drawingml/2006/main" noGrp="1"/>
          </p:cNvSpPr>
          <p:nvPr/>
        </p:nvSpPr>
        <p:spPr>
          <a:xfrm xmlns:a="http://schemas.openxmlformats.org/drawingml/2006/main">
            <a:off x="8877300" y="1695450"/>
            <a:ext cx="2628900" cy="4324350"/>
          </a:xfrm>
          <a:prstGeom xmlns:a="http://schemas.openxmlformats.org/drawingml/2006/main" prst="roundRect">
            <a:avLst>
              <a:gd name="adj" fmla="val 6522"/>
            </a:avLst>
          </a:prstGeom>
          <a:solidFill xmlns:a="http://schemas.openxmlformats.org/drawingml/2006/main">
            <a:srgbClr val="061E1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EA886C-6E26-485E-8D64-46A040E301B2}"/>
              </a:ext>
            </a:extLst>
          </p:cNvPr>
          <p:cNvSpPr>
            <a:spLocks xmlns:a="http://schemas.openxmlformats.org/drawingml/2006/main" noGrp="1"/>
          </p:cNvSpPr>
          <p:nvPr/>
        </p:nvSpPr>
        <p:spPr>
          <a:xfrm xmlns:a="http://schemas.openxmlformats.org/drawingml/2006/main">
            <a:off x="9144000" y="19716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LIVE DEMO</a:t>
            </a:r>
          </a:p>
        </p:txBody>
      </p:sp>
      <p:sp>
        <p:nvSpPr>
          <p:cNvPr id="9" name="">
            <a:extLst xmlns:a="http://schemas.openxmlformats.org/drawingml/2006/main">
              <a:ext uri="{FF2B5EF4-FFF2-40B4-BE49-F238E27FC236}">
                <a16:creationId xmlns:a16="http://schemas.microsoft.com/office/drawing/2014/main" id="{A0F2A72C-E9B7-4D7F-A6DF-8FDF8DDAC6F7}"/>
              </a:ext>
            </a:extLst>
          </p:cNvPr>
          <p:cNvSpPr>
            <a:spLocks xmlns:a="http://schemas.openxmlformats.org/drawingml/2006/main" noGrp="1"/>
          </p:cNvSpPr>
          <p:nvPr/>
        </p:nvSpPr>
        <p:spPr>
          <a:xfrm xmlns:a="http://schemas.openxmlformats.org/drawingml/2006/main">
            <a:off x="9124950" y="23717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E9763B"/>
                </a:solidFill>
                <a:latin typeface="Arial"/>
                <a:ea typeface="Arial"/>
                <a:cs typeface="Arial"/>
              </a:defRPr>
            </a:pPr>
            <a:r>
              <a:rPr sz="1950" b="1">
                <a:solidFill>
                  <a:srgbClr val="E9763B"/>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361D8C3-8F87-4A17-B5EE-B55CCD5C208C}"/>
              </a:ext>
            </a:extLst>
          </p:cNvPr>
          <p:cNvSpPr>
            <a:spLocks xmlns:a="http://schemas.openxmlformats.org/drawingml/2006/main" noGrp="1"/>
          </p:cNvSpPr>
          <p:nvPr/>
        </p:nvSpPr>
        <p:spPr>
          <a:xfrm xmlns:a="http://schemas.openxmlformats.org/drawingml/2006/main">
            <a:off x="9563100" y="2390775"/>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Trigger Line 2 stop</a:t>
            </a:r>
          </a:p>
        </p:txBody>
      </p:sp>
      <p:sp>
        <p:nvSpPr>
          <p:cNvPr id="11" name="">
            <a:extLst xmlns:a="http://schemas.openxmlformats.org/drawingml/2006/main">
              <a:ext uri="{FF2B5EF4-FFF2-40B4-BE49-F238E27FC236}">
                <a16:creationId xmlns:a16="http://schemas.microsoft.com/office/drawing/2014/main" id="{7D559F5B-521A-4480-9509-84ECB695DB92}"/>
              </a:ext>
            </a:extLst>
          </p:cNvPr>
          <p:cNvSpPr>
            <a:spLocks xmlns:a="http://schemas.openxmlformats.org/drawingml/2006/main" noGrp="1"/>
          </p:cNvSpPr>
          <p:nvPr/>
        </p:nvSpPr>
        <p:spPr>
          <a:xfrm xmlns:a="http://schemas.openxmlformats.org/drawingml/2006/main">
            <a:off x="9124950" y="292417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79FFF898-E453-4718-9911-6A6328B99245}"/>
              </a:ext>
            </a:extLst>
          </p:cNvPr>
          <p:cNvSpPr>
            <a:spLocks xmlns:a="http://schemas.openxmlformats.org/drawingml/2006/main" noGrp="1"/>
          </p:cNvSpPr>
          <p:nvPr/>
        </p:nvSpPr>
        <p:spPr>
          <a:xfrm xmlns:a="http://schemas.openxmlformats.org/drawingml/2006/main">
            <a:off x="9563100" y="2905125"/>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See three routes + local ML suggestion</a:t>
            </a:r>
          </a:p>
        </p:txBody>
      </p:sp>
      <p:sp>
        <p:nvSpPr>
          <p:cNvPr id="13" name="">
            <a:extLst xmlns:a="http://schemas.openxmlformats.org/drawingml/2006/main">
              <a:ext uri="{FF2B5EF4-FFF2-40B4-BE49-F238E27FC236}">
                <a16:creationId xmlns:a16="http://schemas.microsoft.com/office/drawing/2014/main" id="{4FB4252B-4607-4588-9C57-2BCC424C8618}"/>
              </a:ext>
            </a:extLst>
          </p:cNvPr>
          <p:cNvSpPr>
            <a:spLocks xmlns:a="http://schemas.openxmlformats.org/drawingml/2006/main" noGrp="1"/>
          </p:cNvSpPr>
          <p:nvPr/>
        </p:nvSpPr>
        <p:spPr>
          <a:xfrm xmlns:a="http://schemas.openxmlformats.org/drawingml/2006/main">
            <a:off x="9124950" y="36671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AD0C0A8A-2C9B-4735-A708-C46C0F20B21C}"/>
              </a:ext>
            </a:extLst>
          </p:cNvPr>
          <p:cNvSpPr>
            <a:spLocks xmlns:a="http://schemas.openxmlformats.org/drawingml/2006/main" noGrp="1"/>
          </p:cNvSpPr>
          <p:nvPr/>
        </p:nvSpPr>
        <p:spPr>
          <a:xfrm xmlns:a="http://schemas.openxmlformats.org/drawingml/2006/main">
            <a:off x="9563100" y="3648075"/>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Manager overrides to Service</a:t>
            </a:r>
          </a:p>
        </p:txBody>
      </p:sp>
      <p:sp>
        <p:nvSpPr>
          <p:cNvPr id="15" name="">
            <a:extLst xmlns:a="http://schemas.openxmlformats.org/drawingml/2006/main">
              <a:ext uri="{FF2B5EF4-FFF2-40B4-BE49-F238E27FC236}">
                <a16:creationId xmlns:a16="http://schemas.microsoft.com/office/drawing/2014/main" id="{E3C80E89-5407-4CEC-A597-3367CDA86125}"/>
              </a:ext>
            </a:extLst>
          </p:cNvPr>
          <p:cNvSpPr>
            <a:spLocks xmlns:a="http://schemas.openxmlformats.org/drawingml/2006/main" noGrp="1"/>
          </p:cNvSpPr>
          <p:nvPr/>
        </p:nvSpPr>
        <p:spPr>
          <a:xfrm xmlns:a="http://schemas.openxmlformats.org/drawingml/2006/main">
            <a:off x="9124950" y="43148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0000"/>
              </a:lnSpc>
              <a:buNone/>
              <a:defRPr sz="1950" b="1">
                <a:solidFill>
                  <a:srgbClr val="C9F36B"/>
                </a:solidFill>
                <a:latin typeface="Arial"/>
                <a:ea typeface="Arial"/>
                <a:cs typeface="Arial"/>
              </a:defRPr>
            </a:pPr>
            <a:r>
              <a:rPr sz="1950" b="1">
                <a:solidFill>
                  <a:srgbClr val="C9F36B"/>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66D790D4-C76A-4F9E-B8D1-2D0429DD632C}"/>
              </a:ext>
            </a:extLst>
          </p:cNvPr>
          <p:cNvSpPr>
            <a:spLocks xmlns:a="http://schemas.openxmlformats.org/drawingml/2006/main" noGrp="1"/>
          </p:cNvSpPr>
          <p:nvPr/>
        </p:nvSpPr>
        <p:spPr>
          <a:xfrm xmlns:a="http://schemas.openxmlformats.org/drawingml/2006/main">
            <a:off x="9563100" y="4295775"/>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5F4ED"/>
                </a:solidFill>
                <a:latin typeface="Arial"/>
                <a:ea typeface="Arial"/>
                <a:cs typeface="Arial"/>
              </a:defRPr>
            </a:pPr>
            <a:r>
              <a:rPr sz="1275" b="1">
                <a:solidFill>
                  <a:srgbClr val="F5F4ED"/>
                </a:solidFill>
                <a:latin typeface="Arial"/>
                <a:ea typeface="Arial"/>
                <a:cs typeface="Arial"/>
              </a:rPr>
              <a:t>Approve · audit 10:07</a:t>
            </a:r>
          </a:p>
        </p:txBody>
      </p:sp>
      <p:sp>
        <p:nvSpPr>
          <p:cNvPr id="17" name="">
            <a:extLst xmlns:a="http://schemas.openxmlformats.org/drawingml/2006/main">
              <a:ext uri="{FF2B5EF4-FFF2-40B4-BE49-F238E27FC236}">
                <a16:creationId xmlns:a16="http://schemas.microsoft.com/office/drawing/2014/main" id="{68693414-B7B1-431B-91F9-C1B327B2AA3B}"/>
              </a:ext>
            </a:extLst>
          </p:cNvPr>
          <p:cNvSpPr>
            <a:spLocks xmlns:a="http://schemas.openxmlformats.org/drawingml/2006/main" noGrp="1"/>
          </p:cNvSpPr>
          <p:nvPr/>
        </p:nvSpPr>
        <p:spPr>
          <a:xfrm xmlns:a="http://schemas.openxmlformats.org/drawingml/2006/main">
            <a:off x="9144000" y="5010150"/>
            <a:ext cx="2095500" cy="0"/>
          </a:xfrm>
          <a:prstGeom xmlns:a="http://schemas.openxmlformats.org/drawingml/2006/main" prst="line">
            <a:avLst/>
          </a:prstGeom>
          <a:noFill xmlns:a="http://schemas.openxmlformats.org/drawingml/2006/main"/>
          <a:ln xmlns:a="http://schemas.openxmlformats.org/drawingml/2006/main" w="9525">
            <a:solidFill>
              <a:srgbClr val="0F766E"/>
            </a:solidFill>
            <a:prstDash val="solid"/>
          </a:ln>
        </p:spPr>
      </p:sp>
      <p:sp>
        <p:nvSpPr>
          <p:cNvPr id="18" name="">
            <a:extLst xmlns:a="http://schemas.openxmlformats.org/drawingml/2006/main">
              <a:ext uri="{FF2B5EF4-FFF2-40B4-BE49-F238E27FC236}">
                <a16:creationId xmlns:a16="http://schemas.microsoft.com/office/drawing/2014/main" id="{8044DEBA-D668-46D4-A44E-90769103ECB5}"/>
              </a:ext>
            </a:extLst>
          </p:cNvPr>
          <p:cNvSpPr>
            <a:spLocks xmlns:a="http://schemas.openxmlformats.org/drawingml/2006/main" noGrp="1"/>
          </p:cNvSpPr>
          <p:nvPr/>
        </p:nvSpPr>
        <p:spPr>
          <a:xfrm xmlns:a="http://schemas.openxmlformats.org/drawingml/2006/main">
            <a:off x="9144000" y="5200650"/>
            <a:ext cx="97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17,856</a:t>
            </a:r>
          </a:p>
        </p:txBody>
      </p:sp>
      <p:sp>
        <p:nvSpPr>
          <p:cNvPr id="19" name="">
            <a:extLst xmlns:a="http://schemas.openxmlformats.org/drawingml/2006/main">
              <a:ext uri="{FF2B5EF4-FFF2-40B4-BE49-F238E27FC236}">
                <a16:creationId xmlns:a16="http://schemas.microsoft.com/office/drawing/2014/main" id="{B4339A38-E9C6-41A5-B601-D4CDBF503EDD}"/>
              </a:ext>
            </a:extLst>
          </p:cNvPr>
          <p:cNvSpPr>
            <a:spLocks xmlns:a="http://schemas.openxmlformats.org/drawingml/2006/main" noGrp="1"/>
          </p:cNvSpPr>
          <p:nvPr/>
        </p:nvSpPr>
        <p:spPr>
          <a:xfrm xmlns:a="http://schemas.openxmlformats.org/drawingml/2006/main">
            <a:off x="9144000" y="5543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candidates</a:t>
            </a:r>
          </a:p>
        </p:txBody>
      </p:sp>
      <p:sp>
        <p:nvSpPr>
          <p:cNvPr id="20" name="">
            <a:extLst xmlns:a="http://schemas.openxmlformats.org/drawingml/2006/main">
              <a:ext uri="{FF2B5EF4-FFF2-40B4-BE49-F238E27FC236}">
                <a16:creationId xmlns:a16="http://schemas.microsoft.com/office/drawing/2014/main" id="{1FFCF7AF-F6BC-4DEB-AC95-9F3257EC874E}"/>
              </a:ext>
            </a:extLst>
          </p:cNvPr>
          <p:cNvSpPr>
            <a:spLocks xmlns:a="http://schemas.openxmlformats.org/drawingml/2006/main" noGrp="1"/>
          </p:cNvSpPr>
          <p:nvPr/>
        </p:nvSpPr>
        <p:spPr>
          <a:xfrm xmlns:a="http://schemas.openxmlformats.org/drawingml/2006/main">
            <a:off x="10191750" y="52006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C9F36B"/>
                </a:solidFill>
                <a:latin typeface="Arial"/>
                <a:ea typeface="Arial"/>
                <a:cs typeface="Arial"/>
              </a:defRPr>
            </a:pPr>
            <a:r>
              <a:rPr sz="2100" b="1">
                <a:solidFill>
                  <a:srgbClr val="C9F36B"/>
                </a:solidFill>
                <a:latin typeface="Arial"/>
                <a:ea typeface="Arial"/>
                <a:cs typeface="Arial"/>
              </a:rPr>
              <a:t>10,440</a:t>
            </a:r>
          </a:p>
        </p:txBody>
      </p:sp>
      <p:sp>
        <p:nvSpPr>
          <p:cNvPr id="21" name="">
            <a:extLst xmlns:a="http://schemas.openxmlformats.org/drawingml/2006/main">
              <a:ext uri="{FF2B5EF4-FFF2-40B4-BE49-F238E27FC236}">
                <a16:creationId xmlns:a16="http://schemas.microsoft.com/office/drawing/2014/main" id="{B9AF6E59-0B31-4CF7-B7E3-1FE748CE0E73}"/>
              </a:ext>
            </a:extLst>
          </p:cNvPr>
          <p:cNvSpPr>
            <a:spLocks xmlns:a="http://schemas.openxmlformats.org/drawingml/2006/main" noGrp="1"/>
          </p:cNvSpPr>
          <p:nvPr/>
        </p:nvSpPr>
        <p:spPr>
          <a:xfrm xmlns:a="http://schemas.openxmlformats.org/drawingml/2006/main">
            <a:off x="10191750" y="554355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8FA8A2"/>
                </a:solidFill>
                <a:latin typeface="Arial"/>
                <a:ea typeface="Arial"/>
                <a:cs typeface="Arial"/>
              </a:defRPr>
            </a:pPr>
            <a:r>
              <a:rPr sz="825" b="1">
                <a:solidFill>
                  <a:srgbClr val="8FA8A2"/>
                </a:solidFill>
                <a:latin typeface="Arial"/>
                <a:ea typeface="Arial"/>
                <a:cs typeface="Arial"/>
              </a:rPr>
              <a:t>feasible</a:t>
            </a:r>
          </a:p>
        </p:txBody>
      </p:sp>
      <p:sp>
        <p:nvSpPr>
          <p:cNvPr id="22" name="">
            <a:extLst xmlns:a="http://schemas.openxmlformats.org/drawingml/2006/main">
              <a:ext uri="{FF2B5EF4-FFF2-40B4-BE49-F238E27FC236}">
                <a16:creationId xmlns:a16="http://schemas.microsoft.com/office/drawing/2014/main" id="{2A26CA22-DDC4-46FD-AB0E-2FD205F74FD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
        <p:nvSpPr>
          <p:cNvPr id="23" name="">
            <a:extLst xmlns:a="http://schemas.openxmlformats.org/drawingml/2006/main">
              <a:ext uri="{FF2B5EF4-FFF2-40B4-BE49-F238E27FC236}">
                <a16:creationId xmlns:a16="http://schemas.microsoft.com/office/drawing/2014/main" id="{ECB2CDF1-187F-4976-870D-BA28A5DC7B23}"/>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8FA8A2"/>
                </a:solidFill>
                <a:latin typeface="Arial"/>
                <a:ea typeface="Arial"/>
                <a:cs typeface="Arial"/>
              </a:defRPr>
            </a:pPr>
            <a:r>
              <a:rPr sz="750" b="0">
                <a:solidFill>
                  <a:srgbClr val="8FA8A2"/>
                </a:solidFill>
                <a:latin typeface="Arial"/>
                <a:ea typeface="Arial"/>
                <a:cs typeface="Arial"/>
              </a:rPr>
              <a:t>Public live product · fully synthetic data</a:t>
            </a:r>
          </a:p>
        </p:txBody>
      </p:sp>
    </p:spTree>
    <p:extLst>
      <p:ext uri="{BB962C8B-B14F-4D97-AF65-F5344CB8AC3E}">
        <p14:creationId xmlns:p14="http://schemas.microsoft.com/office/powerpoint/2010/main" val="1931074159"/>
      </p:ext>
    </p:extLst>
  </p:cSld>
</p:sld>
</file>

<file path=ppt/slides/slide5.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37D1A77-7D76-48F3-BEB5-3CDDE1F2157B}"/>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6B0D89C-F7D9-4AA9-B5AB-FE37C2D8D1C7}"/>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1C34828-76DB-4661-B179-1C47393E0B23}"/>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65E94876-FF6F-43CD-828D-A1224B7F56F0}"/>
              </a:ext>
            </a:extLst>
          </p:cNvPr>
          <p:cNvSpPr>
            <a:spLocks xmlns:a="http://schemas.openxmlformats.org/drawingml/2006/main" noGrp="1"/>
          </p:cNvSpPr>
          <p:nvPr/>
        </p:nvSpPr>
        <p:spPr>
          <a:xfrm xmlns:a="http://schemas.openxmlformats.org/drawingml/2006/main">
            <a:off x="685800" y="895350"/>
            <a:ext cx="10820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10221F"/>
                </a:solidFill>
                <a:latin typeface="Arial"/>
                <a:ea typeface="Arial"/>
                <a:cs typeface="Arial"/>
              </a:defRPr>
            </a:pPr>
            <a:r>
              <a:rPr sz="3150" b="1">
                <a:solidFill>
                  <a:srgbClr val="10221F"/>
                </a:solidFill>
                <a:latin typeface="Arial"/>
                <a:ea typeface="Arial"/>
                <a:cs typeface="Arial"/>
              </a:rPr>
              <a:t>Monetization follows evidence, not promises.</a:t>
            </a:r>
          </a:p>
        </p:txBody>
      </p:sp>
      <p:sp>
        <p:nvSpPr>
          <p:cNvPr id="5" name="">
            <a:extLst xmlns:a="http://schemas.openxmlformats.org/drawingml/2006/main">
              <a:ext uri="{FF2B5EF4-FFF2-40B4-BE49-F238E27FC236}">
                <a16:creationId xmlns:a16="http://schemas.microsoft.com/office/drawing/2014/main" id="{A440FA58-0E32-46DA-9B35-7E741C7EFF55}"/>
              </a:ext>
            </a:extLst>
          </p:cNvPr>
          <p:cNvSpPr>
            <a:spLocks xmlns:a="http://schemas.openxmlformats.org/drawingml/2006/main" noGrp="1"/>
          </p:cNvSpPr>
          <p:nvPr/>
        </p:nvSpPr>
        <p:spPr>
          <a:xfrm xmlns:a="http://schemas.openxmlformats.org/drawingml/2006/main">
            <a:off x="6858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USER</a:t>
            </a:r>
          </a:p>
        </p:txBody>
      </p:sp>
      <p:sp>
        <p:nvSpPr>
          <p:cNvPr id="6" name="">
            <a:extLst xmlns:a="http://schemas.openxmlformats.org/drawingml/2006/main">
              <a:ext uri="{FF2B5EF4-FFF2-40B4-BE49-F238E27FC236}">
                <a16:creationId xmlns:a16="http://schemas.microsoft.com/office/drawing/2014/main" id="{944C1829-CFC7-4076-869F-F5DBF4186C1E}"/>
              </a:ext>
            </a:extLst>
          </p:cNvPr>
          <p:cNvSpPr>
            <a:spLocks xmlns:a="http://schemas.openxmlformats.org/drawingml/2006/main" noGrp="1"/>
          </p:cNvSpPr>
          <p:nvPr/>
        </p:nvSpPr>
        <p:spPr>
          <a:xfrm xmlns:a="http://schemas.openxmlformats.org/drawingml/2006/main">
            <a:off x="685800" y="2057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17"/>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Production manager / planner</a:t>
            </a:r>
          </a:p>
        </p:txBody>
      </p:sp>
      <p:sp>
        <p:nvSpPr>
          <p:cNvPr id="7" name="">
            <a:extLst xmlns:a="http://schemas.openxmlformats.org/drawingml/2006/main">
              <a:ext uri="{FF2B5EF4-FFF2-40B4-BE49-F238E27FC236}">
                <a16:creationId xmlns:a16="http://schemas.microsoft.com/office/drawing/2014/main" id="{B50FB03A-5C7F-4E8E-9597-4BE598117ABE}"/>
              </a:ext>
            </a:extLst>
          </p:cNvPr>
          <p:cNvSpPr>
            <a:spLocks xmlns:a="http://schemas.openxmlformats.org/drawingml/2006/main" noGrp="1"/>
          </p:cNvSpPr>
          <p:nvPr/>
        </p:nvSpPr>
        <p:spPr>
          <a:xfrm xmlns:a="http://schemas.openxmlformats.org/drawingml/2006/main">
            <a:off x="3962400" y="18192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BUYER</a:t>
            </a:r>
          </a:p>
        </p:txBody>
      </p:sp>
      <p:sp>
        <p:nvSpPr>
          <p:cNvPr id="8" name="">
            <a:extLst xmlns:a="http://schemas.openxmlformats.org/drawingml/2006/main">
              <a:ext uri="{FF2B5EF4-FFF2-40B4-BE49-F238E27FC236}">
                <a16:creationId xmlns:a16="http://schemas.microsoft.com/office/drawing/2014/main" id="{DCD3058F-399E-4FEC-85DD-265FACA8024A}"/>
              </a:ext>
            </a:extLst>
          </p:cNvPr>
          <p:cNvSpPr>
            <a:spLocks xmlns:a="http://schemas.openxmlformats.org/drawingml/2006/main" noGrp="1"/>
          </p:cNvSpPr>
          <p:nvPr/>
        </p:nvSpPr>
        <p:spPr>
          <a:xfrm xmlns:a="http://schemas.openxmlformats.org/drawingml/2006/main">
            <a:off x="3962400" y="20574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50"/>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Plant or operations director</a:t>
            </a:r>
          </a:p>
        </p:txBody>
      </p:sp>
      <p:sp>
        <p:nvSpPr>
          <p:cNvPr id="9" name="">
            <a:extLst xmlns:a="http://schemas.openxmlformats.org/drawingml/2006/main">
              <a:ext uri="{FF2B5EF4-FFF2-40B4-BE49-F238E27FC236}">
                <a16:creationId xmlns:a16="http://schemas.microsoft.com/office/drawing/2014/main" id="{28FCEC27-D9C0-49AB-AD28-26FD74E863C1}"/>
              </a:ext>
            </a:extLst>
          </p:cNvPr>
          <p:cNvSpPr>
            <a:spLocks xmlns:a="http://schemas.openxmlformats.org/drawingml/2006/main" noGrp="1"/>
          </p:cNvSpPr>
          <p:nvPr/>
        </p:nvSpPr>
        <p:spPr>
          <a:xfrm xmlns:a="http://schemas.openxmlformats.org/drawingml/2006/main">
            <a:off x="7524750" y="18192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0F766E"/>
                </a:solidFill>
                <a:latin typeface="Arial"/>
                <a:ea typeface="Arial"/>
                <a:cs typeface="Arial"/>
              </a:defRPr>
            </a:pPr>
            <a:r>
              <a:rPr sz="975" b="1">
                <a:solidFill>
                  <a:srgbClr val="0F766E"/>
                </a:solidFill>
                <a:latin typeface="Arial"/>
                <a:ea typeface="Arial"/>
                <a:cs typeface="Arial"/>
              </a:rPr>
              <a:t>BEACHHEAD</a:t>
            </a:r>
          </a:p>
        </p:txBody>
      </p:sp>
      <p:sp>
        <p:nvSpPr>
          <p:cNvPr id="10" name="">
            <a:extLst xmlns:a="http://schemas.openxmlformats.org/drawingml/2006/main">
              <a:ext uri="{FF2B5EF4-FFF2-40B4-BE49-F238E27FC236}">
                <a16:creationId xmlns:a16="http://schemas.microsoft.com/office/drawing/2014/main" id="{6BCBE91D-D86A-46F6-9E96-2F7B86C98619}"/>
              </a:ext>
            </a:extLst>
          </p:cNvPr>
          <p:cNvSpPr>
            <a:spLocks xmlns:a="http://schemas.openxmlformats.org/drawingml/2006/main" noGrp="1"/>
          </p:cNvSpPr>
          <p:nvPr/>
        </p:nvSpPr>
        <p:spPr>
          <a:xfrm xmlns:a="http://schemas.openxmlformats.org/drawingml/2006/main">
            <a:off x="7524750" y="2057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28"/>
          </a:bodyPr>
          <a:lstStyle xmlns:a="http://schemas.openxmlformats.org/drawingml/2006/main"/>
          <a:p xmlns:a="http://schemas.openxmlformats.org/drawingml/2006/main">
            <a:pPr algn="l">
              <a:lnSpc>
                <a:spcPct val="100000"/>
              </a:lnSpc>
              <a:buNone/>
              <a:defRPr sz="2025" b="1">
                <a:solidFill>
                  <a:srgbClr val="10221F"/>
                </a:solidFill>
                <a:latin typeface="Arial"/>
                <a:ea typeface="Arial"/>
                <a:cs typeface="Arial"/>
              </a:defRPr>
            </a:pPr>
            <a:r>
              <a:rPr sz="2025" b="1">
                <a:solidFill>
                  <a:srgbClr val="10221F"/>
                </a:solidFill>
                <a:latin typeface="Arial"/>
                <a:ea typeface="Arial"/>
                <a:cs typeface="Arial"/>
              </a:rPr>
              <a:t>Tunisian cable &amp; electrical plants</a:t>
            </a:r>
          </a:p>
        </p:txBody>
      </p:sp>
      <p:sp>
        <p:nvSpPr>
          <p:cNvPr id="11" name="">
            <a:extLst xmlns:a="http://schemas.openxmlformats.org/drawingml/2006/main">
              <a:ext uri="{FF2B5EF4-FFF2-40B4-BE49-F238E27FC236}">
                <a16:creationId xmlns:a16="http://schemas.microsoft.com/office/drawing/2014/main" id="{3728B5C3-31D0-405D-BBB2-F1A68EC72C8D}"/>
              </a:ext>
            </a:extLst>
          </p:cNvPr>
          <p:cNvSpPr>
            <a:spLocks xmlns:a="http://schemas.openxmlformats.org/drawingml/2006/main" noGrp="1"/>
          </p:cNvSpPr>
          <p:nvPr/>
        </p:nvSpPr>
        <p:spPr>
          <a:xfrm xmlns:a="http://schemas.openxmlformats.org/drawingml/2006/main">
            <a:off x="1314450" y="3638550"/>
            <a:ext cx="95250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12" name="">
            <a:extLst xmlns:a="http://schemas.openxmlformats.org/drawingml/2006/main">
              <a:ext uri="{FF2B5EF4-FFF2-40B4-BE49-F238E27FC236}">
                <a16:creationId xmlns:a16="http://schemas.microsoft.com/office/drawing/2014/main" id="{F15A693F-86F1-40F5-B6AC-9AF2CF9DFCEC}"/>
              </a:ext>
            </a:extLst>
          </p:cNvPr>
          <p:cNvSpPr>
            <a:spLocks xmlns:a="http://schemas.openxmlformats.org/drawingml/2006/main" noGrp="1"/>
          </p:cNvSpPr>
          <p:nvPr/>
        </p:nvSpPr>
        <p:spPr>
          <a:xfrm xmlns:a="http://schemas.openxmlformats.org/drawingml/2006/main">
            <a:off x="1181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5C1350-7551-4618-B26D-83499C3A24B9}"/>
              </a:ext>
            </a:extLst>
          </p:cNvPr>
          <p:cNvSpPr>
            <a:spLocks xmlns:a="http://schemas.openxmlformats.org/drawingml/2006/main" noGrp="1"/>
          </p:cNvSpPr>
          <p:nvPr/>
        </p:nvSpPr>
        <p:spPr>
          <a:xfrm xmlns:a="http://schemas.openxmlformats.org/drawingml/2006/main">
            <a:off x="1181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D9878B5-9B79-4F4E-9AAD-201CCBAADFCD}"/>
              </a:ext>
            </a:extLst>
          </p:cNvPr>
          <p:cNvSpPr>
            <a:spLocks xmlns:a="http://schemas.openxmlformats.org/drawingml/2006/main" noGrp="1"/>
          </p:cNvSpPr>
          <p:nvPr/>
        </p:nvSpPr>
        <p:spPr>
          <a:xfrm xmlns:a="http://schemas.openxmlformats.org/drawingml/2006/main">
            <a:off x="857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Design partner</a:t>
            </a:r>
          </a:p>
        </p:txBody>
      </p:sp>
      <p:sp>
        <p:nvSpPr>
          <p:cNvPr id="15" name="">
            <a:extLst xmlns:a="http://schemas.openxmlformats.org/drawingml/2006/main">
              <a:ext uri="{FF2B5EF4-FFF2-40B4-BE49-F238E27FC236}">
                <a16:creationId xmlns:a16="http://schemas.microsoft.com/office/drawing/2014/main" id="{DB1ACC8E-313E-4FB2-93BC-B22C5B372E52}"/>
              </a:ext>
            </a:extLst>
          </p:cNvPr>
          <p:cNvSpPr>
            <a:spLocks xmlns:a="http://schemas.openxmlformats.org/drawingml/2006/main" noGrp="1"/>
          </p:cNvSpPr>
          <p:nvPr/>
        </p:nvSpPr>
        <p:spPr>
          <a:xfrm xmlns:a="http://schemas.openxmlformats.org/drawingml/2006/main">
            <a:off x="857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Validate the decision and data contract</a:t>
            </a:r>
          </a:p>
        </p:txBody>
      </p:sp>
      <p:sp>
        <p:nvSpPr>
          <p:cNvPr id="16" name="">
            <a:extLst xmlns:a="http://schemas.openxmlformats.org/drawingml/2006/main">
              <a:ext uri="{FF2B5EF4-FFF2-40B4-BE49-F238E27FC236}">
                <a16:creationId xmlns:a16="http://schemas.microsoft.com/office/drawing/2014/main" id="{82E9F288-CCE3-4787-AE21-7CF8628737A2}"/>
              </a:ext>
            </a:extLst>
          </p:cNvPr>
          <p:cNvSpPr>
            <a:spLocks xmlns:a="http://schemas.openxmlformats.org/drawingml/2006/main" noGrp="1"/>
          </p:cNvSpPr>
          <p:nvPr/>
        </p:nvSpPr>
        <p:spPr>
          <a:xfrm xmlns:a="http://schemas.openxmlformats.org/drawingml/2006/main">
            <a:off x="3848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1E6EE7-7331-4A81-B0E9-D8ED3BEB2D5A}"/>
              </a:ext>
            </a:extLst>
          </p:cNvPr>
          <p:cNvSpPr>
            <a:spLocks xmlns:a="http://schemas.openxmlformats.org/drawingml/2006/main" noGrp="1"/>
          </p:cNvSpPr>
          <p:nvPr/>
        </p:nvSpPr>
        <p:spPr>
          <a:xfrm xmlns:a="http://schemas.openxmlformats.org/drawingml/2006/main">
            <a:off x="3848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DE4D6756-1D0E-4FC6-9FAF-1E52A7D6EADB}"/>
              </a:ext>
            </a:extLst>
          </p:cNvPr>
          <p:cNvSpPr>
            <a:spLocks xmlns:a="http://schemas.openxmlformats.org/drawingml/2006/main" noGrp="1"/>
          </p:cNvSpPr>
          <p:nvPr/>
        </p:nvSpPr>
        <p:spPr>
          <a:xfrm xmlns:a="http://schemas.openxmlformats.org/drawingml/2006/main">
            <a:off x="3524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Paid shadow pilot</a:t>
            </a:r>
          </a:p>
        </p:txBody>
      </p:sp>
      <p:sp>
        <p:nvSpPr>
          <p:cNvPr id="19" name="">
            <a:extLst xmlns:a="http://schemas.openxmlformats.org/drawingml/2006/main">
              <a:ext uri="{FF2B5EF4-FFF2-40B4-BE49-F238E27FC236}">
                <a16:creationId xmlns:a16="http://schemas.microsoft.com/office/drawing/2014/main" id="{18D7B167-29A1-42A4-9063-5243F321526F}"/>
              </a:ext>
            </a:extLst>
          </p:cNvPr>
          <p:cNvSpPr>
            <a:spLocks xmlns:a="http://schemas.openxmlformats.org/drawingml/2006/main" noGrp="1"/>
          </p:cNvSpPr>
          <p:nvPr/>
        </p:nvSpPr>
        <p:spPr>
          <a:xfrm xmlns:a="http://schemas.openxmlformats.org/drawingml/2006/main">
            <a:off x="3524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Read-only, 4-6 weeks, agreed KPIs</a:t>
            </a:r>
          </a:p>
        </p:txBody>
      </p:sp>
      <p:sp>
        <p:nvSpPr>
          <p:cNvPr id="20" name="">
            <a:extLst xmlns:a="http://schemas.openxmlformats.org/drawingml/2006/main">
              <a:ext uri="{FF2B5EF4-FFF2-40B4-BE49-F238E27FC236}">
                <a16:creationId xmlns:a16="http://schemas.microsoft.com/office/drawing/2014/main" id="{B3771177-FC21-4485-8267-B31327E3EE27}"/>
              </a:ext>
            </a:extLst>
          </p:cNvPr>
          <p:cNvSpPr>
            <a:spLocks xmlns:a="http://schemas.openxmlformats.org/drawingml/2006/main" noGrp="1"/>
          </p:cNvSpPr>
          <p:nvPr/>
        </p:nvSpPr>
        <p:spPr>
          <a:xfrm xmlns:a="http://schemas.openxmlformats.org/drawingml/2006/main">
            <a:off x="6515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09BA4B-A484-4963-8B39-60EE400FF7FB}"/>
              </a:ext>
            </a:extLst>
          </p:cNvPr>
          <p:cNvSpPr>
            <a:spLocks xmlns:a="http://schemas.openxmlformats.org/drawingml/2006/main" noGrp="1"/>
          </p:cNvSpPr>
          <p:nvPr/>
        </p:nvSpPr>
        <p:spPr>
          <a:xfrm xmlns:a="http://schemas.openxmlformats.org/drawingml/2006/main">
            <a:off x="6515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4C6CB12B-A4BF-40B4-AF48-122E90872074}"/>
              </a:ext>
            </a:extLst>
          </p:cNvPr>
          <p:cNvSpPr>
            <a:spLocks xmlns:a="http://schemas.openxmlformats.org/drawingml/2006/main" noGrp="1"/>
          </p:cNvSpPr>
          <p:nvPr/>
        </p:nvSpPr>
        <p:spPr>
          <a:xfrm xmlns:a="http://schemas.openxmlformats.org/drawingml/2006/main">
            <a:off x="6191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Configuration + integration</a:t>
            </a:r>
          </a:p>
        </p:txBody>
      </p:sp>
      <p:sp>
        <p:nvSpPr>
          <p:cNvPr id="23" name="">
            <a:extLst xmlns:a="http://schemas.openxmlformats.org/drawingml/2006/main">
              <a:ext uri="{FF2B5EF4-FFF2-40B4-BE49-F238E27FC236}">
                <a16:creationId xmlns:a16="http://schemas.microsoft.com/office/drawing/2014/main" id="{80A099D0-B799-404A-A107-E07683049042}"/>
              </a:ext>
            </a:extLst>
          </p:cNvPr>
          <p:cNvSpPr>
            <a:spLocks xmlns:a="http://schemas.openxmlformats.org/drawingml/2006/main" noGrp="1"/>
          </p:cNvSpPr>
          <p:nvPr/>
        </p:nvSpPr>
        <p:spPr>
          <a:xfrm xmlns:a="http://schemas.openxmlformats.org/drawingml/2006/main">
            <a:off x="6191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Only after measured pilot value</a:t>
            </a:r>
          </a:p>
        </p:txBody>
      </p:sp>
      <p:sp>
        <p:nvSpPr>
          <p:cNvPr id="24" name="">
            <a:extLst xmlns:a="http://schemas.openxmlformats.org/drawingml/2006/main">
              <a:ext uri="{FF2B5EF4-FFF2-40B4-BE49-F238E27FC236}">
                <a16:creationId xmlns:a16="http://schemas.microsoft.com/office/drawing/2014/main" id="{E7CC0A31-23EA-434C-A414-1083978F6C92}"/>
              </a:ext>
            </a:extLst>
          </p:cNvPr>
          <p:cNvSpPr>
            <a:spLocks xmlns:a="http://schemas.openxmlformats.org/drawingml/2006/main" noGrp="1"/>
          </p:cNvSpPr>
          <p:nvPr/>
        </p:nvSpPr>
        <p:spPr>
          <a:xfrm xmlns:a="http://schemas.openxmlformats.org/drawingml/2006/main">
            <a:off x="9182100" y="3333750"/>
            <a:ext cx="533400" cy="533400"/>
          </a:xfrm>
          <a:prstGeom xmlns:a="http://schemas.openxmlformats.org/drawingml/2006/main" prst="ellipse">
            <a:avLst/>
          </a:prstGeom>
          <a:solidFill xmlns:a="http://schemas.openxmlformats.org/drawingml/2006/main">
            <a:srgbClr val="09292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F453318-8644-4964-B1DB-CF5D7964584F}"/>
              </a:ext>
            </a:extLst>
          </p:cNvPr>
          <p:cNvSpPr>
            <a:spLocks xmlns:a="http://schemas.openxmlformats.org/drawingml/2006/main" noGrp="1"/>
          </p:cNvSpPr>
          <p:nvPr/>
        </p:nvSpPr>
        <p:spPr>
          <a:xfrm xmlns:a="http://schemas.openxmlformats.org/drawingml/2006/main">
            <a:off x="9182100" y="34861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07B48702-9F2C-4E99-A087-C3F981211AEE}"/>
              </a:ext>
            </a:extLst>
          </p:cNvPr>
          <p:cNvSpPr>
            <a:spLocks xmlns:a="http://schemas.openxmlformats.org/drawingml/2006/main" noGrp="1"/>
          </p:cNvSpPr>
          <p:nvPr/>
        </p:nvSpPr>
        <p:spPr>
          <a:xfrm xmlns:a="http://schemas.openxmlformats.org/drawingml/2006/main">
            <a:off x="8858250" y="40576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10221F"/>
                </a:solidFill>
                <a:latin typeface="Arial"/>
                <a:ea typeface="Arial"/>
                <a:cs typeface="Arial"/>
              </a:defRPr>
            </a:pPr>
            <a:r>
              <a:rPr sz="1500" b="1">
                <a:solidFill>
                  <a:srgbClr val="10221F"/>
                </a:solidFill>
                <a:latin typeface="Arial"/>
                <a:ea typeface="Arial"/>
                <a:cs typeface="Arial"/>
              </a:rPr>
              <a:t>Per-site subscription</a:t>
            </a:r>
          </a:p>
        </p:txBody>
      </p:sp>
      <p:sp>
        <p:nvSpPr>
          <p:cNvPr id="27" name="">
            <a:extLst xmlns:a="http://schemas.openxmlformats.org/drawingml/2006/main">
              <a:ext uri="{FF2B5EF4-FFF2-40B4-BE49-F238E27FC236}">
                <a16:creationId xmlns:a16="http://schemas.microsoft.com/office/drawing/2014/main" id="{B8F418BC-6B91-42A5-9BE8-B87D2AB60EA4}"/>
              </a:ext>
            </a:extLst>
          </p:cNvPr>
          <p:cNvSpPr>
            <a:spLocks xmlns:a="http://schemas.openxmlformats.org/drawingml/2006/main" noGrp="1"/>
          </p:cNvSpPr>
          <p:nvPr/>
        </p:nvSpPr>
        <p:spPr>
          <a:xfrm xmlns:a="http://schemas.openxmlformats.org/drawingml/2006/main">
            <a:off x="8858250" y="45529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53645F"/>
                </a:solidFill>
                <a:latin typeface="Arial"/>
                <a:ea typeface="Arial"/>
                <a:cs typeface="Arial"/>
              </a:defRPr>
            </a:pPr>
            <a:r>
              <a:rPr sz="1125" b="0">
                <a:solidFill>
                  <a:srgbClr val="53645F"/>
                </a:solidFill>
                <a:latin typeface="Arial"/>
                <a:ea typeface="Arial"/>
                <a:cs typeface="Arial"/>
              </a:rPr>
              <a:t>Commercial hypothesis to validate</a:t>
            </a:r>
          </a:p>
        </p:txBody>
      </p:sp>
      <p:sp>
        <p:nvSpPr>
          <p:cNvPr id="28" name="">
            <a:extLst xmlns:a="http://schemas.openxmlformats.org/drawingml/2006/main">
              <a:ext uri="{FF2B5EF4-FFF2-40B4-BE49-F238E27FC236}">
                <a16:creationId xmlns:a16="http://schemas.microsoft.com/office/drawing/2014/main" id="{4B8DDDFC-F8DB-42B9-BF9B-B0F8C4C6B095}"/>
              </a:ext>
            </a:extLst>
          </p:cNvPr>
          <p:cNvSpPr>
            <a:spLocks xmlns:a="http://schemas.openxmlformats.org/drawingml/2006/main" noGrp="1"/>
          </p:cNvSpPr>
          <p:nvPr/>
        </p:nvSpPr>
        <p:spPr>
          <a:xfrm xmlns:a="http://schemas.openxmlformats.org/drawingml/2006/main">
            <a:off x="685800" y="5600700"/>
            <a:ext cx="10820400" cy="514350"/>
          </a:xfrm>
          <a:prstGeom xmlns:a="http://schemas.openxmlformats.org/drawingml/2006/main" prst="roundRect">
            <a:avLst>
              <a:gd name="adj" fmla="val 22222"/>
            </a:avLst>
          </a:prstGeom>
          <a:solidFill xmlns:a="http://schemas.openxmlformats.org/drawingml/2006/main">
            <a:srgbClr val="0929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8DAF13F-FAB8-43E6-B35B-BD968DE4FCA0}"/>
              </a:ext>
            </a:extLst>
          </p:cNvPr>
          <p:cNvSpPr>
            <a:spLocks xmlns:a="http://schemas.openxmlformats.org/drawingml/2006/main" noGrp="1"/>
          </p:cNvSpPr>
          <p:nvPr/>
        </p:nvSpPr>
        <p:spPr>
          <a:xfrm xmlns:a="http://schemas.openxmlformats.org/drawingml/2006/main">
            <a:off x="895350" y="57531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Pricing, conversion and ROI are pilot questions. No customer, revenue or savings are claimed today.</a:t>
            </a:r>
          </a:p>
        </p:txBody>
      </p:sp>
      <p:sp>
        <p:nvSpPr>
          <p:cNvPr id="30" name="">
            <a:extLst xmlns:a="http://schemas.openxmlformats.org/drawingml/2006/main">
              <a:ext uri="{FF2B5EF4-FFF2-40B4-BE49-F238E27FC236}">
                <a16:creationId xmlns:a16="http://schemas.microsoft.com/office/drawing/2014/main" id="{7D0B2F27-0AC4-47E6-95F6-2A59BF89ACA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74298697"/>
      </p:ext>
    </p:extLst>
  </p:cSld>
</p:sld>
</file>

<file path=ppt/slides/slide6.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C06E4C-58DD-4CAE-9A1E-1E7CB85CF04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GO-TO-MARKET</a:t>
            </a:r>
          </a:p>
        </p:txBody>
      </p:sp>
      <p:sp>
        <p:nvSpPr>
          <p:cNvPr id="2" name="">
            <a:extLst xmlns:a="http://schemas.openxmlformats.org/drawingml/2006/main">
              <a:ext uri="{FF2B5EF4-FFF2-40B4-BE49-F238E27FC236}">
                <a16:creationId xmlns:a16="http://schemas.microsoft.com/office/drawing/2014/main" id="{04A77EAF-F2D8-4BAA-86FC-68B73243A1EC}"/>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C2AF4A3-7F38-41E9-9B55-34A093D9BD08}"/>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8435F9FA-0F31-437E-BB22-9CE74444F6C9}"/>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000" b="1">
                <a:solidFill>
                  <a:srgbClr val="F5F4ED"/>
                </a:solidFill>
                <a:latin typeface="Arial"/>
                <a:ea typeface="Arial"/>
                <a:cs typeface="Arial"/>
              </a:defRPr>
            </a:pPr>
            <a:r>
              <a:rPr sz="3000" b="1">
                <a:solidFill>
                  <a:srgbClr val="F5F4ED"/>
                </a:solidFill>
                <a:latin typeface="Arial"/>
                <a:ea typeface="Arial"/>
                <a:cs typeface="Arial"/>
              </a:rPr>
              <a:t>Start read-only in one workshop; earn the right to integrate.</a:t>
            </a:r>
          </a:p>
        </p:txBody>
      </p:sp>
      <p:sp>
        <p:nvSpPr>
          <p:cNvPr id="5" name="">
            <a:extLst xmlns:a="http://schemas.openxmlformats.org/drawingml/2006/main">
              <a:ext uri="{FF2B5EF4-FFF2-40B4-BE49-F238E27FC236}">
                <a16:creationId xmlns:a16="http://schemas.microsoft.com/office/drawing/2014/main" id="{256F8B2B-6E1F-461F-BCD9-FD903FC01DFD}"/>
              </a:ext>
            </a:extLst>
          </p:cNvPr>
          <p:cNvSpPr>
            <a:spLocks xmlns:a="http://schemas.openxmlformats.org/drawingml/2006/main" noGrp="1"/>
          </p:cNvSpPr>
          <p:nvPr/>
        </p:nvSpPr>
        <p:spPr>
          <a:xfrm xmlns:a="http://schemas.openxmlformats.org/drawingml/2006/main">
            <a:off x="685800" y="197167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a:solidFill>
                  <a:srgbClr val="C9F36B"/>
                </a:solidFill>
                <a:latin typeface="Arial"/>
                <a:ea typeface="Arial"/>
                <a:cs typeface="Arial"/>
              </a:defRPr>
            </a:pPr>
            <a:r>
              <a:rPr sz="2700" b="1">
                <a:solidFill>
                  <a:srgbClr val="C9F36B"/>
                </a:solidFill>
                <a:latin typeface="Arial"/>
                <a:ea typeface="Arial"/>
                <a:cs typeface="Arial"/>
              </a:rPr>
              <a:t>4-6 WEEKS</a:t>
            </a:r>
          </a:p>
        </p:txBody>
      </p:sp>
      <p:sp>
        <p:nvSpPr>
          <p:cNvPr id="6" name="">
            <a:extLst xmlns:a="http://schemas.openxmlformats.org/drawingml/2006/main">
              <a:ext uri="{FF2B5EF4-FFF2-40B4-BE49-F238E27FC236}">
                <a16:creationId xmlns:a16="http://schemas.microsoft.com/office/drawing/2014/main" id="{DD5A05C5-CD06-4A5D-9F21-6BC03299D4E2}"/>
              </a:ext>
            </a:extLst>
          </p:cNvPr>
          <p:cNvSpPr>
            <a:spLocks xmlns:a="http://schemas.openxmlformats.org/drawingml/2006/main" noGrp="1"/>
          </p:cNvSpPr>
          <p:nvPr/>
        </p:nvSpPr>
        <p:spPr>
          <a:xfrm xmlns:a="http://schemas.openxmlformats.org/drawingml/2006/main">
            <a:off x="685800" y="2438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DFE8E4"/>
                </a:solidFill>
                <a:latin typeface="Arial"/>
                <a:ea typeface="Arial"/>
                <a:cs typeface="Arial"/>
              </a:defRPr>
            </a:pPr>
            <a:r>
              <a:rPr sz="1350" b="0">
                <a:solidFill>
                  <a:srgbClr val="DFE8E4"/>
                </a:solidFill>
                <a:latin typeface="Arial"/>
                <a:ea typeface="Arial"/>
                <a:cs typeface="Arial"/>
              </a:rPr>
              <a:t>One bounded shadow pilot</a:t>
            </a:r>
          </a:p>
        </p:txBody>
      </p:sp>
      <p:sp>
        <p:nvSpPr>
          <p:cNvPr id="7" name="">
            <a:extLst xmlns:a="http://schemas.openxmlformats.org/drawingml/2006/main">
              <a:ext uri="{FF2B5EF4-FFF2-40B4-BE49-F238E27FC236}">
                <a16:creationId xmlns:a16="http://schemas.microsoft.com/office/drawing/2014/main" id="{F55A4B66-DAC1-4364-B1E9-3C15084E81F8}"/>
              </a:ext>
            </a:extLst>
          </p:cNvPr>
          <p:cNvSpPr>
            <a:spLocks xmlns:a="http://schemas.openxmlformats.org/drawingml/2006/main" noGrp="1"/>
          </p:cNvSpPr>
          <p:nvPr/>
        </p:nvSpPr>
        <p:spPr>
          <a:xfrm xmlns:a="http://schemas.openxmlformats.org/drawingml/2006/main">
            <a:off x="3333750" y="3162300"/>
            <a:ext cx="756285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DF2A63D3-D84D-4212-AB74-9E4EA6420F92}"/>
              </a:ext>
            </a:extLst>
          </p:cNvPr>
          <p:cNvSpPr>
            <a:spLocks xmlns:a="http://schemas.openxmlformats.org/drawingml/2006/main" noGrp="1"/>
          </p:cNvSpPr>
          <p:nvPr/>
        </p:nvSpPr>
        <p:spPr>
          <a:xfrm xmlns:a="http://schemas.openxmlformats.org/drawingml/2006/main">
            <a:off x="3162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31AA36-0427-4B71-881E-DC1F518F4EC8}"/>
              </a:ext>
            </a:extLst>
          </p:cNvPr>
          <p:cNvSpPr>
            <a:spLocks xmlns:a="http://schemas.openxmlformats.org/drawingml/2006/main" noGrp="1"/>
          </p:cNvSpPr>
          <p:nvPr/>
        </p:nvSpPr>
        <p:spPr>
          <a:xfrm xmlns:a="http://schemas.openxmlformats.org/drawingml/2006/main">
            <a:off x="2828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 0</a:t>
            </a:r>
          </a:p>
        </p:txBody>
      </p:sp>
      <p:sp>
        <p:nvSpPr>
          <p:cNvPr id="10" name="">
            <a:extLst xmlns:a="http://schemas.openxmlformats.org/drawingml/2006/main">
              <a:ext uri="{FF2B5EF4-FFF2-40B4-BE49-F238E27FC236}">
                <a16:creationId xmlns:a16="http://schemas.microsoft.com/office/drawing/2014/main" id="{4B52C822-764F-442D-8804-48CD5511E2D1}"/>
              </a:ext>
            </a:extLst>
          </p:cNvPr>
          <p:cNvSpPr>
            <a:spLocks xmlns:a="http://schemas.openxmlformats.org/drawingml/2006/main" noGrp="1"/>
          </p:cNvSpPr>
          <p:nvPr/>
        </p:nvSpPr>
        <p:spPr>
          <a:xfrm xmlns:a="http://schemas.openxmlformats.org/drawingml/2006/main">
            <a:off x="2828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Map</a:t>
            </a:r>
          </a:p>
        </p:txBody>
      </p:sp>
      <p:sp>
        <p:nvSpPr>
          <p:cNvPr id="11" name="">
            <a:extLst xmlns:a="http://schemas.openxmlformats.org/drawingml/2006/main">
              <a:ext uri="{FF2B5EF4-FFF2-40B4-BE49-F238E27FC236}">
                <a16:creationId xmlns:a16="http://schemas.microsoft.com/office/drawing/2014/main" id="{0C97535D-F0FD-4395-8AB7-F2E794F6AEF6}"/>
              </a:ext>
            </a:extLst>
          </p:cNvPr>
          <p:cNvSpPr>
            <a:spLocks xmlns:a="http://schemas.openxmlformats.org/drawingml/2006/main" noGrp="1"/>
          </p:cNvSpPr>
          <p:nvPr/>
        </p:nvSpPr>
        <p:spPr>
          <a:xfrm xmlns:a="http://schemas.openxmlformats.org/drawingml/2006/main">
            <a:off x="2638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Data contract + planner-validated constraints</a:t>
            </a:r>
          </a:p>
        </p:txBody>
      </p:sp>
      <p:sp>
        <p:nvSpPr>
          <p:cNvPr id="12" name="">
            <a:extLst xmlns:a="http://schemas.openxmlformats.org/drawingml/2006/main">
              <a:ext uri="{FF2B5EF4-FFF2-40B4-BE49-F238E27FC236}">
                <a16:creationId xmlns:a16="http://schemas.microsoft.com/office/drawing/2014/main" id="{6AEB9C0F-04B7-47B0-8597-C891AA849F35}"/>
              </a:ext>
            </a:extLst>
          </p:cNvPr>
          <p:cNvSpPr>
            <a:spLocks xmlns:a="http://schemas.openxmlformats.org/drawingml/2006/main" noGrp="1"/>
          </p:cNvSpPr>
          <p:nvPr/>
        </p:nvSpPr>
        <p:spPr>
          <a:xfrm xmlns:a="http://schemas.openxmlformats.org/drawingml/2006/main">
            <a:off x="516255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FEE902-DC44-498A-8BEA-9BC5326D0623}"/>
              </a:ext>
            </a:extLst>
          </p:cNvPr>
          <p:cNvSpPr>
            <a:spLocks xmlns:a="http://schemas.openxmlformats.org/drawingml/2006/main" noGrp="1"/>
          </p:cNvSpPr>
          <p:nvPr/>
        </p:nvSpPr>
        <p:spPr>
          <a:xfrm xmlns:a="http://schemas.openxmlformats.org/drawingml/2006/main">
            <a:off x="482917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1-2</a:t>
            </a:r>
          </a:p>
        </p:txBody>
      </p:sp>
      <p:sp>
        <p:nvSpPr>
          <p:cNvPr id="14" name="">
            <a:extLst xmlns:a="http://schemas.openxmlformats.org/drawingml/2006/main">
              <a:ext uri="{FF2B5EF4-FFF2-40B4-BE49-F238E27FC236}">
                <a16:creationId xmlns:a16="http://schemas.microsoft.com/office/drawing/2014/main" id="{CFA5E6DA-3EB6-46B9-9771-2CC89E045912}"/>
              </a:ext>
            </a:extLst>
          </p:cNvPr>
          <p:cNvSpPr>
            <a:spLocks xmlns:a="http://schemas.openxmlformats.org/drawingml/2006/main" noGrp="1"/>
          </p:cNvSpPr>
          <p:nvPr/>
        </p:nvSpPr>
        <p:spPr>
          <a:xfrm xmlns:a="http://schemas.openxmlformats.org/drawingml/2006/main">
            <a:off x="482917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Replay</a:t>
            </a:r>
          </a:p>
        </p:txBody>
      </p:sp>
      <p:sp>
        <p:nvSpPr>
          <p:cNvPr id="15" name="">
            <a:extLst xmlns:a="http://schemas.openxmlformats.org/drawingml/2006/main">
              <a:ext uri="{FF2B5EF4-FFF2-40B4-BE49-F238E27FC236}">
                <a16:creationId xmlns:a16="http://schemas.microsoft.com/office/drawing/2014/main" id="{320AEB72-3AAA-441A-9FF0-52AD71AE3EDA}"/>
              </a:ext>
            </a:extLst>
          </p:cNvPr>
          <p:cNvSpPr>
            <a:spLocks xmlns:a="http://schemas.openxmlformats.org/drawingml/2006/main" noGrp="1"/>
          </p:cNvSpPr>
          <p:nvPr/>
        </p:nvSpPr>
        <p:spPr>
          <a:xfrm xmlns:a="http://schemas.openxmlformats.org/drawingml/2006/main">
            <a:off x="463867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5-10 historical incidents at the same information cutoff</a:t>
            </a:r>
          </a:p>
        </p:txBody>
      </p:sp>
      <p:sp>
        <p:nvSpPr>
          <p:cNvPr id="16" name="">
            <a:extLst xmlns:a="http://schemas.openxmlformats.org/drawingml/2006/main">
              <a:ext uri="{FF2B5EF4-FFF2-40B4-BE49-F238E27FC236}">
                <a16:creationId xmlns:a16="http://schemas.microsoft.com/office/drawing/2014/main" id="{4AFE7E68-1BC7-4836-8B3C-D86736548148}"/>
              </a:ext>
            </a:extLst>
          </p:cNvPr>
          <p:cNvSpPr>
            <a:spLocks xmlns:a="http://schemas.openxmlformats.org/drawingml/2006/main" noGrp="1"/>
          </p:cNvSpPr>
          <p:nvPr/>
        </p:nvSpPr>
        <p:spPr>
          <a:xfrm xmlns:a="http://schemas.openxmlformats.org/drawingml/2006/main">
            <a:off x="7353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6709A2-5F09-4D5B-A1DA-5DEC444210C2}"/>
              </a:ext>
            </a:extLst>
          </p:cNvPr>
          <p:cNvSpPr>
            <a:spLocks xmlns:a="http://schemas.openxmlformats.org/drawingml/2006/main" noGrp="1"/>
          </p:cNvSpPr>
          <p:nvPr/>
        </p:nvSpPr>
        <p:spPr>
          <a:xfrm xmlns:a="http://schemas.openxmlformats.org/drawingml/2006/main">
            <a:off x="7019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3-4</a:t>
            </a:r>
          </a:p>
        </p:txBody>
      </p:sp>
      <p:sp>
        <p:nvSpPr>
          <p:cNvPr id="18" name="">
            <a:extLst xmlns:a="http://schemas.openxmlformats.org/drawingml/2006/main">
              <a:ext uri="{FF2B5EF4-FFF2-40B4-BE49-F238E27FC236}">
                <a16:creationId xmlns:a16="http://schemas.microsoft.com/office/drawing/2014/main" id="{1AF4BBD8-8C8B-4104-8D36-4D084574EFA8}"/>
              </a:ext>
            </a:extLst>
          </p:cNvPr>
          <p:cNvSpPr>
            <a:spLocks xmlns:a="http://schemas.openxmlformats.org/drawingml/2006/main" noGrp="1"/>
          </p:cNvSpPr>
          <p:nvPr/>
        </p:nvSpPr>
        <p:spPr>
          <a:xfrm xmlns:a="http://schemas.openxmlformats.org/drawingml/2006/main">
            <a:off x="7019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Shadow</a:t>
            </a:r>
          </a:p>
        </p:txBody>
      </p:sp>
      <p:sp>
        <p:nvSpPr>
          <p:cNvPr id="19" name="">
            <a:extLst xmlns:a="http://schemas.openxmlformats.org/drawingml/2006/main">
              <a:ext uri="{FF2B5EF4-FFF2-40B4-BE49-F238E27FC236}">
                <a16:creationId xmlns:a16="http://schemas.microsoft.com/office/drawing/2014/main" id="{D1A5679C-460E-41DF-A669-F82354BF788D}"/>
              </a:ext>
            </a:extLst>
          </p:cNvPr>
          <p:cNvSpPr>
            <a:spLocks xmlns:a="http://schemas.openxmlformats.org/drawingml/2006/main" noGrp="1"/>
          </p:cNvSpPr>
          <p:nvPr/>
        </p:nvSpPr>
        <p:spPr>
          <a:xfrm xmlns:a="http://schemas.openxmlformats.org/drawingml/2006/main">
            <a:off x="6829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Compare CableTwin options with actual decisions</a:t>
            </a:r>
          </a:p>
        </p:txBody>
      </p:sp>
      <p:sp>
        <p:nvSpPr>
          <p:cNvPr id="20" name="">
            <a:extLst xmlns:a="http://schemas.openxmlformats.org/drawingml/2006/main">
              <a:ext uri="{FF2B5EF4-FFF2-40B4-BE49-F238E27FC236}">
                <a16:creationId xmlns:a16="http://schemas.microsoft.com/office/drawing/2014/main" id="{7890C740-B15B-4F15-8FFC-A456A32A4800}"/>
              </a:ext>
            </a:extLst>
          </p:cNvPr>
          <p:cNvSpPr>
            <a:spLocks xmlns:a="http://schemas.openxmlformats.org/drawingml/2006/main" noGrp="1"/>
          </p:cNvSpPr>
          <p:nvPr/>
        </p:nvSpPr>
        <p:spPr>
          <a:xfrm xmlns:a="http://schemas.openxmlformats.org/drawingml/2006/main">
            <a:off x="9639300" y="2952750"/>
            <a:ext cx="419100" cy="41910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FAD89F-2AA9-4D72-A684-FB57A43374D2}"/>
              </a:ext>
            </a:extLst>
          </p:cNvPr>
          <p:cNvSpPr>
            <a:spLocks xmlns:a="http://schemas.openxmlformats.org/drawingml/2006/main" noGrp="1"/>
          </p:cNvSpPr>
          <p:nvPr/>
        </p:nvSpPr>
        <p:spPr>
          <a:xfrm xmlns:a="http://schemas.openxmlformats.org/drawingml/2006/main">
            <a:off x="9305925" y="35623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WEEKS 5-6</a:t>
            </a:r>
          </a:p>
        </p:txBody>
      </p:sp>
      <p:sp>
        <p:nvSpPr>
          <p:cNvPr id="22" name="">
            <a:extLst xmlns:a="http://schemas.openxmlformats.org/drawingml/2006/main">
              <a:ext uri="{FF2B5EF4-FFF2-40B4-BE49-F238E27FC236}">
                <a16:creationId xmlns:a16="http://schemas.microsoft.com/office/drawing/2014/main" id="{079A508B-CC11-4629-983C-D570555215EB}"/>
              </a:ext>
            </a:extLst>
          </p:cNvPr>
          <p:cNvSpPr>
            <a:spLocks xmlns:a="http://schemas.openxmlformats.org/drawingml/2006/main" noGrp="1"/>
          </p:cNvSpPr>
          <p:nvPr/>
        </p:nvSpPr>
        <p:spPr>
          <a:xfrm xmlns:a="http://schemas.openxmlformats.org/drawingml/2006/main">
            <a:off x="9305925" y="3848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Decide</a:t>
            </a:r>
          </a:p>
        </p:txBody>
      </p:sp>
      <p:sp>
        <p:nvSpPr>
          <p:cNvPr id="23" name="">
            <a:extLst xmlns:a="http://schemas.openxmlformats.org/drawingml/2006/main">
              <a:ext uri="{FF2B5EF4-FFF2-40B4-BE49-F238E27FC236}">
                <a16:creationId xmlns:a16="http://schemas.microsoft.com/office/drawing/2014/main" id="{AF38377D-622E-4394-BD04-FC99B1B76800}"/>
              </a:ext>
            </a:extLst>
          </p:cNvPr>
          <p:cNvSpPr>
            <a:spLocks xmlns:a="http://schemas.openxmlformats.org/drawingml/2006/main" noGrp="1"/>
          </p:cNvSpPr>
          <p:nvPr/>
        </p:nvSpPr>
        <p:spPr>
          <a:xfrm xmlns:a="http://schemas.openxmlformats.org/drawingml/2006/main">
            <a:off x="9115425" y="4238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0">
                <a:solidFill>
                  <a:srgbClr val="8FA8A2"/>
                </a:solidFill>
                <a:latin typeface="Arial"/>
                <a:ea typeface="Arial"/>
                <a:cs typeface="Arial"/>
              </a:defRPr>
            </a:pPr>
            <a:r>
              <a:rPr sz="1125" b="0">
                <a:solidFill>
                  <a:srgbClr val="8FA8A2"/>
                </a:solidFill>
                <a:latin typeface="Arial"/>
                <a:ea typeface="Arial"/>
                <a:cs typeface="Arial"/>
              </a:rPr>
              <a:t>Go · revise · stop</a:t>
            </a:r>
          </a:p>
        </p:txBody>
      </p:sp>
      <p:sp>
        <p:nvSpPr>
          <p:cNvPr id="24" name="">
            <a:extLst xmlns:a="http://schemas.openxmlformats.org/drawingml/2006/main">
              <a:ext uri="{FF2B5EF4-FFF2-40B4-BE49-F238E27FC236}">
                <a16:creationId xmlns:a16="http://schemas.microsoft.com/office/drawing/2014/main" id="{9075B823-2594-471F-84C3-CBD8F5074A37}"/>
              </a:ext>
            </a:extLst>
          </p:cNvPr>
          <p:cNvSpPr>
            <a:spLocks xmlns:a="http://schemas.openxmlformats.org/drawingml/2006/main" noGrp="1"/>
          </p:cNvSpPr>
          <p:nvPr/>
        </p:nvSpPr>
        <p:spPr>
          <a:xfrm xmlns:a="http://schemas.openxmlformats.org/drawingml/2006/main">
            <a:off x="685800" y="5334000"/>
            <a:ext cx="10820400" cy="666750"/>
          </a:xfrm>
          <a:prstGeom xmlns:a="http://schemas.openxmlformats.org/drawingml/2006/main" prst="roundRect">
            <a:avLst>
              <a:gd name="adj" fmla="val 20000"/>
            </a:avLst>
          </a:prstGeom>
          <a:solidFill xmlns:a="http://schemas.openxmlformats.org/drawingml/2006/main">
            <a:srgbClr val="061E1B"/>
          </a:solidFill>
          <a:ln xmlns:a="http://schemas.openxmlformats.org/drawingml/2006/main" w="9525">
            <a:solidFill>
              <a:srgbClr val="0F766E"/>
            </a:solidFill>
            <a:prstDash val="solid"/>
          </a:ln>
        </p:spPr>
      </p:sp>
      <p:sp>
        <p:nvSpPr>
          <p:cNvPr id="25" name="">
            <a:extLst xmlns:a="http://schemas.openxmlformats.org/drawingml/2006/main">
              <a:ext uri="{FF2B5EF4-FFF2-40B4-BE49-F238E27FC236}">
                <a16:creationId xmlns:a16="http://schemas.microsoft.com/office/drawing/2014/main" id="{063E09EF-5E60-4074-B196-6F5D8F827E6D}"/>
              </a:ext>
            </a:extLst>
          </p:cNvPr>
          <p:cNvSpPr>
            <a:spLocks xmlns:a="http://schemas.openxmlformats.org/drawingml/2006/main" noGrp="1"/>
          </p:cNvSpPr>
          <p:nvPr/>
        </p:nvSpPr>
        <p:spPr>
          <a:xfrm xmlns:a="http://schemas.openxmlformats.org/drawingml/2006/main">
            <a:off x="895350" y="548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E9763B"/>
                </a:solidFill>
                <a:latin typeface="Arial"/>
                <a:ea typeface="Arial"/>
                <a:cs typeface="Arial"/>
              </a:defRPr>
            </a:pPr>
            <a:r>
              <a:rPr sz="975" b="1">
                <a:solidFill>
                  <a:srgbClr val="E9763B"/>
                </a:solidFill>
                <a:latin typeface="Arial"/>
                <a:ea typeface="Arial"/>
                <a:cs typeface="Arial"/>
              </a:rPr>
              <a:t>Pilot gates to agree</a:t>
            </a:r>
          </a:p>
        </p:txBody>
      </p:sp>
      <p:sp>
        <p:nvSpPr>
          <p:cNvPr id="26" name="">
            <a:extLst xmlns:a="http://schemas.openxmlformats.org/drawingml/2006/main">
              <a:ext uri="{FF2B5EF4-FFF2-40B4-BE49-F238E27FC236}">
                <a16:creationId xmlns:a16="http://schemas.microsoft.com/office/drawing/2014/main" id="{69B965B0-6A55-404D-91E1-282A2E2E5ADD}"/>
              </a:ext>
            </a:extLst>
          </p:cNvPr>
          <p:cNvSpPr>
            <a:spLocks xmlns:a="http://schemas.openxmlformats.org/drawingml/2006/main" noGrp="1"/>
          </p:cNvSpPr>
          <p:nvPr/>
        </p:nvSpPr>
        <p:spPr>
          <a:xfrm xmlns:a="http://schemas.openxmlformats.org/drawingml/2006/main">
            <a:off x="2619375" y="546735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4ED"/>
                </a:solidFill>
                <a:latin typeface="Arial"/>
                <a:ea typeface="Arial"/>
                <a:cs typeface="Arial"/>
              </a:defRPr>
            </a:pPr>
            <a:r>
              <a:rPr sz="1350" b="1">
                <a:solidFill>
                  <a:srgbClr val="F5F4ED"/>
                </a:solidFill>
                <a:latin typeface="Arial"/>
                <a:ea typeface="Arial"/>
                <a:cs typeface="Arial"/>
              </a:rPr>
              <a:t>faster assessment · lower delay · 0 constraint violations · planner usability · 100% traceability</a:t>
            </a:r>
          </a:p>
        </p:txBody>
      </p:sp>
      <p:sp>
        <p:nvSpPr>
          <p:cNvPr id="27" name="">
            <a:extLst xmlns:a="http://schemas.openxmlformats.org/drawingml/2006/main">
              <a:ext uri="{FF2B5EF4-FFF2-40B4-BE49-F238E27FC236}">
                <a16:creationId xmlns:a16="http://schemas.microsoft.com/office/drawing/2014/main" id="{6B6594CC-C459-4696-B1ED-A7114DCD0379}"/>
              </a:ext>
            </a:extLst>
          </p:cNvPr>
          <p:cNvSpPr>
            <a:spLocks xmlns:a="http://schemas.openxmlformats.org/drawingml/2006/main" noGrp="1"/>
          </p:cNvSpPr>
          <p:nvPr/>
        </p:nvSpPr>
        <p:spPr>
          <a:xfrm xmlns:a="http://schemas.openxmlformats.org/drawingml/2006/main">
            <a:off x="2619375" y="5772150"/>
            <a:ext cx="8667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Targets to agree - not achieved claims</a:t>
            </a:r>
          </a:p>
        </p:txBody>
      </p:sp>
      <p:sp>
        <p:nvSpPr>
          <p:cNvPr id="28" name="">
            <a:extLst xmlns:a="http://schemas.openxmlformats.org/drawingml/2006/main">
              <a:ext uri="{FF2B5EF4-FFF2-40B4-BE49-F238E27FC236}">
                <a16:creationId xmlns:a16="http://schemas.microsoft.com/office/drawing/2014/main" id="{83FFEA1C-3080-437A-963B-49E4310531DC}"/>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17856195"/>
      </p:ext>
    </p:extLst>
  </p:cSld>
</p:sld>
</file>

<file path=ppt/slides/slide7.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46C017-4B62-4796-B12A-1C14DFCEC70D}"/>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COMPETITIVE ANALYSIS</a:t>
            </a:r>
          </a:p>
        </p:txBody>
      </p:sp>
      <p:sp>
        <p:nvSpPr>
          <p:cNvPr id="2" name="">
            <a:extLst xmlns:a="http://schemas.openxmlformats.org/drawingml/2006/main">
              <a:ext uri="{FF2B5EF4-FFF2-40B4-BE49-F238E27FC236}">
                <a16:creationId xmlns:a16="http://schemas.microsoft.com/office/drawing/2014/main" id="{6489DB86-EE7D-4CE2-BF1F-9878B93B3465}"/>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C3DFD0A-36B8-48C7-98F1-D235C1E5879D}"/>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4BCF72B6-C8D8-4988-A14B-152B07709649}"/>
              </a:ext>
            </a:extLst>
          </p:cNvPr>
          <p:cNvSpPr>
            <a:spLocks xmlns:a="http://schemas.openxmlformats.org/drawingml/2006/main" noGrp="1"/>
          </p:cNvSpPr>
          <p:nvPr/>
        </p:nvSpPr>
        <p:spPr>
          <a:xfrm xmlns:a="http://schemas.openxmlformats.org/drawingml/2006/main">
            <a:off x="685800" y="89535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Enterprise APS proves the category; CableTwin lowers the first step.</a:t>
            </a:r>
          </a:p>
        </p:txBody>
      </p:sp>
      <p:sp>
        <p:nvSpPr>
          <p:cNvPr id="5" name="">
            <a:extLst xmlns:a="http://schemas.openxmlformats.org/drawingml/2006/main">
              <a:ext uri="{FF2B5EF4-FFF2-40B4-BE49-F238E27FC236}">
                <a16:creationId xmlns:a16="http://schemas.microsoft.com/office/drawing/2014/main" id="{599E951C-39D3-45E8-B1E9-15BA56F12077}"/>
              </a:ext>
            </a:extLst>
          </p:cNvPr>
          <p:cNvSpPr>
            <a:spLocks xmlns:a="http://schemas.openxmlformats.org/drawingml/2006/main" noGrp="1"/>
          </p:cNvSpPr>
          <p:nvPr/>
        </p:nvSpPr>
        <p:spPr>
          <a:xfrm xmlns:a="http://schemas.openxmlformats.org/drawingml/2006/main">
            <a:off x="685800" y="179070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6" name="">
            <a:extLst xmlns:a="http://schemas.openxmlformats.org/drawingml/2006/main">
              <a:ext uri="{FF2B5EF4-FFF2-40B4-BE49-F238E27FC236}">
                <a16:creationId xmlns:a16="http://schemas.microsoft.com/office/drawing/2014/main" id="{B6300192-2B40-47EB-A2CD-CD91589B1A71}"/>
              </a:ext>
            </a:extLst>
          </p:cNvPr>
          <p:cNvSpPr>
            <a:spLocks xmlns:a="http://schemas.openxmlformats.org/drawingml/2006/main" noGrp="1"/>
          </p:cNvSpPr>
          <p:nvPr/>
        </p:nvSpPr>
        <p:spPr>
          <a:xfrm xmlns:a="http://schemas.openxmlformats.org/drawingml/2006/main">
            <a:off x="685800" y="20002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53645F"/>
                </a:solidFill>
                <a:latin typeface="Arial"/>
                <a:ea typeface="Arial"/>
                <a:cs typeface="Arial"/>
              </a:defRPr>
            </a:pPr>
            <a:r>
              <a:rPr sz="1800" b="1">
                <a:solidFill>
                  <a:srgbClr val="53645F"/>
                </a:solidFill>
                <a:latin typeface="Arial"/>
                <a:ea typeface="Arial"/>
                <a:cs typeface="Arial"/>
              </a:rPr>
              <a:t>Manual / spreadsheet</a:t>
            </a:r>
          </a:p>
        </p:txBody>
      </p:sp>
      <p:sp>
        <p:nvSpPr>
          <p:cNvPr id="7" name="">
            <a:extLst xmlns:a="http://schemas.openxmlformats.org/drawingml/2006/main">
              <a:ext uri="{FF2B5EF4-FFF2-40B4-BE49-F238E27FC236}">
                <a16:creationId xmlns:a16="http://schemas.microsoft.com/office/drawing/2014/main" id="{3229E7E6-A22F-4BD6-8344-C7A7C0013594}"/>
              </a:ext>
            </a:extLst>
          </p:cNvPr>
          <p:cNvSpPr>
            <a:spLocks xmlns:a="http://schemas.openxmlformats.org/drawingml/2006/main" noGrp="1"/>
          </p:cNvSpPr>
          <p:nvPr/>
        </p:nvSpPr>
        <p:spPr>
          <a:xfrm xmlns:a="http://schemas.openxmlformats.org/drawingml/2006/main">
            <a:off x="3810000" y="2000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Immediate and familiar</a:t>
            </a:r>
          </a:p>
        </p:txBody>
      </p:sp>
      <p:sp>
        <p:nvSpPr>
          <p:cNvPr id="8" name="">
            <a:extLst xmlns:a="http://schemas.openxmlformats.org/drawingml/2006/main">
              <a:ext uri="{FF2B5EF4-FFF2-40B4-BE49-F238E27FC236}">
                <a16:creationId xmlns:a16="http://schemas.microsoft.com/office/drawing/2014/main" id="{D2AAB063-E093-4E6B-A7BB-A19F0F423F5F}"/>
              </a:ext>
            </a:extLst>
          </p:cNvPr>
          <p:cNvSpPr>
            <a:spLocks xmlns:a="http://schemas.openxmlformats.org/drawingml/2006/main" noGrp="1"/>
          </p:cNvSpPr>
          <p:nvPr/>
        </p:nvSpPr>
        <p:spPr>
          <a:xfrm xmlns:a="http://schemas.openxmlformats.org/drawingml/2006/main">
            <a:off x="6858000" y="19812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Hard to compare constraints, alternatives and audit consistently</a:t>
            </a:r>
          </a:p>
        </p:txBody>
      </p:sp>
      <p:sp>
        <p:nvSpPr>
          <p:cNvPr id="9" name="">
            <a:extLst xmlns:a="http://schemas.openxmlformats.org/drawingml/2006/main">
              <a:ext uri="{FF2B5EF4-FFF2-40B4-BE49-F238E27FC236}">
                <a16:creationId xmlns:a16="http://schemas.microsoft.com/office/drawing/2014/main" id="{6F32F20B-994C-4FD8-831A-07BA07B93F2D}"/>
              </a:ext>
            </a:extLst>
          </p:cNvPr>
          <p:cNvSpPr>
            <a:spLocks xmlns:a="http://schemas.openxmlformats.org/drawingml/2006/main" noGrp="1"/>
          </p:cNvSpPr>
          <p:nvPr/>
        </p:nvSpPr>
        <p:spPr>
          <a:xfrm xmlns:a="http://schemas.openxmlformats.org/drawingml/2006/main">
            <a:off x="685800" y="28384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0" name="">
            <a:extLst xmlns:a="http://schemas.openxmlformats.org/drawingml/2006/main">
              <a:ext uri="{FF2B5EF4-FFF2-40B4-BE49-F238E27FC236}">
                <a16:creationId xmlns:a16="http://schemas.microsoft.com/office/drawing/2014/main" id="{22247200-03CB-48B9-8BAD-D27198E352C7}"/>
              </a:ext>
            </a:extLst>
          </p:cNvPr>
          <p:cNvSpPr>
            <a:spLocks xmlns:a="http://schemas.openxmlformats.org/drawingml/2006/main" noGrp="1"/>
          </p:cNvSpPr>
          <p:nvPr/>
        </p:nvSpPr>
        <p:spPr>
          <a:xfrm xmlns:a="http://schemas.openxmlformats.org/drawingml/2006/main">
            <a:off x="685800" y="3048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990"/>
          </a:bodyPr>
          <a:lstStyle xmlns:a="http://schemas.openxmlformats.org/drawingml/2006/main"/>
          <a:p xmlns:a="http://schemas.openxmlformats.org/drawingml/2006/main">
            <a:pPr algn="l">
              <a:lnSpc>
                <a:spcPct val="100000"/>
              </a:lnSpc>
              <a:buNone/>
              <a:defRPr sz="1800" b="1">
                <a:solidFill>
                  <a:srgbClr val="0F766E"/>
                </a:solidFill>
                <a:latin typeface="Arial"/>
                <a:ea typeface="Arial"/>
                <a:cs typeface="Arial"/>
              </a:defRPr>
            </a:pPr>
            <a:r>
              <a:rPr sz="1800" b="1">
                <a:solidFill>
                  <a:srgbClr val="0F766E"/>
                </a:solidFill>
                <a:latin typeface="Arial"/>
                <a:ea typeface="Arial"/>
                <a:cs typeface="Arial"/>
              </a:rPr>
              <a:t>ERP · MES · APS · virtual twin</a:t>
            </a:r>
          </a:p>
        </p:txBody>
      </p:sp>
      <p:sp>
        <p:nvSpPr>
          <p:cNvPr id="11" name="">
            <a:extLst xmlns:a="http://schemas.openxmlformats.org/drawingml/2006/main">
              <a:ext uri="{FF2B5EF4-FFF2-40B4-BE49-F238E27FC236}">
                <a16:creationId xmlns:a16="http://schemas.microsoft.com/office/drawing/2014/main" id="{B4206DAF-BFE1-4CBD-A399-8EE9347C2B73}"/>
              </a:ext>
            </a:extLst>
          </p:cNvPr>
          <p:cNvSpPr>
            <a:spLocks xmlns:a="http://schemas.openxmlformats.org/drawingml/2006/main" noGrp="1"/>
          </p:cNvSpPr>
          <p:nvPr/>
        </p:nvSpPr>
        <p:spPr>
          <a:xfrm xmlns:a="http://schemas.openxmlformats.org/drawingml/2006/main">
            <a:off x="3810000" y="3048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97"/>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Broad, mature and integration-ready</a:t>
            </a:r>
          </a:p>
        </p:txBody>
      </p:sp>
      <p:sp>
        <p:nvSpPr>
          <p:cNvPr id="12" name="">
            <a:extLst xmlns:a="http://schemas.openxmlformats.org/drawingml/2006/main">
              <a:ext uri="{FF2B5EF4-FFF2-40B4-BE49-F238E27FC236}">
                <a16:creationId xmlns:a16="http://schemas.microsoft.com/office/drawing/2014/main" id="{3C81BE02-8890-4467-A83F-270F88DC8266}"/>
              </a:ext>
            </a:extLst>
          </p:cNvPr>
          <p:cNvSpPr>
            <a:spLocks xmlns:a="http://schemas.openxmlformats.org/drawingml/2006/main" noGrp="1"/>
          </p:cNvSpPr>
          <p:nvPr/>
        </p:nvSpPr>
        <p:spPr>
          <a:xfrm xmlns:a="http://schemas.openxmlformats.org/drawingml/2006/main">
            <a:off x="6858000" y="302895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A larger deployment and data foundation than our first adoption wedge</a:t>
            </a:r>
          </a:p>
        </p:txBody>
      </p:sp>
      <p:sp>
        <p:nvSpPr>
          <p:cNvPr id="13" name="">
            <a:extLst xmlns:a="http://schemas.openxmlformats.org/drawingml/2006/main">
              <a:ext uri="{FF2B5EF4-FFF2-40B4-BE49-F238E27FC236}">
                <a16:creationId xmlns:a16="http://schemas.microsoft.com/office/drawing/2014/main" id="{572B964D-508C-4ECB-B11D-7D3DFD9EC9F7}"/>
              </a:ext>
            </a:extLst>
          </p:cNvPr>
          <p:cNvSpPr>
            <a:spLocks xmlns:a="http://schemas.openxmlformats.org/drawingml/2006/main" noGrp="1"/>
          </p:cNvSpPr>
          <p:nvPr/>
        </p:nvSpPr>
        <p:spPr>
          <a:xfrm xmlns:a="http://schemas.openxmlformats.org/drawingml/2006/main">
            <a:off x="685800" y="3886200"/>
            <a:ext cx="10820400" cy="0"/>
          </a:xfrm>
          <a:prstGeom xmlns:a="http://schemas.openxmlformats.org/drawingml/2006/main" prst="line">
            <a:avLst/>
          </a:prstGeom>
          <a:noFill xmlns:a="http://schemas.openxmlformats.org/drawingml/2006/main"/>
          <a:ln xmlns:a="http://schemas.openxmlformats.org/drawingml/2006/main" w="38100">
            <a:solidFill>
              <a:srgbClr val="C9F36B"/>
            </a:solidFill>
            <a:prstDash val="solid"/>
          </a:ln>
        </p:spPr>
      </p:sp>
      <p:sp>
        <p:nvSpPr>
          <p:cNvPr id="14" name="">
            <a:extLst xmlns:a="http://schemas.openxmlformats.org/drawingml/2006/main">
              <a:ext uri="{FF2B5EF4-FFF2-40B4-BE49-F238E27FC236}">
                <a16:creationId xmlns:a16="http://schemas.microsoft.com/office/drawing/2014/main" id="{620216F8-2366-4315-8721-372D8F8EC4C6}"/>
              </a:ext>
            </a:extLst>
          </p:cNvPr>
          <p:cNvSpPr>
            <a:spLocks xmlns:a="http://schemas.openxmlformats.org/drawingml/2006/main" noGrp="1"/>
          </p:cNvSpPr>
          <p:nvPr/>
        </p:nvSpPr>
        <p:spPr>
          <a:xfrm xmlns:a="http://schemas.openxmlformats.org/drawingml/2006/main">
            <a:off x="685800" y="4095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2925"/>
                </a:solidFill>
                <a:latin typeface="Arial"/>
                <a:ea typeface="Arial"/>
                <a:cs typeface="Arial"/>
              </a:defRPr>
            </a:pPr>
            <a:r>
              <a:rPr sz="1800" b="1">
                <a:solidFill>
                  <a:srgbClr val="092925"/>
                </a:solidFill>
                <a:latin typeface="Arial"/>
                <a:ea typeface="Arial"/>
                <a:cs typeface="Arial"/>
              </a:rPr>
              <a:t>CableTwin</a:t>
            </a:r>
          </a:p>
        </p:txBody>
      </p:sp>
      <p:sp>
        <p:nvSpPr>
          <p:cNvPr id="15" name="">
            <a:extLst xmlns:a="http://schemas.openxmlformats.org/drawingml/2006/main">
              <a:ext uri="{FF2B5EF4-FFF2-40B4-BE49-F238E27FC236}">
                <a16:creationId xmlns:a16="http://schemas.microsoft.com/office/drawing/2014/main" id="{5A3FB4C2-4166-41C5-8A6F-6DBF78E2A002}"/>
              </a:ext>
            </a:extLst>
          </p:cNvPr>
          <p:cNvSpPr>
            <a:spLocks xmlns:a="http://schemas.openxmlformats.org/drawingml/2006/main" noGrp="1"/>
          </p:cNvSpPr>
          <p:nvPr/>
        </p:nvSpPr>
        <p:spPr>
          <a:xfrm xmlns:a="http://schemas.openxmlformats.org/drawingml/2006/main">
            <a:off x="3810000" y="4095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42"/>
          </a:bodyPr>
          <a:lstStyle xmlns:a="http://schemas.openxmlformats.org/drawingml/2006/main"/>
          <a:p xmlns:a="http://schemas.openxmlformats.org/drawingml/2006/main">
            <a:pPr algn="l">
              <a:lnSpc>
                <a:spcPct val="100000"/>
              </a:lnSpc>
              <a:buNone/>
              <a:defRPr sz="1350" b="1">
                <a:solidFill>
                  <a:srgbClr val="10221F"/>
                </a:solidFill>
                <a:latin typeface="Arial"/>
                <a:ea typeface="Arial"/>
                <a:cs typeface="Arial"/>
              </a:defRPr>
            </a:pPr>
            <a:r>
              <a:rPr sz="1350" b="1">
                <a:solidFill>
                  <a:srgbClr val="10221F"/>
                </a:solidFill>
                <a:latin typeface="Arial"/>
                <a:ea typeface="Arial"/>
                <a:cs typeface="Arial"/>
              </a:rPr>
              <a:t>One disruption · three verified routes</a:t>
            </a:r>
          </a:p>
        </p:txBody>
      </p:sp>
      <p:sp>
        <p:nvSpPr>
          <p:cNvPr id="16" name="">
            <a:extLst xmlns:a="http://schemas.openxmlformats.org/drawingml/2006/main">
              <a:ext uri="{FF2B5EF4-FFF2-40B4-BE49-F238E27FC236}">
                <a16:creationId xmlns:a16="http://schemas.microsoft.com/office/drawing/2014/main" id="{19544A0C-3862-4861-B25B-7464596087E3}"/>
              </a:ext>
            </a:extLst>
          </p:cNvPr>
          <p:cNvSpPr>
            <a:spLocks xmlns:a="http://schemas.openxmlformats.org/drawingml/2006/main" noGrp="1"/>
          </p:cNvSpPr>
          <p:nvPr/>
        </p:nvSpPr>
        <p:spPr>
          <a:xfrm xmlns:a="http://schemas.openxmlformats.org/drawingml/2006/main">
            <a:off x="6858000" y="4076700"/>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3645F"/>
                </a:solidFill>
                <a:latin typeface="Arial"/>
                <a:ea typeface="Arial"/>
                <a:cs typeface="Arial"/>
              </a:defRPr>
            </a:pPr>
            <a:r>
              <a:rPr sz="1200" b="0">
                <a:solidFill>
                  <a:srgbClr val="53645F"/>
                </a:solidFill>
                <a:latin typeface="Arial"/>
                <a:ea typeface="Arial"/>
                <a:cs typeface="Arial"/>
              </a:rPr>
              <a:t>Local read-only shadow mode; integrate where useful - step aside where existing APS already solves it</a:t>
            </a:r>
          </a:p>
        </p:txBody>
      </p:sp>
      <p:sp>
        <p:nvSpPr>
          <p:cNvPr id="17" name="">
            <a:extLst xmlns:a="http://schemas.openxmlformats.org/drawingml/2006/main">
              <a:ext uri="{FF2B5EF4-FFF2-40B4-BE49-F238E27FC236}">
                <a16:creationId xmlns:a16="http://schemas.microsoft.com/office/drawing/2014/main" id="{A6316E0B-16E2-4DC7-8D8F-1589B454245D}"/>
              </a:ext>
            </a:extLst>
          </p:cNvPr>
          <p:cNvSpPr>
            <a:spLocks xmlns:a="http://schemas.openxmlformats.org/drawingml/2006/main" noGrp="1"/>
          </p:cNvSpPr>
          <p:nvPr/>
        </p:nvSpPr>
        <p:spPr>
          <a:xfrm xmlns:a="http://schemas.openxmlformats.org/drawingml/2006/main">
            <a:off x="685800" y="5410200"/>
            <a:ext cx="10820400" cy="552450"/>
          </a:xfrm>
          <a:prstGeom xmlns:a="http://schemas.openxmlformats.org/drawingml/2006/main" prst="roundRect">
            <a:avLst>
              <a:gd name="adj" fmla="val 20690"/>
            </a:avLst>
          </a:prstGeom>
          <a:solidFill xmlns:a="http://schemas.openxmlformats.org/drawingml/2006/main">
            <a:srgbClr val="09292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0DB15D2-7699-4A6A-84D9-19AD0661BD3C}"/>
              </a:ext>
            </a:extLst>
          </p:cNvPr>
          <p:cNvSpPr>
            <a:spLocks xmlns:a="http://schemas.openxmlformats.org/drawingml/2006/main" noGrp="1"/>
          </p:cNvSpPr>
          <p:nvPr/>
        </p:nvSpPr>
        <p:spPr>
          <a:xfrm xmlns:a="http://schemas.openxmlformats.org/drawingml/2006/main">
            <a:off x="876300" y="5572125"/>
            <a:ext cx="1043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9F36B"/>
                </a:solidFill>
                <a:latin typeface="Arial"/>
                <a:ea typeface="Arial"/>
                <a:cs typeface="Arial"/>
              </a:defRPr>
            </a:pPr>
            <a:r>
              <a:rPr sz="1275" b="1">
                <a:solidFill>
                  <a:srgbClr val="C9F36B"/>
                </a:solidFill>
                <a:latin typeface="Arial"/>
                <a:ea typeface="Arial"/>
                <a:cs typeface="Arial"/>
              </a:rPr>
              <a:t>Differentiation = deterministic planner + advisory ML + separate bounded verifier + explicit human authority</a:t>
            </a:r>
          </a:p>
        </p:txBody>
      </p:sp>
      <p:sp>
        <p:nvSpPr>
          <p:cNvPr id="19" name="">
            <a:extLst xmlns:a="http://schemas.openxmlformats.org/drawingml/2006/main">
              <a:ext uri="{FF2B5EF4-FFF2-40B4-BE49-F238E27FC236}">
                <a16:creationId xmlns:a16="http://schemas.microsoft.com/office/drawing/2014/main" id="{3D7DE9AD-F37D-4CE1-957E-574BB3B111B8}"/>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
        <p:nvSpPr>
          <p:cNvPr id="20" name="">
            <a:extLst xmlns:a="http://schemas.openxmlformats.org/drawingml/2006/main">
              <a:ext uri="{FF2B5EF4-FFF2-40B4-BE49-F238E27FC236}">
                <a16:creationId xmlns:a16="http://schemas.microsoft.com/office/drawing/2014/main" id="{DB0CC13C-DD29-4FC3-8AD5-5163C5E25294}"/>
              </a:ext>
            </a:extLst>
          </p:cNvPr>
          <p:cNvSpPr>
            <a:spLocks xmlns:a="http://schemas.openxmlformats.org/drawingml/2006/main" noGrp="1"/>
          </p:cNvSpPr>
          <p:nvPr/>
        </p:nvSpPr>
        <p:spPr>
          <a:xfrm xmlns:a="http://schemas.openxmlformats.org/drawingml/2006/main">
            <a:off x="7334250" y="6515100"/>
            <a:ext cx="4171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53645F"/>
                </a:solidFill>
                <a:latin typeface="Arial"/>
                <a:ea typeface="Arial"/>
                <a:cs typeface="Arial"/>
              </a:defRPr>
            </a:pPr>
            <a:r>
              <a:rPr sz="750" b="0">
                <a:solidFill>
                  <a:srgbClr val="53645F"/>
                </a:solidFill>
                <a:latin typeface="Arial"/>
                <a:ea typeface="Arial"/>
                <a:cs typeface="Arial"/>
              </a:rPr>
              <a:t>Sources: Siemens Opcenter APS · Dassault Systèmes DELMIA Ortems</a:t>
            </a:r>
          </a:p>
        </p:txBody>
      </p:sp>
    </p:spTree>
    <p:extLst>
      <p:ext uri="{BB962C8B-B14F-4D97-AF65-F5344CB8AC3E}">
        <p14:creationId xmlns:p14="http://schemas.microsoft.com/office/powerpoint/2010/main" val="1962882764"/>
      </p:ext>
    </p:extLst>
  </p:cSld>
</p:sld>
</file>

<file path=ppt/slides/slide8.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AFE1C51-7627-4A57-8587-AFB2E8B5AC15}"/>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B770EF7D-CEB5-466B-AAE9-C894F7E35AE8}"/>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2C589DF-6168-40F6-860A-D3E16444FA32}"/>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E3A1A214-99AF-44CA-91DD-37D52D35A3E6}"/>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One accountable builder delivered the full loop.</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084610c6f944d60"/>
          <a:stretch xmlns:a="http://schemas.openxmlformats.org/drawingml/2006/main"/>
        </p:blipFill>
        <p:spPr>
          <a:xfrm xmlns:a="http://schemas.openxmlformats.org/drawingml/2006/main">
            <a:off x="723900" y="1952625"/>
            <a:ext cx="1333500" cy="133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869958-0744-4A1B-8136-AF9A2940B166}"/>
              </a:ext>
            </a:extLst>
          </p:cNvPr>
          <p:cNvSpPr>
            <a:spLocks xmlns:a="http://schemas.openxmlformats.org/drawingml/2006/main" noGrp="1"/>
          </p:cNvSpPr>
          <p:nvPr/>
        </p:nvSpPr>
        <p:spPr>
          <a:xfrm xmlns:a="http://schemas.openxmlformats.org/drawingml/2006/main">
            <a:off x="685800" y="35623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C9F36B"/>
                </a:solidFill>
                <a:latin typeface="Arial"/>
                <a:ea typeface="Arial"/>
                <a:cs typeface="Arial"/>
              </a:defRPr>
            </a:pPr>
            <a:r>
              <a:rPr sz="2550" b="1">
                <a:solidFill>
                  <a:srgbClr val="C9F36B"/>
                </a:solidFill>
                <a:latin typeface="Arial"/>
                <a:ea typeface="Arial"/>
                <a:cs typeface="Arial"/>
              </a:rPr>
              <a:t>Oussama Akir</a:t>
            </a:r>
          </a:p>
        </p:txBody>
      </p:sp>
      <p:sp>
        <p:nvSpPr>
          <p:cNvPr id="7" name="">
            <a:extLst xmlns:a="http://schemas.openxmlformats.org/drawingml/2006/main">
              <a:ext uri="{FF2B5EF4-FFF2-40B4-BE49-F238E27FC236}">
                <a16:creationId xmlns:a16="http://schemas.microsoft.com/office/drawing/2014/main" id="{B61AC939-A6C8-489D-9466-92EB04C43F0D}"/>
              </a:ext>
            </a:extLst>
          </p:cNvPr>
          <p:cNvSpPr>
            <a:spLocks xmlns:a="http://schemas.openxmlformats.org/drawingml/2006/main" noGrp="1"/>
          </p:cNvSpPr>
          <p:nvPr/>
        </p:nvSpPr>
        <p:spPr>
          <a:xfrm xmlns:a="http://schemas.openxmlformats.org/drawingml/2006/main">
            <a:off x="6858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8FA8A2"/>
                </a:solidFill>
                <a:latin typeface="Arial"/>
                <a:ea typeface="Arial"/>
                <a:cs typeface="Arial"/>
              </a:defRPr>
            </a:pPr>
            <a:r>
              <a:rPr sz="1350" b="0">
                <a:solidFill>
                  <a:srgbClr val="8FA8A2"/>
                </a:solidFill>
                <a:latin typeface="Arial"/>
                <a:ea typeface="Arial"/>
                <a:cs typeface="Arial"/>
              </a:rPr>
              <a:t>SUPCOM · solo participant</a:t>
            </a:r>
          </a:p>
        </p:txBody>
      </p:sp>
      <p:sp>
        <p:nvSpPr>
          <p:cNvPr id="8" name="">
            <a:extLst xmlns:a="http://schemas.openxmlformats.org/drawingml/2006/main">
              <a:ext uri="{FF2B5EF4-FFF2-40B4-BE49-F238E27FC236}">
                <a16:creationId xmlns:a16="http://schemas.microsoft.com/office/drawing/2014/main" id="{69CBF7C2-EC32-4FFE-A119-10705DB55A52}"/>
              </a:ext>
            </a:extLst>
          </p:cNvPr>
          <p:cNvSpPr>
            <a:spLocks xmlns:a="http://schemas.openxmlformats.org/drawingml/2006/main" noGrp="1"/>
          </p:cNvSpPr>
          <p:nvPr/>
        </p:nvSpPr>
        <p:spPr>
          <a:xfrm xmlns:a="http://schemas.openxmlformats.org/drawingml/2006/main">
            <a:off x="685800" y="45434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5F4ED"/>
                </a:solidFill>
                <a:latin typeface="Arial"/>
                <a:ea typeface="Arial"/>
                <a:cs typeface="Arial"/>
              </a:defRPr>
            </a:pPr>
            <a:r>
              <a:rPr sz="1425" b="0">
                <a:solidFill>
                  <a:srgbClr val="F5F4ED"/>
                </a:solidFill>
                <a:latin typeface="Arial"/>
                <a:ea typeface="Arial"/>
                <a:cs typeface="Arial"/>
              </a:rPr>
              <a:t>Product · industrial workflow · constraint engine · ML · verification · isometric twin · deployment · evidence</a:t>
            </a:r>
          </a:p>
        </p:txBody>
      </p:sp>
      <p:sp>
        <p:nvSpPr>
          <p:cNvPr id="9" name="">
            <a:extLst xmlns:a="http://schemas.openxmlformats.org/drawingml/2006/main">
              <a:ext uri="{FF2B5EF4-FFF2-40B4-BE49-F238E27FC236}">
                <a16:creationId xmlns:a16="http://schemas.microsoft.com/office/drawing/2014/main" id="{F58D8C07-28D6-4209-A301-0FF4BBA9AAA0}"/>
              </a:ext>
            </a:extLst>
          </p:cNvPr>
          <p:cNvSpPr>
            <a:spLocks xmlns:a="http://schemas.openxmlformats.org/drawingml/2006/main" noGrp="1"/>
          </p:cNvSpPr>
          <p:nvPr/>
        </p:nvSpPr>
        <p:spPr>
          <a:xfrm xmlns:a="http://schemas.openxmlformats.org/drawingml/2006/main">
            <a:off x="4095750" y="2333625"/>
            <a:ext cx="66675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F0734031-EB49-4691-85EA-7E55FCB7CD02}"/>
              </a:ext>
            </a:extLst>
          </p:cNvPr>
          <p:cNvSpPr>
            <a:spLocks xmlns:a="http://schemas.openxmlformats.org/drawingml/2006/main" noGrp="1"/>
          </p:cNvSpPr>
          <p:nvPr/>
        </p:nvSpPr>
        <p:spPr>
          <a:xfrm xmlns:a="http://schemas.openxmlformats.org/drawingml/2006/main">
            <a:off x="40957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8E0211-ED6A-4CBF-82C2-485D3A7EAD93}"/>
              </a:ext>
            </a:extLst>
          </p:cNvPr>
          <p:cNvSpPr>
            <a:spLocks xmlns:a="http://schemas.openxmlformats.org/drawingml/2006/main" noGrp="1"/>
          </p:cNvSpPr>
          <p:nvPr/>
        </p:nvSpPr>
        <p:spPr>
          <a:xfrm xmlns:a="http://schemas.openxmlformats.org/drawingml/2006/main">
            <a:off x="37719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PHASE 1</a:t>
            </a:r>
          </a:p>
        </p:txBody>
      </p:sp>
      <p:sp>
        <p:nvSpPr>
          <p:cNvPr id="12" name="">
            <a:extLst xmlns:a="http://schemas.openxmlformats.org/drawingml/2006/main">
              <a:ext uri="{FF2B5EF4-FFF2-40B4-BE49-F238E27FC236}">
                <a16:creationId xmlns:a16="http://schemas.microsoft.com/office/drawing/2014/main" id="{E51DA231-3DDE-43FD-871E-B8D8BBA7B472}"/>
              </a:ext>
            </a:extLst>
          </p:cNvPr>
          <p:cNvSpPr>
            <a:spLocks xmlns:a="http://schemas.openxmlformats.org/drawingml/2006/main" noGrp="1"/>
          </p:cNvSpPr>
          <p:nvPr/>
        </p:nvSpPr>
        <p:spPr>
          <a:xfrm xmlns:a="http://schemas.openxmlformats.org/drawingml/2006/main">
            <a:off x="36766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Focus</a:t>
            </a:r>
          </a:p>
        </p:txBody>
      </p:sp>
      <p:sp>
        <p:nvSpPr>
          <p:cNvPr id="13" name="">
            <a:extLst xmlns:a="http://schemas.openxmlformats.org/drawingml/2006/main">
              <a:ext uri="{FF2B5EF4-FFF2-40B4-BE49-F238E27FC236}">
                <a16:creationId xmlns:a16="http://schemas.microsoft.com/office/drawing/2014/main" id="{5E61F788-B08A-4DA5-A394-4F176D750C6D}"/>
              </a:ext>
            </a:extLst>
          </p:cNvPr>
          <p:cNvSpPr>
            <a:spLocks xmlns:a="http://schemas.openxmlformats.org/drawingml/2006/main" noGrp="1"/>
          </p:cNvSpPr>
          <p:nvPr/>
        </p:nvSpPr>
        <p:spPr>
          <a:xfrm xmlns:a="http://schemas.openxmlformats.org/drawingml/2006/main">
            <a:off x="35814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One stoppage decision</a:t>
            </a:r>
          </a:p>
        </p:txBody>
      </p:sp>
      <p:sp>
        <p:nvSpPr>
          <p:cNvPr id="14" name="">
            <a:extLst xmlns:a="http://schemas.openxmlformats.org/drawingml/2006/main">
              <a:ext uri="{FF2B5EF4-FFF2-40B4-BE49-F238E27FC236}">
                <a16:creationId xmlns:a16="http://schemas.microsoft.com/office/drawing/2014/main" id="{0E328123-C371-4460-A841-FEB8082C2D85}"/>
              </a:ext>
            </a:extLst>
          </p:cNvPr>
          <p:cNvSpPr>
            <a:spLocks xmlns:a="http://schemas.openxmlformats.org/drawingml/2006/main" noGrp="1"/>
          </p:cNvSpPr>
          <p:nvPr/>
        </p:nvSpPr>
        <p:spPr>
          <a:xfrm xmlns:a="http://schemas.openxmlformats.org/drawingml/2006/main">
            <a:off x="628650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2EC737-A820-41FC-B348-760C01901DDF}"/>
              </a:ext>
            </a:extLst>
          </p:cNvPr>
          <p:cNvSpPr>
            <a:spLocks xmlns:a="http://schemas.openxmlformats.org/drawingml/2006/main" noGrp="1"/>
          </p:cNvSpPr>
          <p:nvPr/>
        </p:nvSpPr>
        <p:spPr>
          <a:xfrm xmlns:a="http://schemas.openxmlformats.org/drawingml/2006/main">
            <a:off x="59626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2</a:t>
            </a:r>
          </a:p>
        </p:txBody>
      </p:sp>
      <p:sp>
        <p:nvSpPr>
          <p:cNvPr id="16" name="">
            <a:extLst xmlns:a="http://schemas.openxmlformats.org/drawingml/2006/main">
              <a:ext uri="{FF2B5EF4-FFF2-40B4-BE49-F238E27FC236}">
                <a16:creationId xmlns:a16="http://schemas.microsoft.com/office/drawing/2014/main" id="{0DFFCBBA-DC91-4FCC-A290-285F0F442CE2}"/>
              </a:ext>
            </a:extLst>
          </p:cNvPr>
          <p:cNvSpPr>
            <a:spLocks xmlns:a="http://schemas.openxmlformats.org/drawingml/2006/main" noGrp="1"/>
          </p:cNvSpPr>
          <p:nvPr/>
        </p:nvSpPr>
        <p:spPr>
          <a:xfrm xmlns:a="http://schemas.openxmlformats.org/drawingml/2006/main">
            <a:off x="58674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Build</a:t>
            </a:r>
          </a:p>
        </p:txBody>
      </p:sp>
      <p:sp>
        <p:nvSpPr>
          <p:cNvPr id="17" name="">
            <a:extLst xmlns:a="http://schemas.openxmlformats.org/drawingml/2006/main">
              <a:ext uri="{FF2B5EF4-FFF2-40B4-BE49-F238E27FC236}">
                <a16:creationId xmlns:a16="http://schemas.microsoft.com/office/drawing/2014/main" id="{1FF4D804-2FBC-4783-BDC4-ECD00D102791}"/>
              </a:ext>
            </a:extLst>
          </p:cNvPr>
          <p:cNvSpPr>
            <a:spLocks xmlns:a="http://schemas.openxmlformats.org/drawingml/2006/main" noGrp="1"/>
          </p:cNvSpPr>
          <p:nvPr/>
        </p:nvSpPr>
        <p:spPr>
          <a:xfrm xmlns:a="http://schemas.openxmlformats.org/drawingml/2006/main">
            <a:off x="57721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Public twin + evidence</a:t>
            </a:r>
          </a:p>
        </p:txBody>
      </p:sp>
      <p:sp>
        <p:nvSpPr>
          <p:cNvPr id="18" name="">
            <a:extLst xmlns:a="http://schemas.openxmlformats.org/drawingml/2006/main">
              <a:ext uri="{FF2B5EF4-FFF2-40B4-BE49-F238E27FC236}">
                <a16:creationId xmlns:a16="http://schemas.microsoft.com/office/drawing/2014/main" id="{B346356B-7FA3-4507-984B-1732612470ED}"/>
              </a:ext>
            </a:extLst>
          </p:cNvPr>
          <p:cNvSpPr>
            <a:spLocks xmlns:a="http://schemas.openxmlformats.org/drawingml/2006/main" noGrp="1"/>
          </p:cNvSpPr>
          <p:nvPr/>
        </p:nvSpPr>
        <p:spPr>
          <a:xfrm xmlns:a="http://schemas.openxmlformats.org/drawingml/2006/main">
            <a:off x="8477250" y="2133600"/>
            <a:ext cx="400050" cy="400050"/>
          </a:xfrm>
          <a:prstGeom xmlns:a="http://schemas.openxmlformats.org/drawingml/2006/main" prst="ellipse">
            <a:avLst/>
          </a:prstGeom>
          <a:solidFill xmlns:a="http://schemas.openxmlformats.org/drawingml/2006/main">
            <a:srgbClr val="C9F36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0F640CD-DEA9-42F4-9BB2-A9B57E1BC2EC}"/>
              </a:ext>
            </a:extLst>
          </p:cNvPr>
          <p:cNvSpPr>
            <a:spLocks xmlns:a="http://schemas.openxmlformats.org/drawingml/2006/main" noGrp="1"/>
          </p:cNvSpPr>
          <p:nvPr/>
        </p:nvSpPr>
        <p:spPr>
          <a:xfrm xmlns:a="http://schemas.openxmlformats.org/drawingml/2006/main">
            <a:off x="815340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C9F36B"/>
                </a:solidFill>
                <a:latin typeface="Arial"/>
                <a:ea typeface="Arial"/>
                <a:cs typeface="Arial"/>
              </a:defRPr>
            </a:pPr>
            <a:r>
              <a:rPr sz="900" b="1">
                <a:solidFill>
                  <a:srgbClr val="C9F36B"/>
                </a:solidFill>
                <a:latin typeface="Arial"/>
                <a:ea typeface="Arial"/>
                <a:cs typeface="Arial"/>
              </a:rPr>
              <a:t>DAY 3</a:t>
            </a:r>
          </a:p>
        </p:txBody>
      </p:sp>
      <p:sp>
        <p:nvSpPr>
          <p:cNvPr id="20" name="">
            <a:extLst xmlns:a="http://schemas.openxmlformats.org/drawingml/2006/main">
              <a:ext uri="{FF2B5EF4-FFF2-40B4-BE49-F238E27FC236}">
                <a16:creationId xmlns:a16="http://schemas.microsoft.com/office/drawing/2014/main" id="{D2180CB9-7310-4189-84C4-D1017DD4319A}"/>
              </a:ext>
            </a:extLst>
          </p:cNvPr>
          <p:cNvSpPr>
            <a:spLocks xmlns:a="http://schemas.openxmlformats.org/drawingml/2006/main" noGrp="1"/>
          </p:cNvSpPr>
          <p:nvPr/>
        </p:nvSpPr>
        <p:spPr>
          <a:xfrm xmlns:a="http://schemas.openxmlformats.org/drawingml/2006/main">
            <a:off x="805815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Defend</a:t>
            </a:r>
          </a:p>
        </p:txBody>
      </p:sp>
      <p:sp>
        <p:nvSpPr>
          <p:cNvPr id="21" name="">
            <a:extLst xmlns:a="http://schemas.openxmlformats.org/drawingml/2006/main">
              <a:ext uri="{FF2B5EF4-FFF2-40B4-BE49-F238E27FC236}">
                <a16:creationId xmlns:a16="http://schemas.microsoft.com/office/drawing/2014/main" id="{5E99BF42-7274-4D06-A935-568F3702F708}"/>
              </a:ext>
            </a:extLst>
          </p:cNvPr>
          <p:cNvSpPr>
            <a:spLocks xmlns:a="http://schemas.openxmlformats.org/drawingml/2006/main" noGrp="1"/>
          </p:cNvSpPr>
          <p:nvPr/>
        </p:nvSpPr>
        <p:spPr>
          <a:xfrm xmlns:a="http://schemas.openxmlformats.org/drawingml/2006/main">
            <a:off x="796290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4-minute selection pitch</a:t>
            </a:r>
          </a:p>
        </p:txBody>
      </p:sp>
      <p:sp>
        <p:nvSpPr>
          <p:cNvPr id="22" name="">
            <a:extLst xmlns:a="http://schemas.openxmlformats.org/drawingml/2006/main">
              <a:ext uri="{FF2B5EF4-FFF2-40B4-BE49-F238E27FC236}">
                <a16:creationId xmlns:a16="http://schemas.microsoft.com/office/drawing/2014/main" id="{EA0DC193-C4E5-408A-9191-1561491280CE}"/>
              </a:ext>
            </a:extLst>
          </p:cNvPr>
          <p:cNvSpPr>
            <a:spLocks xmlns:a="http://schemas.openxmlformats.org/drawingml/2006/main" noGrp="1"/>
          </p:cNvSpPr>
          <p:nvPr/>
        </p:nvSpPr>
        <p:spPr>
          <a:xfrm xmlns:a="http://schemas.openxmlformats.org/drawingml/2006/main">
            <a:off x="10668000" y="2133600"/>
            <a:ext cx="400050" cy="400050"/>
          </a:xfrm>
          <a:prstGeom xmlns:a="http://schemas.openxmlformats.org/drawingml/2006/main" prst="ellipse">
            <a:avLst/>
          </a:prstGeom>
          <a:solidFill xmlns:a="http://schemas.openxmlformats.org/drawingml/2006/main">
            <a:srgbClr val="E976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1727670-14A0-4D23-B3E4-85FD94448C6F}"/>
              </a:ext>
            </a:extLst>
          </p:cNvPr>
          <p:cNvSpPr>
            <a:spLocks xmlns:a="http://schemas.openxmlformats.org/drawingml/2006/main" noGrp="1"/>
          </p:cNvSpPr>
          <p:nvPr/>
        </p:nvSpPr>
        <p:spPr>
          <a:xfrm xmlns:a="http://schemas.openxmlformats.org/drawingml/2006/main">
            <a:off x="10344150" y="27908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E9763B"/>
                </a:solidFill>
                <a:latin typeface="Arial"/>
                <a:ea typeface="Arial"/>
                <a:cs typeface="Arial"/>
              </a:defRPr>
            </a:pPr>
            <a:r>
              <a:rPr sz="900" b="1">
                <a:solidFill>
                  <a:srgbClr val="E9763B"/>
                </a:solidFill>
                <a:latin typeface="Arial"/>
                <a:ea typeface="Arial"/>
                <a:cs typeface="Arial"/>
              </a:rPr>
              <a:t>NEXT</a:t>
            </a:r>
          </a:p>
        </p:txBody>
      </p:sp>
      <p:sp>
        <p:nvSpPr>
          <p:cNvPr id="24" name="">
            <a:extLst xmlns:a="http://schemas.openxmlformats.org/drawingml/2006/main">
              <a:ext uri="{FF2B5EF4-FFF2-40B4-BE49-F238E27FC236}">
                <a16:creationId xmlns:a16="http://schemas.microsoft.com/office/drawing/2014/main" id="{13D49160-4DE7-4918-BB50-66B5EFB621A5}"/>
              </a:ext>
            </a:extLst>
          </p:cNvPr>
          <p:cNvSpPr>
            <a:spLocks xmlns:a="http://schemas.openxmlformats.org/drawingml/2006/main" noGrp="1"/>
          </p:cNvSpPr>
          <p:nvPr/>
        </p:nvSpPr>
        <p:spPr>
          <a:xfrm xmlns:a="http://schemas.openxmlformats.org/drawingml/2006/main">
            <a:off x="10248900" y="3143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5F4ED"/>
                </a:solidFill>
                <a:latin typeface="Arial"/>
                <a:ea typeface="Arial"/>
                <a:cs typeface="Arial"/>
              </a:defRPr>
            </a:pPr>
            <a:r>
              <a:rPr sz="1725" b="1">
                <a:solidFill>
                  <a:srgbClr val="F5F4E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0381DF40-CD59-4489-86BD-94331E39AB96}"/>
              </a:ext>
            </a:extLst>
          </p:cNvPr>
          <p:cNvSpPr>
            <a:spLocks xmlns:a="http://schemas.openxmlformats.org/drawingml/2006/main" noGrp="1"/>
          </p:cNvSpPr>
          <p:nvPr/>
        </p:nvSpPr>
        <p:spPr>
          <a:xfrm xmlns:a="http://schemas.openxmlformats.org/drawingml/2006/main">
            <a:off x="10153650" y="35623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Plant design partner</a:t>
            </a:r>
          </a:p>
        </p:txBody>
      </p:sp>
      <p:sp>
        <p:nvSpPr>
          <p:cNvPr id="26" name="">
            <a:extLst xmlns:a="http://schemas.openxmlformats.org/drawingml/2006/main">
              <a:ext uri="{FF2B5EF4-FFF2-40B4-BE49-F238E27FC236}">
                <a16:creationId xmlns:a16="http://schemas.microsoft.com/office/drawing/2014/main" id="{A1664A9B-4FD5-46AB-AC04-0A3D831BF9D8}"/>
              </a:ext>
            </a:extLst>
          </p:cNvPr>
          <p:cNvSpPr>
            <a:spLocks xmlns:a="http://schemas.openxmlformats.org/drawingml/2006/main" noGrp="1"/>
          </p:cNvSpPr>
          <p:nvPr/>
        </p:nvSpPr>
        <p:spPr>
          <a:xfrm xmlns:a="http://schemas.openxmlformats.org/drawingml/2006/main">
            <a:off x="4095750" y="4762500"/>
            <a:ext cx="7410450" cy="800100"/>
          </a:xfrm>
          <a:prstGeom xmlns:a="http://schemas.openxmlformats.org/drawingml/2006/main" prst="roundRect">
            <a:avLst>
              <a:gd name="adj" fmla="val 16667"/>
            </a:avLst>
          </a:prstGeom>
          <a:solidFill xmlns:a="http://schemas.openxmlformats.org/drawingml/2006/main">
            <a:srgbClr val="061E1B"/>
          </a:solidFill>
          <a:ln xmlns:a="http://schemas.openxmlformats.org/drawingml/2006/main" w="9525">
            <a:solidFill>
              <a:srgbClr val="0F766E"/>
            </a:solidFill>
            <a:prstDash val="solid"/>
          </a:ln>
        </p:spPr>
      </p:sp>
      <p:sp>
        <p:nvSpPr>
          <p:cNvPr id="27" name="">
            <a:extLst xmlns:a="http://schemas.openxmlformats.org/drawingml/2006/main">
              <a:ext uri="{FF2B5EF4-FFF2-40B4-BE49-F238E27FC236}">
                <a16:creationId xmlns:a16="http://schemas.microsoft.com/office/drawing/2014/main" id="{90E451F5-751F-41A6-B9D5-720520223CF8}"/>
              </a:ext>
            </a:extLst>
          </p:cNvPr>
          <p:cNvSpPr>
            <a:spLocks xmlns:a="http://schemas.openxmlformats.org/drawingml/2006/main" noGrp="1"/>
          </p:cNvSpPr>
          <p:nvPr/>
        </p:nvSpPr>
        <p:spPr>
          <a:xfrm xmlns:a="http://schemas.openxmlformats.org/drawingml/2006/main">
            <a:off x="4324350" y="4953000"/>
            <a:ext cx="695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ctr">
              <a:lnSpc>
                <a:spcPct val="100000"/>
              </a:lnSpc>
              <a:buNone/>
              <a:defRPr sz="1650" b="1">
                <a:solidFill>
                  <a:srgbClr val="F5F4ED"/>
                </a:solidFill>
                <a:latin typeface="Arial"/>
                <a:ea typeface="Arial"/>
                <a:cs typeface="Arial"/>
              </a:defRPr>
            </a:pPr>
            <a:r>
              <a:rPr sz="1650" b="1">
                <a:solidFill>
                  <a:srgbClr val="F5F4ED"/>
                </a:solidFill>
                <a:latin typeface="Arial"/>
                <a:ea typeface="Arial"/>
                <a:cs typeface="Arial"/>
              </a:rPr>
              <a:t>The next team extension is not a fictional org chart.</a:t>
            </a:r>
          </a:p>
        </p:txBody>
      </p:sp>
      <p:sp>
        <p:nvSpPr>
          <p:cNvPr id="28" name="">
            <a:extLst xmlns:a="http://schemas.openxmlformats.org/drawingml/2006/main">
              <a:ext uri="{FF2B5EF4-FFF2-40B4-BE49-F238E27FC236}">
                <a16:creationId xmlns:a16="http://schemas.microsoft.com/office/drawing/2014/main" id="{98532C92-F159-47B9-AE5B-B32D5D201D7E}"/>
              </a:ext>
            </a:extLst>
          </p:cNvPr>
          <p:cNvSpPr>
            <a:spLocks xmlns:a="http://schemas.openxmlformats.org/drawingml/2006/main" noGrp="1"/>
          </p:cNvSpPr>
          <p:nvPr/>
        </p:nvSpPr>
        <p:spPr>
          <a:xfrm xmlns:a="http://schemas.openxmlformats.org/drawingml/2006/main">
            <a:off x="4324350" y="5238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9F36B"/>
                </a:solidFill>
                <a:latin typeface="Arial"/>
                <a:ea typeface="Arial"/>
                <a:cs typeface="Arial"/>
              </a:defRPr>
            </a:pPr>
            <a:r>
              <a:rPr sz="1200" b="0">
                <a:solidFill>
                  <a:srgbClr val="C9F36B"/>
                </a:solidFill>
                <a:latin typeface="Arial"/>
                <a:ea typeface="Arial"/>
                <a:cs typeface="Arial"/>
              </a:rPr>
              <a:t>It is one real plant design partner and its production planner.</a:t>
            </a:r>
          </a:p>
        </p:txBody>
      </p:sp>
      <p:sp>
        <p:nvSpPr>
          <p:cNvPr id="29" name="">
            <a:extLst xmlns:a="http://schemas.openxmlformats.org/drawingml/2006/main">
              <a:ext uri="{FF2B5EF4-FFF2-40B4-BE49-F238E27FC236}">
                <a16:creationId xmlns:a16="http://schemas.microsoft.com/office/drawing/2014/main" id="{00753213-1064-4CC6-A45A-FC12853D592F}"/>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8FA8A2"/>
                </a:solidFill>
                <a:latin typeface="Arial"/>
                <a:ea typeface="Arial"/>
                <a:cs typeface="Arial"/>
              </a:defRPr>
            </a:pPr>
            <a:r>
              <a:rPr sz="825" b="0">
                <a:solidFill>
                  <a:srgbClr val="8FA8A2"/>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1915331131"/>
      </p:ext>
    </p:extLst>
  </p:cSld>
</p:sld>
</file>

<file path=ppt/slides/slide9.xml><?xml version="1.0" encoding="utf-8"?>
<p:sld xmlns:p="http://schemas.openxmlformats.org/presentationml/2006/main">
  <p:cSld>
    <p:bg>
      <p:bgPr>
        <a:solidFill xmlns:a="http://schemas.openxmlformats.org/drawingml/2006/main">
          <a:srgbClr val="F5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89A4E5-B49C-47E4-BF1D-B04F0605962C}"/>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0F766E"/>
                </a:solidFill>
                <a:latin typeface="Arial"/>
                <a:ea typeface="Arial"/>
                <a:cs typeface="Arial"/>
              </a:defRPr>
            </a:pPr>
            <a:r>
              <a:rPr sz="1050" b="1">
                <a:solidFill>
                  <a:srgbClr val="0F766E"/>
                </a:solidFill>
                <a:latin typeface="Arial"/>
                <a:ea typeface="Arial"/>
                <a:cs typeface="Arial"/>
              </a:rPr>
              <a:t>FINANCIALS / KEY FIGURES</a:t>
            </a:r>
          </a:p>
        </p:txBody>
      </p:sp>
      <p:sp>
        <p:nvSpPr>
          <p:cNvPr id="2" name="">
            <a:extLst xmlns:a="http://schemas.openxmlformats.org/drawingml/2006/main">
              <a:ext uri="{FF2B5EF4-FFF2-40B4-BE49-F238E27FC236}">
                <a16:creationId xmlns:a16="http://schemas.microsoft.com/office/drawing/2014/main" id="{1CF19549-0196-4E29-BA72-79434604DC6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3645F"/>
                </a:solidFill>
                <a:latin typeface="Arial"/>
                <a:ea typeface="Arial"/>
                <a:cs typeface="Arial"/>
              </a:defRPr>
            </a:pPr>
            <a:r>
              <a:rPr sz="1050" b="1">
                <a:solidFill>
                  <a:srgbClr val="53645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83C1F14-A926-4598-BA1E-73A02595C529}"/>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B7CAC4"/>
            </a:solidFill>
            <a:prstDash val="solid"/>
          </a:ln>
        </p:spPr>
      </p:sp>
      <p:sp>
        <p:nvSpPr>
          <p:cNvPr id="4" name="">
            <a:extLst xmlns:a="http://schemas.openxmlformats.org/drawingml/2006/main">
              <a:ext uri="{FF2B5EF4-FFF2-40B4-BE49-F238E27FC236}">
                <a16:creationId xmlns:a16="http://schemas.microsoft.com/office/drawing/2014/main" id="{F4F2B1BF-4B8A-4CFE-8B3C-3DEC80591577}"/>
              </a:ext>
            </a:extLst>
          </p:cNvPr>
          <p:cNvSpPr>
            <a:spLocks xmlns:a="http://schemas.openxmlformats.org/drawingml/2006/main" noGrp="1"/>
          </p:cNvSpPr>
          <p:nvPr/>
        </p:nvSpPr>
        <p:spPr>
          <a:xfrm xmlns:a="http://schemas.openxmlformats.org/drawingml/2006/main">
            <a:off x="685800" y="8953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850" b="1">
                <a:solidFill>
                  <a:srgbClr val="10221F"/>
                </a:solidFill>
                <a:latin typeface="Arial"/>
                <a:ea typeface="Arial"/>
                <a:cs typeface="Arial"/>
              </a:defRPr>
            </a:pPr>
            <a:r>
              <a:rPr sz="2850" b="1">
                <a:solidFill>
                  <a:srgbClr val="10221F"/>
                </a:solidFill>
                <a:latin typeface="Arial"/>
                <a:ea typeface="Arial"/>
                <a:cs typeface="Arial"/>
              </a:rPr>
              <a:t>No fantasy forecast: the first commercial numbers must be earned.</a:t>
            </a:r>
          </a:p>
        </p:txBody>
      </p:sp>
      <p:sp>
        <p:nvSpPr>
          <p:cNvPr id="5" name="">
            <a:extLst xmlns:a="http://schemas.openxmlformats.org/drawingml/2006/main">
              <a:ext uri="{FF2B5EF4-FFF2-40B4-BE49-F238E27FC236}">
                <a16:creationId xmlns:a16="http://schemas.microsoft.com/office/drawing/2014/main" id="{282D7268-C4AD-4EE1-B0AF-A9E689FFF6D4}"/>
              </a:ext>
            </a:extLst>
          </p:cNvPr>
          <p:cNvSpPr>
            <a:spLocks xmlns:a="http://schemas.openxmlformats.org/drawingml/2006/main" noGrp="1"/>
          </p:cNvSpPr>
          <p:nvPr/>
        </p:nvSpPr>
        <p:spPr>
          <a:xfrm xmlns:a="http://schemas.openxmlformats.org/drawingml/2006/main">
            <a:off x="6858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6" name="">
            <a:extLst xmlns:a="http://schemas.openxmlformats.org/drawingml/2006/main">
              <a:ext uri="{FF2B5EF4-FFF2-40B4-BE49-F238E27FC236}">
                <a16:creationId xmlns:a16="http://schemas.microsoft.com/office/drawing/2014/main" id="{AAB72147-EC97-49DC-AE47-8F7AB35DA2FF}"/>
              </a:ext>
            </a:extLst>
          </p:cNvPr>
          <p:cNvSpPr>
            <a:spLocks xmlns:a="http://schemas.openxmlformats.org/drawingml/2006/main" noGrp="1"/>
          </p:cNvSpPr>
          <p:nvPr/>
        </p:nvSpPr>
        <p:spPr>
          <a:xfrm xmlns:a="http://schemas.openxmlformats.org/drawingml/2006/main">
            <a:off x="6858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SIGNED PILOTS</a:t>
            </a:r>
          </a:p>
        </p:txBody>
      </p:sp>
      <p:sp>
        <p:nvSpPr>
          <p:cNvPr id="7" name="">
            <a:extLst xmlns:a="http://schemas.openxmlformats.org/drawingml/2006/main">
              <a:ext uri="{FF2B5EF4-FFF2-40B4-BE49-F238E27FC236}">
                <a16:creationId xmlns:a16="http://schemas.microsoft.com/office/drawing/2014/main" id="{C2E066AD-000E-4CBE-96BA-AA9D48CFA74D}"/>
              </a:ext>
            </a:extLst>
          </p:cNvPr>
          <p:cNvSpPr>
            <a:spLocks xmlns:a="http://schemas.openxmlformats.org/drawingml/2006/main" noGrp="1"/>
          </p:cNvSpPr>
          <p:nvPr/>
        </p:nvSpPr>
        <p:spPr>
          <a:xfrm xmlns:a="http://schemas.openxmlformats.org/drawingml/2006/main">
            <a:off x="314325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F86A5CA4-C70A-4A41-81E7-5D11B5C81F32}"/>
              </a:ext>
            </a:extLst>
          </p:cNvPr>
          <p:cNvSpPr>
            <a:spLocks xmlns:a="http://schemas.openxmlformats.org/drawingml/2006/main" noGrp="1"/>
          </p:cNvSpPr>
          <p:nvPr/>
        </p:nvSpPr>
        <p:spPr>
          <a:xfrm xmlns:a="http://schemas.openxmlformats.org/drawingml/2006/main">
            <a:off x="314325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REVENUE</a:t>
            </a:r>
          </a:p>
        </p:txBody>
      </p:sp>
      <p:sp>
        <p:nvSpPr>
          <p:cNvPr id="9" name="">
            <a:extLst xmlns:a="http://schemas.openxmlformats.org/drawingml/2006/main">
              <a:ext uri="{FF2B5EF4-FFF2-40B4-BE49-F238E27FC236}">
                <a16:creationId xmlns:a16="http://schemas.microsoft.com/office/drawing/2014/main" id="{FFED0888-1E22-4C9D-A878-5F095BC07C59}"/>
              </a:ext>
            </a:extLst>
          </p:cNvPr>
          <p:cNvSpPr>
            <a:spLocks xmlns:a="http://schemas.openxmlformats.org/drawingml/2006/main" noGrp="1"/>
          </p:cNvSpPr>
          <p:nvPr/>
        </p:nvSpPr>
        <p:spPr>
          <a:xfrm xmlns:a="http://schemas.openxmlformats.org/drawingml/2006/main">
            <a:off x="5600700" y="1924050"/>
            <a:ext cx="171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5"/>
          </a:bodyPr>
          <a:lstStyle xmlns:a="http://schemas.openxmlformats.org/drawingml/2006/main"/>
          <a:p xmlns:a="http://schemas.openxmlformats.org/drawingml/2006/main">
            <a:pPr algn="ctr">
              <a:lnSpc>
                <a:spcPct val="100000"/>
              </a:lnSpc>
              <a:buNone/>
              <a:defRPr sz="5550" b="1">
                <a:solidFill>
                  <a:srgbClr val="E9763B"/>
                </a:solidFill>
                <a:latin typeface="Arial"/>
                <a:ea typeface="Arial"/>
                <a:cs typeface="Arial"/>
              </a:defRPr>
            </a:pPr>
            <a:r>
              <a:rPr sz="5550" b="1">
                <a:solidFill>
                  <a:srgbClr val="E9763B"/>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6A57C926-49A2-4B53-B67B-1A27AF7DADA3}"/>
              </a:ext>
            </a:extLst>
          </p:cNvPr>
          <p:cNvSpPr>
            <a:spLocks xmlns:a="http://schemas.openxmlformats.org/drawingml/2006/main" noGrp="1"/>
          </p:cNvSpPr>
          <p:nvPr/>
        </p:nvSpPr>
        <p:spPr>
          <a:xfrm xmlns:a="http://schemas.openxmlformats.org/drawingml/2006/main">
            <a:off x="5600700" y="27813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53645F"/>
                </a:solidFill>
                <a:latin typeface="Arial"/>
                <a:ea typeface="Arial"/>
                <a:cs typeface="Arial"/>
              </a:defRPr>
            </a:pPr>
            <a:r>
              <a:rPr sz="975" b="1">
                <a:solidFill>
                  <a:srgbClr val="53645F"/>
                </a:solidFill>
                <a:latin typeface="Arial"/>
                <a:ea typeface="Arial"/>
                <a:cs typeface="Arial"/>
              </a:rPr>
              <a:t>ROI CLAIMS</a:t>
            </a:r>
          </a:p>
        </p:txBody>
      </p:sp>
      <p:sp>
        <p:nvSpPr>
          <p:cNvPr id="11" name="">
            <a:extLst xmlns:a="http://schemas.openxmlformats.org/drawingml/2006/main">
              <a:ext uri="{FF2B5EF4-FFF2-40B4-BE49-F238E27FC236}">
                <a16:creationId xmlns:a16="http://schemas.microsoft.com/office/drawing/2014/main" id="{A1C647D1-7FFC-44A8-8B0D-D1B8B6882993}"/>
              </a:ext>
            </a:extLst>
          </p:cNvPr>
          <p:cNvSpPr>
            <a:spLocks xmlns:a="http://schemas.openxmlformats.org/drawingml/2006/main" noGrp="1"/>
          </p:cNvSpPr>
          <p:nvPr/>
        </p:nvSpPr>
        <p:spPr>
          <a:xfrm xmlns:a="http://schemas.openxmlformats.org/drawingml/2006/main">
            <a:off x="7905750" y="1866900"/>
            <a:ext cx="3600450" cy="1238250"/>
          </a:xfrm>
          <a:prstGeom xmlns:a="http://schemas.openxmlformats.org/drawingml/2006/main" prst="roundRect">
            <a:avLst>
              <a:gd name="adj" fmla="val 12308"/>
            </a:avLst>
          </a:prstGeom>
          <a:solidFill xmlns:a="http://schemas.openxmlformats.org/drawingml/2006/main">
            <a:srgbClr val="09292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5A3B43-AB0C-47B6-A318-662EB2ACF1EF}"/>
              </a:ext>
            </a:extLst>
          </p:cNvPr>
          <p:cNvSpPr>
            <a:spLocks xmlns:a="http://schemas.openxmlformats.org/drawingml/2006/main" noGrp="1"/>
          </p:cNvSpPr>
          <p:nvPr/>
        </p:nvSpPr>
        <p:spPr>
          <a:xfrm xmlns:a="http://schemas.openxmlformats.org/drawingml/2006/main">
            <a:off x="8172450" y="21145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3618"/>
          </a:bodyPr>
          <a:lstStyle xmlns:a="http://schemas.openxmlformats.org/drawingml/2006/main"/>
          <a:p xmlns:a="http://schemas.openxmlformats.org/drawingml/2006/main">
            <a:pPr algn="ctr">
              <a:lnSpc>
                <a:spcPct val="100000"/>
              </a:lnSpc>
              <a:buNone/>
              <a:defRPr sz="1875" b="1">
                <a:solidFill>
                  <a:srgbClr val="C9F36B"/>
                </a:solidFill>
                <a:latin typeface="Arial"/>
                <a:ea typeface="Arial"/>
                <a:cs typeface="Arial"/>
              </a:defRPr>
            </a:pPr>
            <a:r>
              <a:rPr sz="1875" b="1">
                <a:solidFill>
                  <a:srgbClr val="C9F36B"/>
                </a:solidFill>
                <a:latin typeface="Arial"/>
                <a:ea typeface="Arial"/>
                <a:cs typeface="Arial"/>
              </a:rPr>
              <a:t>This is a strength, not a gap we hide.</a:t>
            </a:r>
          </a:p>
        </p:txBody>
      </p:sp>
      <p:sp>
        <p:nvSpPr>
          <p:cNvPr id="13" name="">
            <a:extLst xmlns:a="http://schemas.openxmlformats.org/drawingml/2006/main">
              <a:ext uri="{FF2B5EF4-FFF2-40B4-BE49-F238E27FC236}">
                <a16:creationId xmlns:a16="http://schemas.microsoft.com/office/drawing/2014/main" id="{1367F10C-4904-4C7B-8876-7994226E03A8}"/>
              </a:ext>
            </a:extLst>
          </p:cNvPr>
          <p:cNvSpPr>
            <a:spLocks xmlns:a="http://schemas.openxmlformats.org/drawingml/2006/main" noGrp="1"/>
          </p:cNvSpPr>
          <p:nvPr/>
        </p:nvSpPr>
        <p:spPr>
          <a:xfrm xmlns:a="http://schemas.openxmlformats.org/drawingml/2006/main">
            <a:off x="8172450" y="26098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09"/>
          </a:bodyPr>
          <a:lstStyle xmlns:a="http://schemas.openxmlformats.org/drawingml/2006/main"/>
          <a:p xmlns:a="http://schemas.openxmlformats.org/drawingml/2006/main">
            <a:pPr algn="ctr">
              <a:lnSpc>
                <a:spcPct val="100000"/>
              </a:lnSpc>
              <a:buNone/>
              <a:defRPr sz="1200" b="0">
                <a:solidFill>
                  <a:srgbClr val="F5F4ED"/>
                </a:solidFill>
                <a:latin typeface="Arial"/>
                <a:ea typeface="Arial"/>
                <a:cs typeface="Arial"/>
              </a:defRPr>
            </a:pPr>
            <a:r>
              <a:rPr sz="1200" b="0">
                <a:solidFill>
                  <a:srgbClr val="F5F4ED"/>
                </a:solidFill>
                <a:latin typeface="Arial"/>
                <a:ea typeface="Arial"/>
                <a:cs typeface="Arial"/>
              </a:rPr>
              <a:t>Synthetic product evidence is not customer evidence.</a:t>
            </a:r>
          </a:p>
        </p:txBody>
      </p:sp>
      <p:sp>
        <p:nvSpPr>
          <p:cNvPr id="14" name="">
            <a:extLst xmlns:a="http://schemas.openxmlformats.org/drawingml/2006/main">
              <a:ext uri="{FF2B5EF4-FFF2-40B4-BE49-F238E27FC236}">
                <a16:creationId xmlns:a16="http://schemas.microsoft.com/office/drawing/2014/main" id="{9CC2085B-1FBB-4CD4-8B19-8F05D93329ED}"/>
              </a:ext>
            </a:extLst>
          </p:cNvPr>
          <p:cNvSpPr>
            <a:spLocks xmlns:a="http://schemas.openxmlformats.org/drawingml/2006/main" noGrp="1"/>
          </p:cNvSpPr>
          <p:nvPr/>
        </p:nvSpPr>
        <p:spPr>
          <a:xfrm xmlns:a="http://schemas.openxmlformats.org/drawingml/2006/main">
            <a:off x="685800" y="3562350"/>
            <a:ext cx="10820400" cy="0"/>
          </a:xfrm>
          <a:prstGeom xmlns:a="http://schemas.openxmlformats.org/drawingml/2006/main" prst="line">
            <a:avLst/>
          </a:prstGeom>
          <a:noFill xmlns:a="http://schemas.openxmlformats.org/drawingml/2006/main"/>
          <a:ln xmlns:a="http://schemas.openxmlformats.org/drawingml/2006/main" w="9525">
            <a:solidFill>
              <a:srgbClr val="C9D5D1"/>
            </a:solidFill>
            <a:prstDash val="solid"/>
          </a:ln>
        </p:spPr>
      </p:sp>
      <p:sp>
        <p:nvSpPr>
          <p:cNvPr id="15" name="">
            <a:extLst xmlns:a="http://schemas.openxmlformats.org/drawingml/2006/main">
              <a:ext uri="{FF2B5EF4-FFF2-40B4-BE49-F238E27FC236}">
                <a16:creationId xmlns:a16="http://schemas.microsoft.com/office/drawing/2014/main" id="{3B01435E-4774-4790-B564-C25E66C97D69}"/>
              </a:ext>
            </a:extLst>
          </p:cNvPr>
          <p:cNvSpPr>
            <a:spLocks xmlns:a="http://schemas.openxmlformats.org/drawingml/2006/main" noGrp="1"/>
          </p:cNvSpPr>
          <p:nvPr/>
        </p:nvSpPr>
        <p:spPr>
          <a:xfrm xmlns:a="http://schemas.openxmlformats.org/drawingml/2006/main">
            <a:off x="685800" y="3867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PROVED NOW</a:t>
            </a:r>
          </a:p>
        </p:txBody>
      </p:sp>
      <p:sp>
        <p:nvSpPr>
          <p:cNvPr id="16" name="">
            <a:extLst xmlns:a="http://schemas.openxmlformats.org/drawingml/2006/main">
              <a:ext uri="{FF2B5EF4-FFF2-40B4-BE49-F238E27FC236}">
                <a16:creationId xmlns:a16="http://schemas.microsoft.com/office/drawing/2014/main" id="{E20657F7-841A-4569-B928-DFC76A2A43C7}"/>
              </a:ext>
            </a:extLst>
          </p:cNvPr>
          <p:cNvSpPr>
            <a:spLocks xmlns:a="http://schemas.openxmlformats.org/drawingml/2006/main" noGrp="1"/>
          </p:cNvSpPr>
          <p:nvPr/>
        </p:nvSpPr>
        <p:spPr>
          <a:xfrm xmlns:a="http://schemas.openxmlformats.org/drawingml/2006/main">
            <a:off x="685800" y="4229100"/>
            <a:ext cx="4476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Public working product</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9/9 planner + 5/5 ML checks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17,856-candidate bounded verification</a:t>
            </a:r>
          </a:p>
        </p:txBody>
      </p:sp>
      <p:sp>
        <p:nvSpPr>
          <p:cNvPr id="17" name="">
            <a:extLst xmlns:a="http://schemas.openxmlformats.org/drawingml/2006/main">
              <a:ext uri="{FF2B5EF4-FFF2-40B4-BE49-F238E27FC236}">
                <a16:creationId xmlns:a16="http://schemas.microsoft.com/office/drawing/2014/main" id="{A08AEB90-461B-4DB1-AD1A-62C35B8DBA7C}"/>
              </a:ext>
            </a:extLst>
          </p:cNvPr>
          <p:cNvSpPr>
            <a:spLocks xmlns:a="http://schemas.openxmlformats.org/drawingml/2006/main" noGrp="1"/>
          </p:cNvSpPr>
          <p:nvPr/>
        </p:nvSpPr>
        <p:spPr>
          <a:xfrm xmlns:a="http://schemas.openxmlformats.org/drawingml/2006/main">
            <a:off x="6286500" y="3867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F766E"/>
                </a:solidFill>
                <a:latin typeface="Arial"/>
                <a:ea typeface="Arial"/>
                <a:cs typeface="Arial"/>
              </a:defRPr>
            </a:pPr>
            <a:r>
              <a:rPr sz="1050" b="1">
                <a:solidFill>
                  <a:srgbClr val="0F766E"/>
                </a:solidFill>
                <a:latin typeface="Arial"/>
                <a:ea typeface="Arial"/>
                <a:cs typeface="Arial"/>
              </a:rPr>
              <a:t>EARNS REVENUE NEXT</a:t>
            </a:r>
          </a:p>
        </p:txBody>
      </p:sp>
      <p:sp>
        <p:nvSpPr>
          <p:cNvPr id="18" name="">
            <a:extLst xmlns:a="http://schemas.openxmlformats.org/drawingml/2006/main">
              <a:ext uri="{FF2B5EF4-FFF2-40B4-BE49-F238E27FC236}">
                <a16:creationId xmlns:a16="http://schemas.microsoft.com/office/drawing/2014/main" id="{79166088-4822-41DC-940E-D4FC81342F44}"/>
              </a:ext>
            </a:extLst>
          </p:cNvPr>
          <p:cNvSpPr>
            <a:spLocks xmlns:a="http://schemas.openxmlformats.org/drawingml/2006/main" noGrp="1"/>
          </p:cNvSpPr>
          <p:nvPr/>
        </p:nvSpPr>
        <p:spPr>
          <a:xfrm xmlns:a="http://schemas.openxmlformats.org/drawingml/2006/main">
            <a:off x="6286500" y="4229100"/>
            <a:ext cx="476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design partner</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One paid-pilot hypothesis</a:t>
            </a:r>
          </a:p>
          <a:p xmlns:a="http://schemas.openxmlformats.org/drawingml/2006/main">
            <a:pPr algn="l">
              <a:lnSpc>
                <a:spcPct val="122000"/>
              </a:lnSpc>
              <a:buNone/>
              <a:defRPr sz="1650" b="1">
                <a:solidFill>
                  <a:srgbClr val="10221F"/>
                </a:solidFill>
                <a:latin typeface="Arial"/>
                <a:ea typeface="Arial"/>
                <a:cs typeface="Arial"/>
              </a:defRPr>
            </a:pPr>
            <a:r>
              <a:rPr sz="1650" b="1">
                <a:solidFill>
                  <a:srgbClr val="10221F"/>
                </a:solidFill>
                <a:latin typeface="Arial"/>
                <a:ea typeface="Arial"/>
                <a:cs typeface="Arial"/>
              </a:rPr>
              <a:t>Price and scale validated after measured value</a:t>
            </a:r>
          </a:p>
        </p:txBody>
      </p:sp>
      <p:sp>
        <p:nvSpPr>
          <p:cNvPr id="19" name="">
            <a:extLst xmlns:a="http://schemas.openxmlformats.org/drawingml/2006/main">
              <a:ext uri="{FF2B5EF4-FFF2-40B4-BE49-F238E27FC236}">
                <a16:creationId xmlns:a16="http://schemas.microsoft.com/office/drawing/2014/main" id="{3CEC61C3-F902-438D-A914-799598A576B8}"/>
              </a:ext>
            </a:extLst>
          </p:cNvPr>
          <p:cNvSpPr>
            <a:spLocks xmlns:a="http://schemas.openxmlformats.org/drawingml/2006/main" noGrp="1"/>
          </p:cNvSpPr>
          <p:nvPr/>
        </p:nvSpPr>
        <p:spPr>
          <a:xfrm xmlns:a="http://schemas.openxmlformats.org/drawingml/2006/main">
            <a:off x="685800" y="5753100"/>
            <a:ext cx="10820400" cy="361950"/>
          </a:xfrm>
          <a:prstGeom xmlns:a="http://schemas.openxmlformats.org/drawingml/2006/main" prst="roundRect">
            <a:avLst>
              <a:gd name="adj" fmla="val 26316"/>
            </a:avLst>
          </a:prstGeom>
          <a:solidFill xmlns:a="http://schemas.openxmlformats.org/drawingml/2006/main">
            <a:srgbClr val="09292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E9CCAB4-229E-4961-A02F-34031D0007C7}"/>
              </a:ext>
            </a:extLst>
          </p:cNvPr>
          <p:cNvSpPr>
            <a:spLocks xmlns:a="http://schemas.openxmlformats.org/drawingml/2006/main" noGrp="1"/>
          </p:cNvSpPr>
          <p:nvPr/>
        </p:nvSpPr>
        <p:spPr>
          <a:xfrm xmlns:a="http://schemas.openxmlformats.org/drawingml/2006/main">
            <a:off x="895350" y="5838825"/>
            <a:ext cx="10401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C9F36B"/>
                </a:solidFill>
                <a:latin typeface="Arial"/>
                <a:ea typeface="Arial"/>
                <a:cs typeface="Arial"/>
              </a:defRPr>
            </a:pPr>
            <a:r>
              <a:rPr sz="1200" b="1">
                <a:solidFill>
                  <a:srgbClr val="C9F36B"/>
                </a:solidFill>
                <a:latin typeface="Arial"/>
                <a:ea typeface="Arial"/>
                <a:cs typeface="Arial"/>
              </a:rPr>
              <a:t>Commercial discipline: prove value first; price second; scale third.</a:t>
            </a:r>
          </a:p>
        </p:txBody>
      </p:sp>
      <p:sp>
        <p:nvSpPr>
          <p:cNvPr id="21" name="">
            <a:extLst xmlns:a="http://schemas.openxmlformats.org/drawingml/2006/main">
              <a:ext uri="{FF2B5EF4-FFF2-40B4-BE49-F238E27FC236}">
                <a16:creationId xmlns:a16="http://schemas.microsoft.com/office/drawing/2014/main" id="{0E17F6FE-1EE4-41C7-8D4A-183880343B82}"/>
              </a:ext>
            </a:extLst>
          </p:cNvPr>
          <p:cNvSpPr>
            <a:spLocks xmlns:a="http://schemas.openxmlformats.org/drawingml/2006/main" noGrp="1"/>
          </p:cNvSpPr>
          <p:nvPr/>
        </p:nvSpPr>
        <p:spPr>
          <a:xfrm xmlns:a="http://schemas.openxmlformats.org/drawingml/2006/main">
            <a:off x="685800" y="6515100"/>
            <a:ext cx="723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53645F"/>
                </a:solidFill>
                <a:latin typeface="Arial"/>
                <a:ea typeface="Arial"/>
                <a:cs typeface="Arial"/>
              </a:defRPr>
            </a:pPr>
            <a:r>
              <a:rPr sz="825" b="0">
                <a:solidFill>
                  <a:srgbClr val="53645F"/>
                </a:solidFill>
                <a:latin typeface="Arial"/>
                <a:ea typeface="Arial"/>
                <a:cs typeface="Arial"/>
              </a:rPr>
              <a:t>CableTwin · SUPCOM · Oussama Akir · Fully synthetic demonstration</a:t>
            </a:r>
          </a:p>
        </p:txBody>
      </p:sp>
    </p:spTree>
    <p:extLst>
      <p:ext uri="{BB962C8B-B14F-4D97-AF65-F5344CB8AC3E}">
        <p14:creationId xmlns:p14="http://schemas.microsoft.com/office/powerpoint/2010/main" val="476031284"/>
      </p:ext>
    </p:extLst>
  </p:cSld>
</p:sld>
</file>

<file path=ppt/slides/slide10.xml><?xml version="1.0" encoding="utf-8"?>
<p:sld xmlns:p="http://schemas.openxmlformats.org/presentationml/2006/main">
  <p:cSld>
    <p:bg>
      <p:bgPr>
        <a:solidFill xmlns:a="http://schemas.openxmlformats.org/drawingml/2006/main">
          <a:srgbClr val="0929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2E40B9B-7D8D-448B-9D13-B13C49637B12}"/>
              </a:ext>
            </a:extLst>
          </p:cNvPr>
          <p:cNvSpPr>
            <a:spLocks xmlns:a="http://schemas.openxmlformats.org/drawingml/2006/main" noGrp="1"/>
          </p:cNvSpPr>
          <p:nvPr/>
        </p:nvSpPr>
        <p:spPr>
          <a:xfrm xmlns:a="http://schemas.openxmlformats.org/drawingml/2006/main">
            <a:off x="685800" y="342900"/>
            <a:ext cx="828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050" b="1">
                <a:solidFill>
                  <a:srgbClr val="C9F36B"/>
                </a:solidFill>
                <a:latin typeface="Arial"/>
                <a:ea typeface="Arial"/>
                <a:cs typeface="Arial"/>
              </a:defRPr>
            </a:pPr>
            <a:r>
              <a:rPr sz="1050" b="1">
                <a:solidFill>
                  <a:srgbClr val="C9F36B"/>
                </a:solidFill>
                <a:latin typeface="Arial"/>
                <a:ea typeface="Arial"/>
                <a:cs typeface="Arial"/>
              </a:rPr>
              <a:t>CURRENT STATUS / ACTION</a:t>
            </a:r>
          </a:p>
        </p:txBody>
      </p:sp>
      <p:sp>
        <p:nvSpPr>
          <p:cNvPr id="2" name="">
            <a:extLst xmlns:a="http://schemas.openxmlformats.org/drawingml/2006/main">
              <a:ext uri="{FF2B5EF4-FFF2-40B4-BE49-F238E27FC236}">
                <a16:creationId xmlns:a16="http://schemas.microsoft.com/office/drawing/2014/main" id="{7995BED0-9CED-42C4-8156-2D71B71BCE72}"/>
              </a:ext>
            </a:extLst>
          </p:cNvPr>
          <p:cNvSpPr>
            <a:spLocks xmlns:a="http://schemas.openxmlformats.org/drawingml/2006/main" noGrp="1"/>
          </p:cNvSpPr>
          <p:nvPr/>
        </p:nvSpPr>
        <p:spPr>
          <a:xfrm xmlns:a="http://schemas.openxmlformats.org/drawingml/2006/main">
            <a:off x="11049000" y="304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8FA8A2"/>
                </a:solidFill>
                <a:latin typeface="Arial"/>
                <a:ea typeface="Arial"/>
                <a:cs typeface="Arial"/>
              </a:defRPr>
            </a:pPr>
            <a:r>
              <a:rPr sz="1050" b="1">
                <a:solidFill>
                  <a:srgbClr val="8FA8A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D1BB5B6-857D-4CDA-9680-39275E5E9691}"/>
              </a:ext>
            </a:extLst>
          </p:cNvPr>
          <p:cNvSpPr>
            <a:spLocks xmlns:a="http://schemas.openxmlformats.org/drawingml/2006/main" noGrp="1"/>
          </p:cNvSpPr>
          <p:nvPr/>
        </p:nvSpPr>
        <p:spPr>
          <a:xfrm xmlns:a="http://schemas.openxmlformats.org/drawingml/2006/main">
            <a:off x="685800" y="638175"/>
            <a:ext cx="10820400" cy="0"/>
          </a:xfrm>
          <a:prstGeom xmlns:a="http://schemas.openxmlformats.org/drawingml/2006/main" prst="line">
            <a:avLst/>
          </a:prstGeom>
          <a:noFill xmlns:a="http://schemas.openxmlformats.org/drawingml/2006/main"/>
          <a:ln xmlns:a="http://schemas.openxmlformats.org/drawingml/2006/main" w="9525">
            <a:solidFill>
              <a:srgbClr val="28433F"/>
            </a:solidFill>
            <a:prstDash val="solid"/>
          </a:ln>
        </p:spPr>
      </p:sp>
      <p:sp>
        <p:nvSpPr>
          <p:cNvPr id="4" name="">
            <a:extLst xmlns:a="http://schemas.openxmlformats.org/drawingml/2006/main">
              <a:ext uri="{FF2B5EF4-FFF2-40B4-BE49-F238E27FC236}">
                <a16:creationId xmlns:a16="http://schemas.microsoft.com/office/drawing/2014/main" id="{51D80CDD-ED24-428F-AB54-7320EE5E4EAF}"/>
              </a:ext>
            </a:extLst>
          </p:cNvPr>
          <p:cNvSpPr>
            <a:spLocks xmlns:a="http://schemas.openxmlformats.org/drawingml/2006/main" noGrp="1"/>
          </p:cNvSpPr>
          <p:nvPr/>
        </p:nvSpPr>
        <p:spPr>
          <a:xfrm xmlns:a="http://schemas.openxmlformats.org/drawingml/2006/main">
            <a:off x="685800" y="8953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150" b="1">
                <a:solidFill>
                  <a:srgbClr val="F5F4ED"/>
                </a:solidFill>
                <a:latin typeface="Arial"/>
                <a:ea typeface="Arial"/>
                <a:cs typeface="Arial"/>
              </a:defRPr>
            </a:pPr>
            <a:r>
              <a:rPr sz="3150" b="1">
                <a:solidFill>
                  <a:srgbClr val="F5F4ED"/>
                </a:solidFill>
                <a:latin typeface="Arial"/>
                <a:ea typeface="Arial"/>
                <a:cs typeface="Arial"/>
              </a:rPr>
              <a:t>Built now. Validate next. Scale only after proof.</a:t>
            </a:r>
          </a:p>
        </p:txBody>
      </p:sp>
      <p:sp>
        <p:nvSpPr>
          <p:cNvPr id="5" name="">
            <a:extLst xmlns:a="http://schemas.openxmlformats.org/drawingml/2006/main">
              <a:ext uri="{FF2B5EF4-FFF2-40B4-BE49-F238E27FC236}">
                <a16:creationId xmlns:a16="http://schemas.microsoft.com/office/drawing/2014/main" id="{D00C2B0C-7A8E-4A39-8DA2-DA14D355F328}"/>
              </a:ext>
            </a:extLst>
          </p:cNvPr>
          <p:cNvSpPr>
            <a:spLocks xmlns:a="http://schemas.openxmlformats.org/drawingml/2006/main" noGrp="1"/>
          </p:cNvSpPr>
          <p:nvPr/>
        </p:nvSpPr>
        <p:spPr>
          <a:xfrm xmlns:a="http://schemas.openxmlformats.org/drawingml/2006/main">
            <a:off x="685800" y="19716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NOW</a:t>
            </a:r>
          </a:p>
        </p:txBody>
      </p:sp>
      <p:sp>
        <p:nvSpPr>
          <p:cNvPr id="6" name="">
            <a:extLst xmlns:a="http://schemas.openxmlformats.org/drawingml/2006/main">
              <a:ext uri="{FF2B5EF4-FFF2-40B4-BE49-F238E27FC236}">
                <a16:creationId xmlns:a16="http://schemas.microsoft.com/office/drawing/2014/main" id="{C412D979-AB03-47DB-B317-FB474BEA9F28}"/>
              </a:ext>
            </a:extLst>
          </p:cNvPr>
          <p:cNvSpPr>
            <a:spLocks xmlns:a="http://schemas.openxmlformats.org/drawingml/2006/main" noGrp="1"/>
          </p:cNvSpPr>
          <p:nvPr/>
        </p:nvSpPr>
        <p:spPr>
          <a:xfrm xmlns:a="http://schemas.openxmlformats.org/drawingml/2006/main">
            <a:off x="1676400" y="193357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Working public prototype</a:t>
            </a:r>
          </a:p>
        </p:txBody>
      </p:sp>
      <p:sp>
        <p:nvSpPr>
          <p:cNvPr id="7" name="">
            <a:extLst xmlns:a="http://schemas.openxmlformats.org/drawingml/2006/main">
              <a:ext uri="{FF2B5EF4-FFF2-40B4-BE49-F238E27FC236}">
                <a16:creationId xmlns:a16="http://schemas.microsoft.com/office/drawing/2014/main" id="{9D96D218-401F-4E9B-844C-BE5121A6CF08}"/>
              </a:ext>
            </a:extLst>
          </p:cNvPr>
          <p:cNvSpPr>
            <a:spLocks xmlns:a="http://schemas.openxmlformats.org/drawingml/2006/main" noGrp="1"/>
          </p:cNvSpPr>
          <p:nvPr/>
        </p:nvSpPr>
        <p:spPr>
          <a:xfrm xmlns:a="http://schemas.openxmlformats.org/drawingml/2006/main">
            <a:off x="16764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Decision twin · local ML guidance · bounded verifier · human approval</a:t>
            </a:r>
          </a:p>
        </p:txBody>
      </p:sp>
      <p:sp>
        <p:nvSpPr>
          <p:cNvPr id="8" name="">
            <a:extLst xmlns:a="http://schemas.openxmlformats.org/drawingml/2006/main">
              <a:ext uri="{FF2B5EF4-FFF2-40B4-BE49-F238E27FC236}">
                <a16:creationId xmlns:a16="http://schemas.microsoft.com/office/drawing/2014/main" id="{011B71B7-2FC7-4E84-9957-90D67CEEE8E7}"/>
              </a:ext>
            </a:extLst>
          </p:cNvPr>
          <p:cNvSpPr>
            <a:spLocks xmlns:a="http://schemas.openxmlformats.org/drawingml/2006/main" noGrp="1"/>
          </p:cNvSpPr>
          <p:nvPr/>
        </p:nvSpPr>
        <p:spPr>
          <a:xfrm xmlns:a="http://schemas.openxmlformats.org/drawingml/2006/main">
            <a:off x="685800" y="3028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9763B"/>
                </a:solidFill>
                <a:latin typeface="Arial"/>
                <a:ea typeface="Arial"/>
                <a:cs typeface="Arial"/>
              </a:defRPr>
            </a:pPr>
            <a:r>
              <a:rPr sz="1050" b="1">
                <a:solidFill>
                  <a:srgbClr val="E9763B"/>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22C73FC5-9332-43D6-ADE4-6FAB7FA5353F}"/>
              </a:ext>
            </a:extLst>
          </p:cNvPr>
          <p:cNvSpPr>
            <a:spLocks xmlns:a="http://schemas.openxmlformats.org/drawingml/2006/main" noGrp="1"/>
          </p:cNvSpPr>
          <p:nvPr/>
        </p:nvSpPr>
        <p:spPr>
          <a:xfrm xmlns:a="http://schemas.openxmlformats.org/drawingml/2006/main">
            <a:off x="1676400" y="29908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One 4-6-week shadow pilot</a:t>
            </a:r>
          </a:p>
        </p:txBody>
      </p:sp>
      <p:sp>
        <p:nvSpPr>
          <p:cNvPr id="10" name="">
            <a:extLst xmlns:a="http://schemas.openxmlformats.org/drawingml/2006/main">
              <a:ext uri="{FF2B5EF4-FFF2-40B4-BE49-F238E27FC236}">
                <a16:creationId xmlns:a16="http://schemas.microsoft.com/office/drawing/2014/main" id="{EB60E4FE-661D-4379-824E-558DA808D20E}"/>
              </a:ext>
            </a:extLst>
          </p:cNvPr>
          <p:cNvSpPr>
            <a:spLocks xmlns:a="http://schemas.openxmlformats.org/drawingml/2006/main" noGrp="1"/>
          </p:cNvSpPr>
          <p:nvPr/>
        </p:nvSpPr>
        <p:spPr>
          <a:xfrm xmlns:a="http://schemas.openxmlformats.org/drawingml/2006/main">
            <a:off x="1676400" y="3390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Read-only data · 5-10 incidents · planner-validated constraints</a:t>
            </a:r>
          </a:p>
        </p:txBody>
      </p:sp>
      <p:sp>
        <p:nvSpPr>
          <p:cNvPr id="11" name="">
            <a:extLst xmlns:a="http://schemas.openxmlformats.org/drawingml/2006/main">
              <a:ext uri="{FF2B5EF4-FFF2-40B4-BE49-F238E27FC236}">
                <a16:creationId xmlns:a16="http://schemas.microsoft.com/office/drawing/2014/main" id="{69C2CA51-1A22-4B23-9245-DD677674A370}"/>
              </a:ext>
            </a:extLst>
          </p:cNvPr>
          <p:cNvSpPr>
            <a:spLocks xmlns:a="http://schemas.openxmlformats.org/drawingml/2006/main" noGrp="1"/>
          </p:cNvSpPr>
          <p:nvPr/>
        </p:nvSpPr>
        <p:spPr>
          <a:xfrm xmlns:a="http://schemas.openxmlformats.org/drawingml/2006/main">
            <a:off x="685800" y="40862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C9F36B"/>
                </a:solidFill>
                <a:latin typeface="Arial"/>
                <a:ea typeface="Arial"/>
                <a:cs typeface="Arial"/>
              </a:defRPr>
            </a:pPr>
            <a:r>
              <a:rPr sz="1050" b="1">
                <a:solidFill>
                  <a:srgbClr val="C9F36B"/>
                </a:solidFill>
                <a:latin typeface="Arial"/>
                <a:ea typeface="Arial"/>
                <a:cs typeface="Arial"/>
              </a:rPr>
              <a:t>THEN</a:t>
            </a:r>
          </a:p>
        </p:txBody>
      </p:sp>
      <p:sp>
        <p:nvSpPr>
          <p:cNvPr id="12" name="">
            <a:extLst xmlns:a="http://schemas.openxmlformats.org/drawingml/2006/main">
              <a:ext uri="{FF2B5EF4-FFF2-40B4-BE49-F238E27FC236}">
                <a16:creationId xmlns:a16="http://schemas.microsoft.com/office/drawing/2014/main" id="{E9AEB8D6-C7B6-4555-81C8-C80C0BA1DEDF}"/>
              </a:ext>
            </a:extLst>
          </p:cNvPr>
          <p:cNvSpPr>
            <a:spLocks xmlns:a="http://schemas.openxmlformats.org/drawingml/2006/main" noGrp="1"/>
          </p:cNvSpPr>
          <p:nvPr/>
        </p:nvSpPr>
        <p:spPr>
          <a:xfrm xmlns:a="http://schemas.openxmlformats.org/drawingml/2006/main">
            <a:off x="1676400" y="4048125"/>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5F4ED"/>
                </a:solidFill>
                <a:latin typeface="Arial"/>
                <a:ea typeface="Arial"/>
                <a:cs typeface="Arial"/>
              </a:defRPr>
            </a:pPr>
            <a:r>
              <a:rPr sz="1950" b="1">
                <a:solidFill>
                  <a:srgbClr val="F5F4ED"/>
                </a:solidFill>
                <a:latin typeface="Arial"/>
                <a:ea typeface="Arial"/>
                <a:cs typeface="Arial"/>
              </a:rPr>
              <a:t>Integrate only if KPIs pass</a:t>
            </a:r>
          </a:p>
        </p:txBody>
      </p:sp>
      <p:sp>
        <p:nvSpPr>
          <p:cNvPr id="13" name="">
            <a:extLst xmlns:a="http://schemas.openxmlformats.org/drawingml/2006/main">
              <a:ext uri="{FF2B5EF4-FFF2-40B4-BE49-F238E27FC236}">
                <a16:creationId xmlns:a16="http://schemas.microsoft.com/office/drawing/2014/main" id="{C4F3C024-5EAF-4F37-8229-B27BBFE07C41}"/>
              </a:ext>
            </a:extLst>
          </p:cNvPr>
          <p:cNvSpPr>
            <a:spLocks xmlns:a="http://schemas.openxmlformats.org/drawingml/2006/main" noGrp="1"/>
          </p:cNvSpPr>
          <p:nvPr/>
        </p:nvSpPr>
        <p:spPr>
          <a:xfrm xmlns:a="http://schemas.openxmlformats.org/drawingml/2006/main">
            <a:off x="1676400" y="4448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8FA8A2"/>
                </a:solidFill>
                <a:latin typeface="Arial"/>
                <a:ea typeface="Arial"/>
                <a:cs typeface="Arial"/>
              </a:defRPr>
            </a:pPr>
            <a:r>
              <a:rPr sz="1200" b="0">
                <a:solidFill>
                  <a:srgbClr val="8FA8A2"/>
                </a:solidFill>
                <a:latin typeface="Arial"/>
                <a:ea typeface="Arial"/>
                <a:cs typeface="Arial"/>
              </a:rPr>
              <a:t>Configuration · site deployment · subscription hypothesis</a:t>
            </a:r>
          </a:p>
        </p:txBody>
      </p:sp>
      <p:sp>
        <p:nvSpPr>
          <p:cNvPr id="14" name="">
            <a:extLst xmlns:a="http://schemas.openxmlformats.org/drawingml/2006/main">
              <a:ext uri="{FF2B5EF4-FFF2-40B4-BE49-F238E27FC236}">
                <a16:creationId xmlns:a16="http://schemas.microsoft.com/office/drawing/2014/main" id="{A48A60E9-EFEE-4BC0-9F0C-A59106DCECB3}"/>
              </a:ext>
            </a:extLst>
          </p:cNvPr>
          <p:cNvSpPr>
            <a:spLocks xmlns:a="http://schemas.openxmlformats.org/drawingml/2006/main" noGrp="1"/>
          </p:cNvSpPr>
          <p:nvPr/>
        </p:nvSpPr>
        <p:spPr>
          <a:xfrm xmlns:a="http://schemas.openxmlformats.org/drawingml/2006/main">
            <a:off x="6762750" y="1809750"/>
            <a:ext cx="4743450" cy="2990850"/>
          </a:xfrm>
          <a:prstGeom xmlns:a="http://schemas.openxmlformats.org/drawingml/2006/main" prst="roundRect">
            <a:avLst>
              <a:gd name="adj" fmla="val 5732"/>
            </a:avLst>
          </a:prstGeom>
          <a:solidFill xmlns:a="http://schemas.openxmlformats.org/drawingml/2006/main">
            <a:srgbClr val="061E1B"/>
          </a:solidFill>
          <a:ln xmlns:a="http://schemas.openxmlformats.org/drawingml/2006/main" w="9525">
            <a:solidFill>
              <a:srgbClr val="0F766E"/>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9c46c9b4b1a47fe"/>
          <a:srcRect xmlns:a="http://schemas.openxmlformats.org/drawingml/2006/main" l="3781" t="0" r="3781" b="0"/>
          <a:stretch xmlns:a="http://schemas.openxmlformats.org/drawingml/2006/main">
            <a:fillRect l="0" t="0" r="0" b="0"/>
          </a:stretch>
        </p:blipFill>
        <p:spPr>
          <a:xfrm xmlns:a="http://schemas.openxmlformats.org/drawingml/2006/main">
            <a:off x="6896100" y="1943100"/>
            <a:ext cx="4476750" cy="2724150"/>
          </a:xfrm>
          <a:prstGeom xmlns:a="http://schemas.openxmlformats.org/drawingml/2006/main" prst="roundRect">
            <a:avLst>
              <a:gd name="adj" fmla="val 4895"/>
            </a:avLst>
          </a:prstGeom>
        </p:spPr>
      </p:pic>
      <p:sp>
        <p:nvSpPr>
          <p:cNvPr id="16" name="">
            <a:extLst xmlns:a="http://schemas.openxmlformats.org/drawingml/2006/main">
              <a:ext uri="{FF2B5EF4-FFF2-40B4-BE49-F238E27FC236}">
                <a16:creationId xmlns:a16="http://schemas.microsoft.com/office/drawing/2014/main" id="{7861F8EA-E943-4A90-B1F1-B90ADCED6C81}"/>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9512"/>
            </a:avLst>
          </a:prstGeom>
          <a:solidFill xmlns:a="http://schemas.openxmlformats.org/drawingml/2006/main">
            <a:srgbClr val="C9F3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1DE544-FD95-4DE7-A1A3-6CFB20B78F56}"/>
              </a:ext>
            </a:extLst>
          </p:cNvPr>
          <p:cNvSpPr>
            <a:spLocks xmlns:a="http://schemas.openxmlformats.org/drawingml/2006/main" noGrp="1"/>
          </p:cNvSpPr>
          <p:nvPr/>
        </p:nvSpPr>
        <p:spPr>
          <a:xfrm xmlns:a="http://schemas.openxmlformats.org/drawingml/2006/main">
            <a:off x="990600" y="5457825"/>
            <a:ext cx="1021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092925"/>
                </a:solidFill>
                <a:latin typeface="Arial"/>
                <a:ea typeface="Arial"/>
                <a:cs typeface="Arial"/>
              </a:defRPr>
            </a:pPr>
            <a:r>
              <a:rPr sz="1875" b="1">
                <a:solidFill>
                  <a:srgbClr val="092925"/>
                </a:solidFill>
                <a:latin typeface="Arial"/>
                <a:ea typeface="Arial"/>
                <a:cs typeface="Arial"/>
              </a:rPr>
              <a:t>Select CableTwin for the Grand Finale - and connect one Tunisian plant design partner.</a:t>
            </a:r>
          </a:p>
        </p:txBody>
      </p:sp>
      <p:sp>
        <p:nvSpPr>
          <p:cNvPr id="18" name="">
            <a:extLst xmlns:a="http://schemas.openxmlformats.org/drawingml/2006/main">
              <a:ext uri="{FF2B5EF4-FFF2-40B4-BE49-F238E27FC236}">
                <a16:creationId xmlns:a16="http://schemas.microsoft.com/office/drawing/2014/main" id="{82C179EC-CABB-488A-89A3-CD7EE819B7BC}"/>
              </a:ext>
            </a:extLst>
          </p:cNvPr>
          <p:cNvSpPr>
            <a:spLocks xmlns:a="http://schemas.openxmlformats.org/drawingml/2006/main" noGrp="1"/>
          </p:cNvSpPr>
          <p:nvPr/>
        </p:nvSpPr>
        <p:spPr>
          <a:xfrm xmlns:a="http://schemas.openxmlformats.org/drawingml/2006/main">
            <a:off x="685800" y="621982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5F4ED"/>
                </a:solidFill>
                <a:latin typeface="Arial"/>
                <a:ea typeface="Arial"/>
                <a:cs typeface="Arial"/>
              </a:defRPr>
            </a:pPr>
            <a:r>
              <a:rPr sz="1125" b="1">
                <a:solidFill>
                  <a:srgbClr val="F5F4ED"/>
                </a:solidFill>
                <a:latin typeface="Arial"/>
                <a:ea typeface="Arial"/>
                <a:cs typeface="Arial"/>
              </a:rPr>
              <a:t>hackaton-automate-or-die.vercel.app/#twin</a:t>
            </a:r>
          </a:p>
        </p:txBody>
      </p:sp>
      <p:sp>
        <p:nvSpPr>
          <p:cNvPr id="19" name="">
            <a:extLst xmlns:a="http://schemas.openxmlformats.org/drawingml/2006/main">
              <a:ext uri="{FF2B5EF4-FFF2-40B4-BE49-F238E27FC236}">
                <a16:creationId xmlns:a16="http://schemas.microsoft.com/office/drawing/2014/main" id="{61647A1B-EE33-4C5D-9CDB-29F9EED5B23A}"/>
              </a:ext>
            </a:extLst>
          </p:cNvPr>
          <p:cNvSpPr>
            <a:spLocks xmlns:a="http://schemas.openxmlformats.org/drawingml/2006/main" noGrp="1"/>
          </p:cNvSpPr>
          <p:nvPr/>
        </p:nvSpPr>
        <p:spPr>
          <a:xfrm xmlns:a="http://schemas.openxmlformats.org/drawingml/2006/main">
            <a:off x="6191250" y="6219825"/>
            <a:ext cx="531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a:solidFill>
                  <a:srgbClr val="8FA8A2"/>
                </a:solidFill>
                <a:latin typeface="Arial"/>
                <a:ea typeface="Arial"/>
                <a:cs typeface="Arial"/>
              </a:defRPr>
            </a:pPr>
            <a:r>
              <a:rPr sz="1125" b="0">
                <a:solidFill>
                  <a:srgbClr val="8FA8A2"/>
                </a:solidFill>
                <a:latin typeface="Arial"/>
                <a:ea typeface="Arial"/>
                <a:cs typeface="Arial"/>
              </a:rPr>
              <a:t>github.com/akiroussama/hackaton_automate_or_die</a:t>
            </a:r>
          </a:p>
        </p:txBody>
      </p:sp>
    </p:spTree>
    <p:extLst>
      <p:ext uri="{BB962C8B-B14F-4D97-AF65-F5344CB8AC3E}">
        <p14:creationId xmlns:p14="http://schemas.microsoft.com/office/powerpoint/2010/main" val="15278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2026-07-18T20:50:28.8840000Z</dcterms:created>
  <dcterms:modified xsi:type="dcterms:W3CDTF">2026-07-18T20:50:28.8840000Z</dcterms:modified>
</coreProperties>
</file>