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4e3e13163f4fc7" /><Relationship Type="http://schemas.openxmlformats.org/officeDocument/2006/relationships/extended-properties" Target="/docProps/app.xml" Id="Rb26e6243459642b2" /><Relationship Type="http://schemas.openxmlformats.org/officeDocument/2006/relationships/officeDocument" Target="/ppt/presentation.xml" Id="R5cedc949313a40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cea4a5a034a70"/>
  </p:sldMasterIdLst>
  <p:notesMasterIdLst>
    <p:notesMasterId xmlns:r="http://schemas.openxmlformats.org/officeDocument/2006/relationships" r:id="R0d623d5a9efa4229"/>
  </p:notesMasterIdLst>
  <p:sldIdLst>
    <p:sldId xmlns:r="http://schemas.openxmlformats.org/officeDocument/2006/relationships" id="256" r:id="R97bb552ad0b648ee"/>
    <p:sldId xmlns:r="http://schemas.openxmlformats.org/officeDocument/2006/relationships" id="257" r:id="R9781cbe7f27d4ee5"/>
    <p:sldId xmlns:r="http://schemas.openxmlformats.org/officeDocument/2006/relationships" id="258" r:id="R5f17347151294d21"/>
    <p:sldId xmlns:r="http://schemas.openxmlformats.org/officeDocument/2006/relationships" id="259" r:id="Ra6c2621c2b3f4eb0"/>
    <p:sldId xmlns:r="http://schemas.openxmlformats.org/officeDocument/2006/relationships" id="260" r:id="Rec428c6df7054b0a"/>
    <p:sldId xmlns:r="http://schemas.openxmlformats.org/officeDocument/2006/relationships" id="261" r:id="R8c3e26483d464347"/>
    <p:sldId xmlns:r="http://schemas.openxmlformats.org/officeDocument/2006/relationships" id="262" r:id="Rb4ed54abc9124dff"/>
    <p:sldId xmlns:r="http://schemas.openxmlformats.org/officeDocument/2006/relationships" id="263" r:id="R19cda69923754852"/>
    <p:sldId xmlns:r="http://schemas.openxmlformats.org/officeDocument/2006/relationships" id="264" r:id="R0b0abe508d7c4f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b8e9eee4d44b9e" /><Relationship Type="http://schemas.openxmlformats.org/officeDocument/2006/relationships/slideMaster" Target="/ppt/slideMasters/slideMaster1.xml" Id="R215cea4a5a034a70" /><Relationship Type="http://schemas.openxmlformats.org/officeDocument/2006/relationships/notesMaster" Target="/ppt/notesMasters/notesMaster1.xml" Id="R0d623d5a9efa4229" /><Relationship Type="http://schemas.openxmlformats.org/officeDocument/2006/relationships/presProps" Target="/ppt/presProps.xml" Id="Rec196b950eca4568" /><Relationship Type="http://schemas.openxmlformats.org/officeDocument/2006/relationships/tableStyles" Target="/ppt/tableStyles.xml" Id="R53ed6ea14bae40c0" /><Relationship Type="http://schemas.openxmlformats.org/officeDocument/2006/relationships/slide" Target="/ppt/slides/slide1.xml" Id="R97bb552ad0b648ee" /><Relationship Type="http://schemas.openxmlformats.org/officeDocument/2006/relationships/slide" Target="/ppt/slides/slide2.xml" Id="R9781cbe7f27d4ee5" /><Relationship Type="http://schemas.openxmlformats.org/officeDocument/2006/relationships/slide" Target="/ppt/slides/slide3.xml" Id="R5f17347151294d21" /><Relationship Type="http://schemas.openxmlformats.org/officeDocument/2006/relationships/slide" Target="/ppt/slides/slide4.xml" Id="Ra6c2621c2b3f4eb0" /><Relationship Type="http://schemas.openxmlformats.org/officeDocument/2006/relationships/slide" Target="/ppt/slides/slide5.xml" Id="Rec428c6df7054b0a" /><Relationship Type="http://schemas.openxmlformats.org/officeDocument/2006/relationships/slide" Target="/ppt/slides/slide6.xml" Id="R8c3e26483d464347" /><Relationship Type="http://schemas.openxmlformats.org/officeDocument/2006/relationships/slide" Target="/ppt/slides/slide7.xml" Id="Rb4ed54abc9124dff" /><Relationship Type="http://schemas.openxmlformats.org/officeDocument/2006/relationships/slide" Target="/ppt/slides/slide8.xml" Id="R19cda69923754852" /><Relationship Type="http://schemas.openxmlformats.org/officeDocument/2006/relationships/slide" Target="/ppt/slides/slide9.xml" Id="R0b0abe508d7c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24e5b208264e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591a9897a1450b" /><Relationship Type="http://schemas.openxmlformats.org/officeDocument/2006/relationships/notesMaster" Target="/ppt/notesMasters/notesMaster1.xml" Id="R2d395d796b604b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1dd141f14e4db0" /><Relationship Type="http://schemas.openxmlformats.org/officeDocument/2006/relationships/notesMaster" Target="/ppt/notesMasters/notesMaster1.xml" Id="R28ee6eceebc044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ae93cd01b54cd3" /><Relationship Type="http://schemas.openxmlformats.org/officeDocument/2006/relationships/notesMaster" Target="/ppt/notesMasters/notesMaster1.xml" Id="Rbab9b24dcfc84a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98cc784c5e4bdc" /><Relationship Type="http://schemas.openxmlformats.org/officeDocument/2006/relationships/notesMaster" Target="/ppt/notesMasters/notesMaster1.xml" Id="R2632f9a2e09042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4774553a594f7b" /><Relationship Type="http://schemas.openxmlformats.org/officeDocument/2006/relationships/notesMaster" Target="/ppt/notesMasters/notesMaster1.xml" Id="R534fc0f1d66e44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bb3b0630014716" /><Relationship Type="http://schemas.openxmlformats.org/officeDocument/2006/relationships/notesMaster" Target="/ppt/notesMasters/notesMaster1.xml" Id="Rc2eff7883b9449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426dc998cd409b" /><Relationship Type="http://schemas.openxmlformats.org/officeDocument/2006/relationships/notesMaster" Target="/ppt/notesMasters/notesMaster1.xml" Id="R10e1929fd3bf41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6d9d9dd2364b63" /><Relationship Type="http://schemas.openxmlformats.org/officeDocument/2006/relationships/notesMaster" Target="/ppt/notesMasters/notesMaster1.xml" Id="R84c819f7cd064c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f75344fb9946e2" /><Relationship Type="http://schemas.openxmlformats.org/officeDocument/2006/relationships/notesMaster" Target="/ppt/notesMasters/notesMaster1.xml" Id="Re736b7a5630c43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decision, not the interface: one line stops and the manager needs defensible recovery options now.</a:t>
            </a:r>
          </a:p>
          <a:p xmlns:a="http://schemas.openxmlformats.org/drawingml/2006/main">
            <a:r>
              <a:t>CableTwin combines a living synthetic workshop twin, deterministic planning, a separate local learned recommender and a separate bounded verifier.</a:t>
            </a:r>
          </a:p>
          <a:p xmlns:a="http://schemas.openxmlformats.org/drawingml/2006/main">
            <a:r>
              <a:t>The human production manager always decides.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workshop twin receives a fully synthetic Line 2 stoppage from 10:00 to 14:00.</a:t>
            </a:r>
          </a:p>
          <a:p xmlns:a="http://schemas.openxmlformats.org/drawingml/2006/main">
            <a:r>
              <a:t>The immediate impact is 620 minutes of delay, three exposed orders and only seven of ten orders on time.</a:t>
            </a:r>
          </a:p>
          <a:p xmlns:a="http://schemas.openxmlformats.org/drawingml/2006/main">
            <a:r>
              <a:t>The system is decision support: no command is sent to a machine.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leap in Day 2: the factory twin is live and time-based.</a:t>
            </a:r>
          </a:p>
          <a:p xmlns:a="http://schemas.openxmlformats.org/drawingml/2006/main">
            <a:r>
              <a:t>It keeps physical context, production context and the safety boundary visible in the same frame.</a:t>
            </a:r>
          </a:p>
          <a:p xmlns:a="http://schemas.openxmlformats.org/drawingml/2006/main">
            <a:r>
              <a:t>All telemetry, operators, orders and incidents shown here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learned recommender is separate from the deterministic planner. It never creates or changes schedules.</a:t>
            </a:r>
          </a:p>
          <a:p xmlns:a="http://schemas.openxmlformats.org/drawingml/2006/main">
            <a:r>
              <a:t>For the canonical incident, it suggests Cost at approximately 79 percent confidence.</a:t>
            </a:r>
          </a:p>
          <a:p xmlns:a="http://schemas.openxmlformats.org/drawingml/2006/main">
            <a:r>
              <a:t>The manager can still choose Service. The interface keeps both facts visible: what the model suggested and what the human selected.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Approval writes an auditable decision record without modifying the proposed schedule.</a:t>
            </a:r>
          </a:p>
          <a:p xmlns:a="http://schemas.openxmlformats.org/drawingml/2006/main">
            <a:r>
              <a:t>The recommendation, the human selection and the approval time remain distinguishable.</a:t>
            </a:r>
          </a:p>
          <a:p xmlns:a="http://schemas.openxmlformats.org/drawingml/2006/main">
            <a:r>
              <a:t>CableTwin is read-only decision support; the product has no machine-control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 about the architecture.</a:t>
            </a:r>
          </a:p>
          <a:p xmlns:a="http://schemas.openxmlformats.org/drawingml/2006/main">
            <a:r>
              <a:t>The planner is deterministic and non-learning. The recommender is a separate local softmax model that scores already-built routes.</a:t>
            </a:r>
          </a:p>
          <a:p xmlns:a="http://schemas.openxmlformats.org/drawingml/2006/main">
            <a:r>
              <a:t>The bounded exhaustive verifier does not reuse planner construction logic, but it does share validation and KPI functions. It is not presented as fully independent.</a:t>
            </a:r>
          </a:p>
          <a:p xmlns:a="http://schemas.openxmlformats.org/drawingml/2006/main">
            <a:r>
              <a:t>The fourth layer is the production manager, who owns the final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routes make the decision transparent instead of hiding it inside one optimization score.</a:t>
            </a:r>
          </a:p>
          <a:p xmlns:a="http://schemas.openxmlformats.org/drawingml/2006/main">
            <a:r>
              <a:t>Service minimizes priority-weighted lateness; Cost minimizes the illustrative synthetic cost; Stability minimizes reassignments.</a:t>
            </a:r>
          </a:p>
          <a:p xmlns:a="http://schemas.openxmlformats.org/drawingml/2006/main">
            <a:r>
              <a:t>The local model suggests Cost for this incident, while the demo manager selects Service.</a:t>
            </a:r>
          </a:p>
          <a:p xmlns:a="http://schemas.openxmlformats.org/drawingml/2006/main">
            <a:r>
              <a:t>DT values are synthetic comparison outputs, not quoted factory savings or commercial ROI.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test claims separate: nine of nine checks cover the planner and workflow; five of five separately cover the recommender.</a:t>
            </a:r>
          </a:p>
          <a:p xmlns:a="http://schemas.openxmlformats.org/drawingml/2006/main">
            <a:r>
              <a:t>The browser evidence records zero external network requests and zero console errors.</a:t>
            </a:r>
          </a:p>
          <a:p xmlns:a="http://schemas.openxmlformats.org/drawingml/2006/main">
            <a:r>
              <a:t>A real-site pilot is read-only and hosted on site.</a:t>
            </a:r>
          </a:p>
          <a:p xmlns:a="http://schemas.openxmlformats.org/drawingml/2006/main">
            <a:r>
              <a:t>The model would be retrained only after sufficient incident history exists and would require a separate holdout gate before promotion.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 promise: see tomorrow before deciding today.</a:t>
            </a:r>
          </a:p>
          <a:p xmlns:a="http://schemas.openxmlformats.org/drawingml/2006/main">
            <a:r>
              <a:t>Invite the jury to open the live twin, trigger the incident, compare the routes and approve a decision.</a:t>
            </a:r>
          </a:p>
          <a:p xmlns:a="http://schemas.openxmlformats.org/drawingml/2006/main">
            <a:r>
              <a:t>The ask is simple: select CableTwin for the final pitch, then validate the workflow in a read-only shadow pilot with one planning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4fa813cc349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2a3eff216a43c5" /><Relationship Type="http://schemas.openxmlformats.org/officeDocument/2006/relationships/slideLayout" Target="/ppt/slideLayouts/slideLayout1.xml" Id="R5f443c1cf0c043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443c1cf0c043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a57b7cf0b458b" /><Relationship Type="http://schemas.openxmlformats.org/officeDocument/2006/relationships/image" Target="/ppt/media/image.png" Id="R4dcdf6ba65aa410a" /><Relationship Type="http://schemas.openxmlformats.org/officeDocument/2006/relationships/image" Target="/ppt/media/image2.png" Id="Re17aa28d2f824369" /><Relationship Type="http://schemas.openxmlformats.org/officeDocument/2006/relationships/notesSlide" Target="/ppt/notesSlides/notesSlide1.xml" Id="R1765e95d3b6145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a413259984ec6" /><Relationship Type="http://schemas.openxmlformats.org/officeDocument/2006/relationships/image" Target="/ppt/media/image3.png" Id="R9181d05c64734888" /><Relationship Type="http://schemas.openxmlformats.org/officeDocument/2006/relationships/notesSlide" Target="/ppt/notesSlides/notesSlide2.xml" Id="Rec65c8645e8540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947900c5d4837" /><Relationship Type="http://schemas.openxmlformats.org/officeDocument/2006/relationships/image" Target="/ppt/media/image4.png" Id="R184a0efc78154af9" /><Relationship Type="http://schemas.openxmlformats.org/officeDocument/2006/relationships/notesSlide" Target="/ppt/notesSlides/notesSlide3.xml" Id="R5d766ccb11724f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42c4ad6974fc0" /><Relationship Type="http://schemas.openxmlformats.org/officeDocument/2006/relationships/image" Target="/ppt/media/image5.png" Id="R8695ce10a9204457" /><Relationship Type="http://schemas.openxmlformats.org/officeDocument/2006/relationships/image" Target="/ppt/media/image6.png" Id="R7bf1657595ad49a3" /><Relationship Type="http://schemas.openxmlformats.org/officeDocument/2006/relationships/notesSlide" Target="/ppt/notesSlides/notesSlide4.xml" Id="R51a8b841532c4d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4cb460aeb44f2" /><Relationship Type="http://schemas.openxmlformats.org/officeDocument/2006/relationships/image" Target="/ppt/media/image7.png" Id="Rd3506170157341cb" /><Relationship Type="http://schemas.openxmlformats.org/officeDocument/2006/relationships/notesSlide" Target="/ppt/notesSlides/notesSlide5.xml" Id="Rdeb98ca5ed6b4d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65fe805d24b81" /><Relationship Type="http://schemas.openxmlformats.org/officeDocument/2006/relationships/notesSlide" Target="/ppt/notesSlides/notesSlide6.xml" Id="Rec6be9dae53049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545540ae047fd" /><Relationship Type="http://schemas.openxmlformats.org/officeDocument/2006/relationships/notesSlide" Target="/ppt/notesSlides/notesSlide7.xml" Id="R398e1fc41e4e46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d8811f71946f7" /><Relationship Type="http://schemas.openxmlformats.org/officeDocument/2006/relationships/notesSlide" Target="/ppt/notesSlides/notesSlide8.xml" Id="Re30ab7c17e3a43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1041f80a24567" /><Relationship Type="http://schemas.openxmlformats.org/officeDocument/2006/relationships/image" Target="/ppt/media/image8.png" Id="R14b0b721d89748f3" /><Relationship Type="http://schemas.openxmlformats.org/officeDocument/2006/relationships/image" Target="/ppt/media/image9.png" Id="Rd742b9d2d7214c4c" /><Relationship Type="http://schemas.openxmlformats.org/officeDocument/2006/relationships/notesSlide" Target="/ppt/notesSlides/notesSlide9.xml" Id="Rc36761cf67d347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416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df6ba65aa41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C60FA-AF06-40BF-8064-11B3AD5C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13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D05C4-F094-49AE-A383-4B2E36C0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aa28d2f824369"/>
          <a:stretch xmlns:a="http://schemas.openxmlformats.org/drawingml/2006/main"/>
        </p:blipFill>
        <p:spPr>
          <a:xfrm xmlns:a="http://schemas.openxmlformats.org/drawingml/2006/main">
            <a:off x="5143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F56D4-4AF2-4C9B-BD31-1C7C0D00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CABLETWIN · SUPCOM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B167D-9FE8-46F0-AB32-87EDB536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62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AUTOMATE OR DIE · DAY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FFA90-CDC6-4523-B8DA-10BC9781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828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FA14F-FE03-4B38-B197-C6306074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LIVE WORKSHOP TWIN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EBF12-6F8A-4891-8631-06D5AA3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line stops.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86906-74EF-4A31-8A59-80940C71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600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CableTwin shows three</a:t>
            </a:r>
          </a:p>
          <a:p xmlns:a="http://schemas.openxmlformats.org/drawingml/2006/main">
            <a:pPr algn="l">
              <a:defRPr sz="390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verified recovery routes.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1CCE1-D1C2-4ED7-8F19-4835375F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52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Deterministic planning · local learned guidance · human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A20C2-F8AB-4DC5-83B2-C6385978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487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DC482-0B94-4FDB-B1E0-B0675CE8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17,856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E9043-CC60-4DF2-8B64-7E8A696B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CANDIDATES EVALUATED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ACD20-0774-49AA-83D5-E05F8915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720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10,440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FF8F3-37F5-4038-AD93-20AB1F05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816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FEASIBLE SCHEDULES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483CB-5DCF-4D33-A5A1-745829EF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≈79%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5D7BB-BC1E-4346-91CA-ADE14D0A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COST SUGGESTED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801C5-AFAF-4B2C-9F4B-5BDF57F5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Synthetic factory · read-only · no machine control</a:t>
            </a:r>
          </a:p>
        </p:txBody>
      </p:sp>
    </p:spTree>
    <p:extLst>
      <p:ext uri="{BB962C8B-B14F-4D97-AF65-F5344CB8AC3E}">
        <p14:creationId xmlns:p14="http://schemas.microsoft.com/office/powerpoint/2010/main" val="1191561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F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945B3-D377-4C30-9E61-8BA7EC99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0F337-BDD4-47ED-9412-2C1D1B8C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C8065-9871-4316-93AD-486E3E57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594D6-243E-42EF-BB87-D0354D46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CABLETWIN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A7173-1C96-40AF-AF1C-A4F67349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FC870-C2F7-4B62-BA75-FC4C2D21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5E598-9E86-4415-B609-ABD39BE7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At 10:00, Line 2 stops for four hours.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5C5F5-6111-4C7F-BED1-0016BF9E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Without action, the factory accumulates 620 minutes of delay.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44789-48D6-4D0C-93A9-F1DE0D06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75247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0B2926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1d05c64734888"/>
          <a:srcRect xmlns:a="http://schemas.openxmlformats.org/drawingml/2006/main" l="0" t="847" r="0" b="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90750"/>
            <a:ext cx="7372350" cy="4076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4F26A-5F42-4CA2-B4BC-50FD417F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14550"/>
            <a:ext cx="3352800" cy="42291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91FB1-F8AC-4772-8381-7D9B434D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43150"/>
            <a:ext cx="17526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7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B425D-F0E3-4BB5-B80B-CC4E60B9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SIMULATED INCIDENT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FED2D-3B46-4BD3-8ABD-5D547CAB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76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763B"/>
                </a:solidFill>
                <a:latin typeface="Arial"/>
                <a:ea typeface="Arial"/>
                <a:cs typeface="Arial"/>
              </a:rPr>
              <a:t>10 h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EB019-3CA5-4091-874D-E93C553A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TOTAL DELAY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E393A-4005-4304-A337-DC228AEE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DAD08-A9F2-41F3-8E23-80AD4C97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97EFE-98CE-464D-83C3-D2E1F748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529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ORDERS EXPOSED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85DF4-827C-47F0-B297-387A2744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433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FE08D-C038-4476-ACAD-8D198661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529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50447-DAB0-40EB-8E63-F6FE8C4C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03EE5-F651-4EC3-BAAF-5A775810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The twin does not guess.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96034-FDEA-4252-B4BD-58DD6C99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It replays constraints, evaluates schedules and exposes the trade-off before any decision.</a:t>
            </a:r>
          </a:p>
        </p:txBody>
      </p:sp>
    </p:spTree>
    <p:extLst>
      <p:ext uri="{BB962C8B-B14F-4D97-AF65-F5344CB8AC3E}">
        <p14:creationId xmlns:p14="http://schemas.microsoft.com/office/powerpoint/2010/main" val="1499052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F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98368-36BC-475F-911C-CAD2AE54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F51CB-9623-4DC6-8452-8598643A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7E280-9241-448D-9059-1C6FA5A0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90369-DFB2-4BD9-9CA1-08A79CED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CABLETWIN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206A4-D60D-4959-AF1D-8C1548A5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LIVING TWIN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92DD8-C0AC-4B19-BD92-C9B30A4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B94D5-4CDF-4E08-B44F-8D8D9BB9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A living decision twin—not a decorative 3D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0C6F9-E6AF-4271-9682-EA9E5704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Telemetry, orders, constraints and consequences stay in one operational picture.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B361B-50BF-4E00-9BB7-3332D4FE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77343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0B2926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a0efc78154af9"/>
          <a:srcRect xmlns:a="http://schemas.openxmlformats.org/drawingml/2006/main" l="0" t="865" r="0" b="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6700" y="2114550"/>
            <a:ext cx="7581900" cy="4191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CB849-EC60-470B-92DC-3EBC44D5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881A4-89CF-4609-80CA-F45A3F8B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AMBIENT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A0011-BC39-4104-81B9-E20C8E3D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Power, vibration, pressure and temperature make the event legible.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4F831-B0D1-4174-90DA-7106EB6E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A12F7-AC2F-46E3-9F3A-FFF3A95C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D32EA-A5B7-473B-AC93-B1A2BB74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PRODUCTION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B35A3-119C-418F-AEB2-AD87CD4A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Three lines and ten synthetic orders remain visible while the clock advances.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64BAB-69D1-4747-9624-49B54718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E396B-A5D1-47E8-80D4-48BE2352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FACDA-C66B-440B-8216-96EAC030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DECISION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3F424-067F-4BE5-838D-828CE31A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Every value comes from the planner; nothing is sent to a machine.</a:t>
            </a:r>
          </a:p>
        </p:txBody>
      </p:sp>
    </p:spTree>
    <p:extLst>
      <p:ext uri="{BB962C8B-B14F-4D97-AF65-F5344CB8AC3E}">
        <p14:creationId xmlns:p14="http://schemas.microsoft.com/office/powerpoint/2010/main" val="1243677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F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C1881-65DF-4143-8C63-8799AB82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40BBE-DD0E-4185-9EB1-32E6DCAB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04FCD-F894-418A-8C94-BAF1E5D0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AC669-C87A-4615-A81B-E63A6E80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CABLETWIN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EDCE2-CAD5-497E-AB8E-586553BA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HUMAN-CENTRED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243D4-D946-4485-8661-2BD5AEC5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31C74-3908-4CF0-882B-47DD342F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The model suggests. The manager decides.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036DC-7988-4290-9438-2303A4AA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CableTwin separates recommendation from authority—and preserves both traces.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DA239-54EB-41DA-92E9-353BF170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562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E79C6-8796-45B7-97FA-6C3F8872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MODEL SUGGESTS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79671-2B7D-44D9-99B0-2456B2AB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1562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7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582CC-8538-4680-BA82-E4AE0066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CHOOSES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03CAF-4E49-4DD6-87A6-B37AC22B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54673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B2926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64114-3F89-43C6-8DE9-EEAEF86B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54673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B2926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5ce10a9204457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533650"/>
            <a:ext cx="5314950" cy="2990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1657595ad49a3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533650"/>
            <a:ext cx="5314950" cy="29908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A671E-20D7-404F-B34D-BA5E6CB2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COST · ≈79% 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9BE5A-476C-4A2D-B0A2-342B2742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848350"/>
            <a:ext cx="3181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76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763B"/>
                </a:solidFill>
                <a:latin typeface="Arial"/>
                <a:ea typeface="Arial"/>
                <a:cs typeface="Arial"/>
              </a:rPr>
              <a:t>SERVICE · MANAGER OVERRIDE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450F9-3153-4BE6-BA6E-1DFD77BD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687 synthetic incidents generated by the twin itself · 16 explainable features · 93.6% held-out synthetic test accuracy</a:t>
            </a:r>
          </a:p>
        </p:txBody>
      </p:sp>
    </p:spTree>
    <p:extLst>
      <p:ext uri="{BB962C8B-B14F-4D97-AF65-F5344CB8AC3E}">
        <p14:creationId xmlns:p14="http://schemas.microsoft.com/office/powerpoint/2010/main" val="598176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F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13361-3EC8-423B-B114-088402E2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B71AA-6E14-49E6-8F00-C7F00CF5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87673-E281-42AD-9E3B-F43AE555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DDE2F-96E8-45CB-B808-61E92705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CABLETWIN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4BE3D-8A72-436D-9A38-6FA855D5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C0F46-8323-49BA-98EC-FC19063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6AD36-6AA9-4E0E-8291-DFFAD85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A human choice becomes an auditable recovery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8A479-8F33-4AE6-BF48-D2B65AD6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The selected route is approved once—and recorded without rewriting the recommendation.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0DF17-AF17-4FDA-AE46-814E18B1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74485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B2926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06170157341cb"/>
          <a:srcRect xmlns:a="http://schemas.openxmlformats.org/drawingml/2006/main" l="0" t="798" r="0" b="7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71700"/>
            <a:ext cx="7296150" cy="4038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9AEAF-92E5-488C-A06E-5251A926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448050" cy="419100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1020E-A7CE-449C-873D-A488FB8E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62200"/>
            <a:ext cx="1733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C7423-4EF7-4A66-92D1-4B8C3D0B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APPROVED · 10:07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1DDEC-0065-4FA2-9FE8-3B23985D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14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Human authority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0FF34-2C06-4F6F-93EF-A2EBD387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The production manager confirms the selected strategy.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06BC0-7FF4-483B-82B8-970E5141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F3B00-93D0-4223-8476-2708FC41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91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Decision 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1FB8E-8B10-43DF-870A-34BA99C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2686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4ED"/>
                </a:solidFill>
                <a:latin typeface="Arial"/>
                <a:ea typeface="Arial"/>
                <a:cs typeface="Arial"/>
              </a:rPr>
              <a:t>Model suggestion retained</a:t>
            </a:r>
          </a:p>
          <a:p xmlns:a="http://schemas.openxmlformats.org/drawingml/2006/main">
            <a:pPr algn="l">
              <a:defRPr sz="1200" b="0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4ED"/>
                </a:solidFill>
                <a:latin typeface="Arial"/>
                <a:ea typeface="Arial"/>
                <a:cs typeface="Arial"/>
              </a:rPr>
              <a:t>Human selection retained</a:t>
            </a:r>
          </a:p>
          <a:p xmlns:a="http://schemas.openxmlformats.org/drawingml/2006/main">
            <a:pPr algn="l">
              <a:defRPr sz="1200" b="0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4ED"/>
                </a:solidFill>
                <a:latin typeface="Arial"/>
                <a:ea typeface="Arial"/>
                <a:cs typeface="Arial"/>
              </a:rPr>
              <a:t>Approval time retained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96429-D4A8-48AC-B22D-8453594D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6735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85FF9-8CD5-459D-A97A-7C0D4F23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959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76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763B"/>
                </a:solidFill>
                <a:latin typeface="Arial"/>
                <a:ea typeface="Arial"/>
                <a:cs typeface="Arial"/>
              </a:rPr>
              <a:t>No machine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0DE6F-BFDD-4B70-AC64-BB098549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9626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Read-only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1180381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F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AC6C5E-BEA6-4E5D-8266-631960D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0ACF6-9475-43D6-9C49-7E699EE9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BDE28-03C8-4AB1-AB41-57A4394C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376ED-4B2B-4959-96E5-1E906BDD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CABLETWIN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DF2C0-6992-4675-8B95-C0096B6C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DECISION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B4C21-35BF-4AC0-9C59-2D8CD0B6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52F08-DB11-4D2B-B1DF-F58AAE0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Three intelligence layers. One accountable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D5C47-05A6-48DC-8CEE-A0E8DD56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Each layer has a bounded job—and the human remains the authority.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CE2EF-6B3F-4F72-A9DE-87FC6FA5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381250" cy="30289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E9CE1-D02F-445F-B34F-662A1BD2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D76BB-5698-48FB-A1A1-3A95876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DETERMINISTIC</a:t>
            </a:r>
          </a:p>
          <a:p xmlns:a="http://schemas.openxmlformats.org/drawingml/2006/main">
            <a:pPr algn="l">
              <a:defRPr sz="157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4AE7D-0EC9-4EEA-8A15-5A226BED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1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D58BC-7BA9-4BAB-9279-6D0702A0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Builds Service, Cost and Stability schedules from explicit constraints.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3699D-879E-4E93-AEEC-73DE7183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2000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C1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4A174-F36E-49FA-B29F-7F83A918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9/9 product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49EB4-DFCB-4DF1-AFB1-8C8ED622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433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B0210-A2E1-4084-B385-B91F94B9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671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A7A0"/>
          </a:solidFill>
          <a:ln xmlns:a="http://schemas.openxmlformats.org/drawingml/2006/main" w="0">
            <a:solidFill>
              <a:srgbClr val="7DA7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AC23B-A27C-4569-8059-5D160ABF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2381250" cy="30289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DB197-F2C1-44FA-9EE0-8CA149C9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3F41F-4EB7-4A2B-87EC-6B09991B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LOCAL LEARNED</a:t>
            </a:r>
          </a:p>
          <a:p xmlns:a="http://schemas.openxmlformats.org/drawingml/2006/main">
            <a:pPr algn="l">
              <a:defRPr sz="157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RECOMMENDER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590C3-D46F-45B7-B28A-3671A670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F6718-56DA-4DC3-8B5E-4913D82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Scores the three ready-made schedules. Never creates or changes a plan.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366D3-CF5C-4259-B962-C55E060B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2000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3CE05-A04E-41D8-B18D-A08D1789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96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687 incidents · 93.6%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E9385-7EDF-41F3-A96D-5B966192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433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BC4F8-C1BC-46D3-9169-B10FAC4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671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A7A0"/>
          </a:solidFill>
          <a:ln xmlns:a="http://schemas.openxmlformats.org/drawingml/2006/main" w="0">
            <a:solidFill>
              <a:srgbClr val="7DA7A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9F82F1-8553-4CA7-AF45-C21B801B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2381250" cy="30289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79B67-BA6C-458C-A77B-AD4528A0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3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6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6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76FC29-C523-4B82-9DC5-D87ACCB3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BOUNDED EXACT</a:t>
            </a:r>
          </a:p>
          <a:p xmlns:a="http://schemas.openxmlformats.org/drawingml/2006/main">
            <a:pPr algn="l">
              <a:defRPr sz="157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VERIFIER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6E46A9-2B0D-4A29-B7C8-0630D391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CD43B3-9B2A-4E8C-B274-05EF876C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Enumerates the canonical space without reusing planner construction logic.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ABB2A-A677-4100-BB56-F59B4CC9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00600"/>
            <a:ext cx="2000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7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DAB929-5559-4636-B611-6AB015EE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96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17,856 → 10,440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0A8439-FE2A-4DB9-BCED-E492AB4B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433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959365-E306-48D6-832D-581288E1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A7A0"/>
          </a:solidFill>
          <a:ln xmlns:a="http://schemas.openxmlformats.org/drawingml/2006/main" w="0">
            <a:solidFill>
              <a:srgbClr val="7DA7A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D37B11-8372-49E0-AA3C-575F6F6E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2686050" cy="30289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4091C6-B0A2-4435-82B0-A3BA01B6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3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5E95B2-0EBE-40DA-8F1B-7DB772E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PRODUCTION</a:t>
            </a:r>
          </a:p>
          <a:p xmlns:a="http://schemas.openxmlformats.org/drawingml/2006/main">
            <a:pPr algn="l">
              <a:defRPr sz="157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MANAGER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C2CEF2-50FA-42F0-8695-153DAA6E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2305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FF54AC-4BB7-413D-8D38-BDFF6B35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230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Compares routes, applies operational judgment and approves one.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D7B076-5016-4F75-A175-7EE5B139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00600"/>
            <a:ext cx="2305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B53219-8E6F-4F11-AE2B-288938F5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196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Final authority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03EBB1-14D0-4720-8BED-1EA85CD7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81650"/>
            <a:ext cx="8686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4161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E37753-778F-4FE0-A914-F0535C2F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721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SHARED SAFETY SURFACE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88B0A7-EFF0-4F12-92D9-7AE1E15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43575"/>
            <a:ext cx="632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Validation and KPI functions are shared; planner construction and bounded enumeration stay separate.</a:t>
            </a:r>
          </a:p>
        </p:txBody>
      </p:sp>
    </p:spTree>
    <p:extLst>
      <p:ext uri="{BB962C8B-B14F-4D97-AF65-F5344CB8AC3E}">
        <p14:creationId xmlns:p14="http://schemas.microsoft.com/office/powerpoint/2010/main" val="649465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F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667AEF-0E06-4A76-A183-27BCCE62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02417-189C-41B8-891E-75E0F6ED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B2A1F-7B69-4EBE-9A9F-3D6B7C02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AC2DA-2602-4A1E-AC56-2340D3A0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CABLETWIN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EEA3E-3446-44DF-B328-AC7F6E6D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VERIFIED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B9E28-00D2-4546-95BC-870EBFE4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8D9BD-CBBA-4F8E-A465-DB9458C6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There is no fake “best” plan—only an explicit trade-off.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7836C-6E77-4004-9904-545FC427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All three displayed policies are unique optima for the fixed synthetic scenario.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DA294-8D1A-4165-BE98-E6093DCF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76600" cy="3581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6DFB1-1B65-4C3C-84C8-063AA87F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976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763B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D581C-72F4-46A9-8CAD-71A02C18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Protect deliveries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B9ED1-89B9-47B6-8AE9-2F3E6D36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6F8DF-A036-4C8C-B742-44A38DC7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76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763B"/>
                </a:solidFill>
                <a:latin typeface="Arial"/>
                <a:ea typeface="Arial"/>
                <a:cs typeface="Arial"/>
              </a:rPr>
              <a:t>140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917F9-575B-4FA9-9AB1-5DC938BE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TOTAL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C3C04-027B-480A-B76D-51578E53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290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8/10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ED9A3-1442-4DEA-B806-042129FA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3857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F8CA2-2A05-4982-B333-81C60DD1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30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F61FA-26EA-48A6-BDCC-3299D697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OVERTIME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E2B7F-7A49-4431-A209-92DF4705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672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57556-A0E5-4A39-88E6-BE26F5BF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7677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REASSIGNMENTS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FC9BF-BCE7-4769-ADA0-C6F16063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D3CD"/>
                </a:solidFill>
                <a:latin typeface="Arial"/>
                <a:ea typeface="Arial"/>
                <a:cs typeface="Arial"/>
              </a:rPr>
              <a:t>216 km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C5A7B-D20B-419E-801A-664BCD15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16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D3CD"/>
                </a:solidFill>
                <a:latin typeface="Arial"/>
                <a:ea typeface="Arial"/>
                <a:cs typeface="Arial"/>
              </a:rPr>
              <a:t>1,971.15 DT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C7A7D8-8513-4B81-8B8E-25C54167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71700"/>
            <a:ext cx="3276600" cy="3581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C9F3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B050B-D0EA-4314-8F0A-6BF7D969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D6B5A4-6A0E-4706-AC30-42A5FB5B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1657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380C76-2A18-4CA1-8B36-58954817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ML SUGGESTS · ≈79%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392625-C26E-4FAC-95E8-EEB1E1DE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Minimize illustrative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A50C6-BAAC-4699-962D-AD4B6577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8E8BF0-EAC4-4BB6-9C60-F22A6AD7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170 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D05A72-C938-483C-8FF7-5F84B151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385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TOTAL DELAY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C1596-D31E-41AF-955E-15E8154C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8/10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44D7D2-D1A2-4E32-A0F0-AA84B292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3857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1A202C-2444-44BD-AB89-B5412C46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60 min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8CA680-9FF2-4F9E-BD42-03CBFEAA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767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OVERTIME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D46A9A-8F32-48F3-ACCF-D3251C01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672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87AD11-9ABA-4044-8A5A-229FB28B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7677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REASSIGNMENTS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91B390-12B8-4F31-9F8B-812B7A24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816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D3CD"/>
                </a:solidFill>
                <a:latin typeface="Arial"/>
                <a:ea typeface="Arial"/>
                <a:cs typeface="Arial"/>
              </a:rPr>
              <a:t>216 km output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A5D68D-E52B-419F-86C0-0BA179D0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816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D3CD"/>
                </a:solidFill>
                <a:latin typeface="Arial"/>
                <a:ea typeface="Arial"/>
                <a:cs typeface="Arial"/>
              </a:rPr>
              <a:t>1,931.45 DT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49186A-8161-40AE-A62F-9A0D0DA6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3276600" cy="3581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182B94-1DF3-4013-B265-F62C1367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030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21ED6A-B5A5-42BD-B20F-6FE319D9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Avoid reassignments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808A39-C45C-4737-8F2E-47BB61C5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81350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1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552B1F-2348-4BEB-AC4C-4EBC82D5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290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620 min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C87828-053E-4B68-AFEA-32F65200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385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TOTAL DELAY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A71994-4985-42AA-ADE6-800CB401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7/10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83CE03-9FA8-4F88-AC69-2314B74B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3857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B656E2-108C-46BC-8DD0-D4D31E03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180 min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758C0D-C4AD-4CAD-AAA9-BAEC2718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767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OVERTIME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3D9CBA-A9EB-46BE-B15C-DE9963CC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672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591AFF-2D23-4A49-BD92-42DDD0D8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7677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REASSIGNMENTS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CA995D-8FF0-429F-8886-A67F22FC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816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D3CD"/>
                </a:solidFill>
                <a:latin typeface="Arial"/>
                <a:ea typeface="Arial"/>
                <a:cs typeface="Arial"/>
              </a:rPr>
              <a:t>188 km output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50C491-FE85-49BA-8E50-404CF78B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816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D3CD"/>
                </a:solidFill>
                <a:latin typeface="Arial"/>
                <a:ea typeface="Arial"/>
                <a:cs typeface="Arial"/>
              </a:rPr>
              <a:t>3,862.20 DT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1FDCCA-D898-4195-9A8C-B023CB1C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62650"/>
            <a:ext cx="3429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7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582DED-5EF1-4310-8C4E-D3652126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981700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demo manager selects SERVICE</a:t>
            </a:r>
          </a:p>
        </p:txBody>
      </p:sp>
    </p:spTree>
    <p:extLst>
      <p:ext uri="{BB962C8B-B14F-4D97-AF65-F5344CB8AC3E}">
        <p14:creationId xmlns:p14="http://schemas.microsoft.com/office/powerpoint/2010/main" val="1827298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F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50DC68-19D2-4229-A305-B19BF8E4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BC833-DDDE-4FDD-8B42-29AEA252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BD7AE-7FCC-456C-8743-DB17944C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F685C-9BBF-4A72-A0EA-F04681C6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CABLETWIN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27F54-0EA3-4DEE-8513-8F7A690C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EVIDENCE &amp;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01275-FF99-48F2-B5DB-0FEDBDCA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1D10B-52B0-4C3C-9DA6-7D9DD174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Evidence first. A real-site learning loop only after permission.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E0CFC-47F3-4C82-B9D5-4A1BBEB1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The prototype is complete today; the pilot remains deliberately read-only.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23982-6A23-4422-BE3F-0D928EC8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3340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C944E-7B7C-4A48-9965-F8612125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600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7B7D6-9D39-4623-9BB4-C51FF5F4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WORKING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5A82A-3BF1-47DF-827E-FE6E67A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F6FBA-4EDD-4EB3-AEEF-86BFB873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PLANNER &amp; WORKFLOW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CE279-19A9-4EDC-9B76-3E96AA3F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9392E-BEEA-4E54-9FA0-8DB9C3BC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0517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SEPARATE RECOMMENDER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8F3B8-9C7D-41FB-A73C-C26F2F10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8F4E6-8337-428A-BA64-A341CAC9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2D4A4-EA2B-4537-8334-AAD048EA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EXTERNAL REQUESTS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4C08B-B66B-4C9B-8EE6-4D039C8B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38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6DDB5-CE0A-4BB2-A275-797B0174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481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CONSOLE ERRORS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05A31-7CDF-4F46-9A7A-1CFD0E06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386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16721-D3FA-416C-A551-E3C3A9C4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481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UNIQUE OPTIMA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469DA-5A80-4C6E-AE4E-AB91BB12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CCD79-11DC-4A02-951A-B63A0C22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Reproduce in three commands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9C8EF-C429-4E91-9825-23C6094A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D3C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B7D3CD"/>
                </a:solidFill>
                <a:latin typeface="Consolas"/>
                <a:ea typeface="Consolas"/>
                <a:cs typeface="Consolas"/>
              </a:rPr>
              <a:t>npm run check</a:t>
            </a:r>
          </a:p>
          <a:p xmlns:a="http://schemas.openxmlformats.org/drawingml/2006/main">
            <a:pPr algn="l">
              <a:defRPr sz="975" b="0">
                <a:solidFill>
                  <a:srgbClr val="B7D3C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B7D3CD"/>
                </a:solidFill>
                <a:latin typeface="Consolas"/>
                <a:ea typeface="Consolas"/>
                <a:cs typeface="Consolas"/>
              </a:rPr>
              <a:t>npm run check:recommender</a:t>
            </a:r>
          </a:p>
          <a:p xmlns:a="http://schemas.openxmlformats.org/drawingml/2006/main">
            <a:pPr algn="l">
              <a:defRPr sz="975" b="0">
                <a:solidFill>
                  <a:srgbClr val="B7D3C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B7D3CD"/>
                </a:solidFill>
                <a:latin typeface="Consolas"/>
                <a:ea typeface="Consolas"/>
                <a:cs typeface="Consolas"/>
              </a:rPr>
              <a:t>npm run benchmark:exact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9FF66-0957-4F29-9559-730DCFD6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4864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4F63E-1A3E-40BE-8B11-6073B92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00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7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3E58B0-EB85-44AA-B13F-251EBA6C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4–6 WEEK SHADOW PILOT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97DEBF-E4E5-4F98-833E-6313E271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76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76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9BB763-A87D-4FEE-8DA2-A8402097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READ-ONLY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E810DB-EF76-48A2-93FE-D8345022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838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Connect historical exports; no machine control.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13961B-A276-4551-8EF8-A6F75FE6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EAAB5-7C78-4CA1-AF72-2E2F4D25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76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76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BF8D32-AC4D-45A3-A853-C520463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SITE-HOSTED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BC4E8C-9D4A-4EA0-A2FE-8C43BE04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81400"/>
            <a:ext cx="2838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Data and inference remain on the plant site.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71ED32-BB94-417B-9E26-959CF16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052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25C946-DE0A-4334-A4E5-3167B48F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76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76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99816F-15B9-4605-BCB0-DFC68679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672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GATED LEARNING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5832EE-ADA7-4057-B62B-700B4608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2838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Retrain only after sufficient real incident history.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14B5DA-59E0-4762-9BB0-2F13B301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11F477-EE63-463E-B77E-C587FD1B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76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763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A59A15-E3DA-4180-A1E1-9A345F75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530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SEPARATE HOLDOUT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81BBDC-1239-4643-BDD1-6282378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53000"/>
            <a:ext cx="2838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Promote only after an agreed validation threshold.</a:t>
            </a:r>
          </a:p>
        </p:txBody>
      </p:sp>
    </p:spTree>
    <p:extLst>
      <p:ext uri="{BB962C8B-B14F-4D97-AF65-F5344CB8AC3E}">
        <p14:creationId xmlns:p14="http://schemas.microsoft.com/office/powerpoint/2010/main" val="966456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416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0b721d89748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18665-58A9-461F-8DF4-2BA719DE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13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70266-340C-4BF6-B529-C8073A84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2b9d2d7214c4c"/>
          <a:stretch xmlns:a="http://schemas.openxmlformats.org/drawingml/2006/main"/>
        </p:blipFill>
        <p:spPr>
          <a:xfrm xmlns:a="http://schemas.openxmlformats.org/drawingml/2006/main">
            <a:off x="552450" y="4953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2F8B3-253D-496F-864D-9A9756B9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CABLETWIN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30B6B-6AB2-406A-8E86-49F11795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8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by Team SUPCOM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F750A-02E3-48AE-8F05-026BAE56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104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D4770-7524-4DE6-9003-4B431E5A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F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F1C"/>
                </a:solidFill>
                <a:latin typeface="Arial"/>
                <a:ea typeface="Arial"/>
                <a:cs typeface="Arial"/>
              </a:rPr>
              <a:t>LIVE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109DD-B4FC-4213-A5B2-6EF4452C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742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tomorrow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deciding today.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47B6E-BFDC-4436-BDDB-6B70A278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A living factory twin that turns disruption into verified options—and keeps the human in command.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C7DEA-8047-49B6-A007-654B6954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239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8124C-8E5F-4349-B65E-54F3A894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F3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F36B"/>
                </a:solidFill>
                <a:latin typeface="Arial"/>
                <a:ea typeface="Arial"/>
                <a:cs typeface="Arial"/>
              </a:rPr>
              <a:t>hackaton-automate-or-die.vercel.app/#twin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4CE86-A424-41ED-8066-33903AE6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676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A7A0"/>
                </a:solidFill>
                <a:latin typeface="Arial"/>
                <a:ea typeface="Arial"/>
                <a:cs typeface="Arial"/>
              </a:rPr>
              <a:t>90-second live decision journey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6706A-06B9-43C3-9399-97BAA3D6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00200"/>
            <a:ext cx="2857500" cy="39814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3733"/>
          </a:solidFill>
          <a:ln xmlns:a="http://schemas.openxmlformats.org/drawingml/2006/main" w="9525">
            <a:solidFill>
              <a:srgbClr val="275C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23828-CA5F-4178-9167-B5562D46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859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1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1B1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70574-0076-438A-A605-59EF1D21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Select CableTwin</a:t>
            </a:r>
          </a:p>
          <a:p xmlns:a="http://schemas.openxmlformats.org/drawingml/2006/main">
            <a:pPr algn="l">
              <a:defRPr sz="225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for the final pitch.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D046B-8B5A-4FC0-B193-05AD738C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95700"/>
            <a:ext cx="2305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76453-4712-442C-B2FD-0B9E86B6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24300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Then let us run a</a:t>
            </a:r>
          </a:p>
          <a:p xmlns:a="http://schemas.openxmlformats.org/drawingml/2006/main">
            <a:pPr algn="l">
              <a:defRPr sz="12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read-only shadow pilot</a:t>
            </a:r>
          </a:p>
          <a:p xmlns:a="http://schemas.openxmlformats.org/drawingml/2006/main">
            <a:pPr algn="l">
              <a:defRPr sz="1275" b="0">
                <a:solidFill>
                  <a:srgbClr val="B7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3CD"/>
                </a:solidFill>
                <a:latin typeface="Arial"/>
                <a:ea typeface="Arial"/>
                <a:cs typeface="Arial"/>
              </a:rPr>
              <a:t>with one planning team.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A915F-0944-464C-94AF-493B6507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48250"/>
            <a:ext cx="2190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7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B0210-C810-43CD-85EA-136ADDC9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673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HUMAN-IN-COMMAND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6B7D6-6BB2-48E7-BF46-12F4AFC1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A7A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A7A0"/>
                </a:solidFill>
                <a:latin typeface="Arial"/>
                <a:ea typeface="Arial"/>
                <a:cs typeface="Arial"/>
              </a:rPr>
              <a:t>Automate or Die · Industry · Production Planning &amp; Supply Chain Optimization</a:t>
            </a:r>
          </a:p>
        </p:txBody>
      </p:sp>
    </p:spTree>
    <p:extLst>
      <p:ext uri="{BB962C8B-B14F-4D97-AF65-F5344CB8AC3E}">
        <p14:creationId xmlns:p14="http://schemas.microsoft.com/office/powerpoint/2010/main" val="1322780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2026-07-18T15:53:20.2420000Z</dcterms:created>
  <dcterms:modified xsi:type="dcterms:W3CDTF">2026-07-18T15:53:20.2420000Z</dcterms:modified>
</coreProperties>
</file>